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ec78ca42c4490f" /><Relationship Type="http://schemas.openxmlformats.org/officeDocument/2006/relationships/extended-properties" Target="/docProps/app.xml" Id="R19d55280634f450d" /><Relationship Type="http://schemas.openxmlformats.org/officeDocument/2006/relationships/officeDocument" Target="/ppt/presentation.xml" Id="R49ad388fdc8f49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a0e5bde7a440c9"/>
  </p:sldMasterIdLst>
  <p:notesMasterIdLst>
    <p:notesMasterId xmlns:r="http://schemas.openxmlformats.org/officeDocument/2006/relationships" r:id="R1d87148f00214328"/>
  </p:notesMasterIdLst>
  <p:sldIdLst>
    <p:sldId xmlns:r="http://schemas.openxmlformats.org/officeDocument/2006/relationships" id="256" r:id="R9cfb819717b4445f"/>
    <p:sldId xmlns:r="http://schemas.openxmlformats.org/officeDocument/2006/relationships" id="257" r:id="R3158974f06b24e2c"/>
    <p:sldId xmlns:r="http://schemas.openxmlformats.org/officeDocument/2006/relationships" id="258" r:id="R7c92e973ec1e4c0c"/>
    <p:sldId xmlns:r="http://schemas.openxmlformats.org/officeDocument/2006/relationships" id="259" r:id="R1dfe28082ebb434b"/>
    <p:sldId xmlns:r="http://schemas.openxmlformats.org/officeDocument/2006/relationships" id="260" r:id="R95c2393c26e24cf0"/>
    <p:sldId xmlns:r="http://schemas.openxmlformats.org/officeDocument/2006/relationships" id="261" r:id="Red2d56ebed204c38"/>
    <p:sldId xmlns:r="http://schemas.openxmlformats.org/officeDocument/2006/relationships" id="262" r:id="R2fb820afdbe24e33"/>
    <p:sldId xmlns:r="http://schemas.openxmlformats.org/officeDocument/2006/relationships" id="263" r:id="R21df7c05a7f8455b"/>
    <p:sldId xmlns:r="http://schemas.openxmlformats.org/officeDocument/2006/relationships" id="264" r:id="Re3f19450e5304bc4"/>
    <p:sldId xmlns:r="http://schemas.openxmlformats.org/officeDocument/2006/relationships" id="265" r:id="Rdbefa28d469c4c6a"/>
    <p:sldId xmlns:r="http://schemas.openxmlformats.org/officeDocument/2006/relationships" id="266" r:id="R0d6ca1c74288419f"/>
    <p:sldId xmlns:r="http://schemas.openxmlformats.org/officeDocument/2006/relationships" id="267" r:id="Ra305eb619cdc49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0e5bde7a440c9" /><Relationship Type="http://schemas.openxmlformats.org/officeDocument/2006/relationships/theme" Target="/ppt/theme/theme1.xml" Id="R20d2bec746c0484c" /><Relationship Type="http://schemas.openxmlformats.org/officeDocument/2006/relationships/notesMaster" Target="/ppt/notesMasters/notesMaster1.xml" Id="R1d87148f00214328" /><Relationship Type="http://schemas.openxmlformats.org/officeDocument/2006/relationships/presProps" Target="/ppt/presProps.xml" Id="Rd897bc0ac2484e5b" /><Relationship Type="http://schemas.openxmlformats.org/officeDocument/2006/relationships/viewProps" Target="/ppt/viewProps.xml" Id="Rcf5788c73b9d4904" /><Relationship Type="http://schemas.openxmlformats.org/officeDocument/2006/relationships/tableStyles" Target="/ppt/tableStyles.xml" Id="R6b2337b92ee84362" /><Relationship Type="http://schemas.openxmlformats.org/officeDocument/2006/relationships/slide" Target="/ppt/slides/slide1.xml" Id="R9cfb819717b4445f" /><Relationship Type="http://schemas.openxmlformats.org/officeDocument/2006/relationships/slide" Target="/ppt/slides/slide2.xml" Id="R3158974f06b24e2c" /><Relationship Type="http://schemas.openxmlformats.org/officeDocument/2006/relationships/slide" Target="/ppt/slides/slide3.xml" Id="R7c92e973ec1e4c0c" /><Relationship Type="http://schemas.openxmlformats.org/officeDocument/2006/relationships/slide" Target="/ppt/slides/slide4.xml" Id="R1dfe28082ebb434b" /><Relationship Type="http://schemas.openxmlformats.org/officeDocument/2006/relationships/slide" Target="/ppt/slides/slide5.xml" Id="R95c2393c26e24cf0" /><Relationship Type="http://schemas.openxmlformats.org/officeDocument/2006/relationships/slide" Target="/ppt/slides/slide6.xml" Id="Red2d56ebed204c38" /><Relationship Type="http://schemas.openxmlformats.org/officeDocument/2006/relationships/slide" Target="/ppt/slides/slide7.xml" Id="R2fb820afdbe24e33" /><Relationship Type="http://schemas.openxmlformats.org/officeDocument/2006/relationships/slide" Target="/ppt/slides/slide8.xml" Id="R21df7c05a7f8455b" /><Relationship Type="http://schemas.openxmlformats.org/officeDocument/2006/relationships/slide" Target="/ppt/slides/slide9.xml" Id="Re3f19450e5304bc4" /><Relationship Type="http://schemas.openxmlformats.org/officeDocument/2006/relationships/slide" Target="/ppt/slides/slide10.xml" Id="Rdbefa28d469c4c6a" /><Relationship Type="http://schemas.openxmlformats.org/officeDocument/2006/relationships/slide" Target="/ppt/slides/slide11.xml" Id="R0d6ca1c74288419f" /><Relationship Type="http://schemas.openxmlformats.org/officeDocument/2006/relationships/slide" Target="/ppt/slides/slide12.xml" Id="Ra305eb619cdc49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b569966483e46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a3b6f7a41f4837" /><Relationship Type="http://schemas.openxmlformats.org/officeDocument/2006/relationships/notesMaster" Target="/ppt/notesMasters/notesMaster1.xml" Id="Rebd28b13d1ff45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834db132154e00" /><Relationship Type="http://schemas.openxmlformats.org/officeDocument/2006/relationships/notesMaster" Target="/ppt/notesMasters/notesMaster1.xml" Id="R799445df672648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948d48399d4b9f" /><Relationship Type="http://schemas.openxmlformats.org/officeDocument/2006/relationships/notesMaster" Target="/ppt/notesMasters/notesMaster1.xml" Id="Reb6d7f86918e42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71a1463e2e4252" /><Relationship Type="http://schemas.openxmlformats.org/officeDocument/2006/relationships/notesMaster" Target="/ppt/notesMasters/notesMaster1.xml" Id="R7f29cbf0c2bf4a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edd7bc1aa34cbd" /><Relationship Type="http://schemas.openxmlformats.org/officeDocument/2006/relationships/notesMaster" Target="/ppt/notesMasters/notesMaster1.xml" Id="R7a2f58fa89d541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9466544bd6410e" /><Relationship Type="http://schemas.openxmlformats.org/officeDocument/2006/relationships/notesMaster" Target="/ppt/notesMasters/notesMaster1.xml" Id="Rca7e60f454ec4b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098fdef0f84251" /><Relationship Type="http://schemas.openxmlformats.org/officeDocument/2006/relationships/notesMaster" Target="/ppt/notesMasters/notesMaster1.xml" Id="Ra02366b7e66240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b70ba389dc4fb2" /><Relationship Type="http://schemas.openxmlformats.org/officeDocument/2006/relationships/notesMaster" Target="/ppt/notesMasters/notesMaster1.xml" Id="R01f99f17351e4b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913ba839c245f1" /><Relationship Type="http://schemas.openxmlformats.org/officeDocument/2006/relationships/notesMaster" Target="/ppt/notesMasters/notesMaster1.xml" Id="Re1ddb38bb69a46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c90d17726a4e63" /><Relationship Type="http://schemas.openxmlformats.org/officeDocument/2006/relationships/notesMaster" Target="/ppt/notesMasters/notesMaster1.xml" Id="Rfa65e0ffcff44d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4a0f69d3ef4c2f" /><Relationship Type="http://schemas.openxmlformats.org/officeDocument/2006/relationships/notesMaster" Target="/ppt/notesMasters/notesMaster1.xml" Id="Raf2017dcb1714c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6d200375ad4d60" /><Relationship Type="http://schemas.openxmlformats.org/officeDocument/2006/relationships/notesMaster" Target="/ppt/notesMasters/notesMaster1.xml" Id="R5e7c39a13c5142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d011df64e486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FC8836F-F232-453C-A497-1CA466F3700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29BD894-7E37-4BFA-96BE-98866B05A3A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09ABBC9-18D3-4645-992E-FA6EF034E9B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0FBF61-3E17-4686-B421-65E1FE548A5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26e93ce77e8444f" /><Relationship Type="http://schemas.openxmlformats.org/officeDocument/2006/relationships/slideLayout" Target="/ppt/slideLayouts/slideLayout2.xml" Id="R94afa9cb065d4f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19FC81-E854-4F99-839B-C149CFADAB3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afa9cb065d4f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db032ccb5e49b2" /><Relationship Type="http://schemas.openxmlformats.org/officeDocument/2006/relationships/notesSlide" Target="/ppt/notesSlides/notesSlide1.xml" Id="Rd05830373dea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c06108556b4b02" /><Relationship Type="http://schemas.openxmlformats.org/officeDocument/2006/relationships/notesSlide" Target="/ppt/notesSlides/notesSlide2.xml" Id="Rcadb1022439441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ccd1754be24602" /><Relationship Type="http://schemas.openxmlformats.org/officeDocument/2006/relationships/notesSlide" Target="/ppt/notesSlides/notesSlide3.xml" Id="R73aef2d94ad843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dcad4de1f94a26" /><Relationship Type="http://schemas.openxmlformats.org/officeDocument/2006/relationships/notesSlide" Target="/ppt/notesSlides/notesSlide4.xml" Id="R67dc40784aae43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9bdb1c115c43df" /><Relationship Type="http://schemas.openxmlformats.org/officeDocument/2006/relationships/notesSlide" Target="/ppt/notesSlides/notesSlide5.xml" Id="R8b11aee9de5b41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040a654a754fed" /><Relationship Type="http://schemas.openxmlformats.org/officeDocument/2006/relationships/notesSlide" Target="/ppt/notesSlides/notesSlide6.xml" Id="Rb5e4736f20d546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635f567134b23" /><Relationship Type="http://schemas.openxmlformats.org/officeDocument/2006/relationships/notesSlide" Target="/ppt/notesSlides/notesSlide7.xml" Id="Rb2818970c51a48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203aeaf20c4126" /><Relationship Type="http://schemas.openxmlformats.org/officeDocument/2006/relationships/notesSlide" Target="/ppt/notesSlides/notesSlide8.xml" Id="R2c21ca6bb28e4f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6e93b92fd64c55" /><Relationship Type="http://schemas.openxmlformats.org/officeDocument/2006/relationships/notesSlide" Target="/ppt/notesSlides/notesSlide9.xml" Id="R80992a5cc2b84b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ba521a1d2c482f" /><Relationship Type="http://schemas.openxmlformats.org/officeDocument/2006/relationships/notesSlide" Target="/ppt/notesSlides/notesSlide10.xml" Id="R1923266a121f4e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00fe755cb641ea" /><Relationship Type="http://schemas.openxmlformats.org/officeDocument/2006/relationships/notesSlide" Target="/ppt/notesSlides/notesSlide11.xml" Id="R608c4edc2d5d4e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aeb4fc2bb74bfe" /><Relationship Type="http://schemas.openxmlformats.org/officeDocument/2006/relationships/notesSlide" Target="/ppt/notesSlides/notesSlide12.xml" Id="R4fdc2d81783641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C8E9F-E1F2-4248-B8F3-92ABB6C0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"/>
            <a:ext cx="1078230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1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AD292-B6C5-4DD1-B845-8313B7E3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590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95133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6F8FF"/>
                </a:solidFill>
              </a:defRPr>
            </a:pPr>
            <a:r>
              <a:rPr sz="4650" b="1">
                <a:solidFill>
                  <a:srgbClr val="F6F8FF"/>
                </a:solidFill>
              </a:rPr>
              <a:t>Spin Miner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29B5C-A657-4F79-B868-B91C1214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E36A"/>
                </a:solidFill>
              </a:defRPr>
            </a:pPr>
            <a:r>
              <a:rPr sz="2250" b="1">
                <a:solidFill>
                  <a:srgbClr val="FFE36A"/>
                </a:solidFill>
              </a:rPr>
              <a:t>대형 광물 브레이크 시스템 제안형 프로토타입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AE625-1E75-471C-BB87-110A22D0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4C2E4"/>
                </a:solidFill>
              </a:defRPr>
            </a:pPr>
            <a:r>
              <a:rPr sz="1650" b="0">
                <a:solidFill>
                  <a:srgbClr val="B4C2E4"/>
                </a:solidFill>
              </a:rPr>
              <a:t>라이브 게임 관찰을 바탕으로 대형 광물 구간의 조작 목적과 보상감을 설계하고, 플레이 가능한 Canvas 프로토타입으로 검증한 포트폴리오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56830-8E7B-4A47-8C7A-315F35E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57300"/>
            <a:ext cx="3086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328"/>
          </a:solidFill>
          <a:ln xmlns:a="http://schemas.openxmlformats.org/drawingml/2006/main" w="19050">
            <a:solidFill>
              <a:srgbClr val="7182AA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D91B1-DFAD-435A-BA42-1A113186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E36A"/>
                </a:solidFill>
              </a:defRPr>
            </a:pPr>
            <a:r>
              <a:rPr sz="2025" b="1">
                <a:solidFill>
                  <a:srgbClr val="FFE36A"/>
                </a:solidFill>
              </a:rPr>
              <a:t>대표 이미지 교체 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C24F0-1E63-4462-845C-F174ECE2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43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게임 캡처 / 프로토타입 핵심 장면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41F38-AC3B-4144-9DF3-750FA213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63D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B4A96-13F0-4BEB-A588-5D42E96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01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3D8FF"/>
                </a:solidFill>
              </a:defRPr>
            </a:pPr>
            <a:r>
              <a:rPr sz="1125" b="1">
                <a:solidFill>
                  <a:srgbClr val="63D8FF"/>
                </a:solidFill>
              </a:rPr>
              <a:t>문제 정의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AC625-C030-4258-9CE8-865462C6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625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FFE3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589F2-3408-4FD0-A20A-E7855303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101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E36A"/>
                </a:solidFill>
              </a:defRPr>
            </a:pPr>
            <a:r>
              <a:rPr sz="1125" b="1">
                <a:solidFill>
                  <a:srgbClr val="FFE36A"/>
                </a:solidFill>
              </a:rPr>
              <a:t>시스템 설계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C2121-8377-43BC-86F1-EC16C9B0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62550"/>
            <a:ext cx="1619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61E3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F8E49-9C06-48A0-AA80-7BFF2587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101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1E38B"/>
                </a:solidFill>
              </a:defRPr>
            </a:pPr>
            <a:r>
              <a:rPr sz="1125" b="1">
                <a:solidFill>
                  <a:srgbClr val="61E38B"/>
                </a:solidFill>
              </a:rPr>
              <a:t>프로토타입 검증</a:t>
            </a:r>
          </a:p>
        </p:txBody>
      </p:sp>
    </p:spTree>
    <p:extLst>
      <p:ext uri="{BB962C8B-B14F-4D97-AF65-F5344CB8AC3E}">
        <p14:creationId xmlns:p14="http://schemas.microsoft.com/office/powerpoint/2010/main" val="2890492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B66CD-122F-4A8C-B35C-7CF1B84A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7248D-E1A5-4500-A716-0B68F5FA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D8FF"/>
                </a:solidFill>
              </a:defRPr>
            </a:pPr>
            <a:r>
              <a:rPr sz="1350" b="1">
                <a:solidFill>
                  <a:srgbClr val="63D8FF"/>
                </a:solidFill>
              </a:rPr>
              <a:t>01. Project 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8909C-4FA3-4C2F-962E-DF6D3217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8FF"/>
                </a:solidFill>
              </a:defRPr>
            </a:pPr>
            <a:r>
              <a:rPr sz="2625" b="1">
                <a:solidFill>
                  <a:srgbClr val="F6F8FF"/>
                </a:solidFill>
              </a:rPr>
              <a:t>프로젝트 포지셔닝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21543-8435-4EEA-86DA-E43300EC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8A4A0-E034-4727-9736-77244EE9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D8D2D-CBFC-47B7-B1FB-4FF6C3E4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88C7E-461A-48A6-B042-A76DB944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A997E-0200-4944-8EA0-0FEA2A9A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9337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원작을 고쳤다고 주장하기보다, 플레이 경험에서 발견한 긴장 저하 구간을 바탕으로 개선 가설을 세우고 직접 조작 가능한 형태로 검증한다.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0F150-6D96-4073-8AC4-237EAF37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383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CFF42-8E4E-46BF-A7D8-808BFBA1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383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00099-199D-4D60-969D-0A0D463B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지원 직무와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2C7EB-CD92-45C0-80BD-6EDC57A6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29337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콘텐츠/시스템 기획 관점에서 채굴 리듬, 보상 루프, 성장 체감, UI 피드백을 규칙과 수치로 정리한다.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221B2-F993-46DF-8C99-488A50FA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580F2-1D62-4405-A31C-4F1F7E75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B091A-4D27-4108-AE50-5A0D1C41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작업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32E82-A4E6-4C34-8126-FCAC02E4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9337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AI를 활용해 아이디어 정리, 코드 구현, 반복 테스트, 문서화를 빠르게 순환하며 실제 플레이 가능한 산출물로 만든다.</a:t>
            </a:r>
          </a:p>
        </p:txBody>
      </p:sp>
    </p:spTree>
    <p:extLst>
      <p:ext uri="{BB962C8B-B14F-4D97-AF65-F5344CB8AC3E}">
        <p14:creationId xmlns:p14="http://schemas.microsoft.com/office/powerpoint/2010/main" val="1918311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1F09E-5B96-4F03-82AD-E5F81CD7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C5EA2-A9C9-48B3-BF9D-BF271728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D8FF"/>
                </a:solidFill>
              </a:defRPr>
            </a:pPr>
            <a:r>
              <a:rPr sz="1350" b="1">
                <a:solidFill>
                  <a:srgbClr val="63D8FF"/>
                </a:solidFill>
              </a:rPr>
              <a:t>02. Original Loop Observation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679D1-A15D-4449-87D0-8E86715C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8FF"/>
                </a:solidFill>
              </a:defRPr>
            </a:pPr>
            <a:r>
              <a:rPr sz="2625" b="1">
                <a:solidFill>
                  <a:srgbClr val="F6F8FF"/>
                </a:solidFill>
              </a:rPr>
              <a:t>원작 플레이 루프 관찰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C9DC8-8860-43B7-BF83-D0D2F2E4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950D2-357A-4378-BCCB-DFED424F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095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328"/>
          </a:solidFill>
          <a:ln xmlns:a="http://schemas.openxmlformats.org/drawingml/2006/main" w="19050">
            <a:solidFill>
              <a:srgbClr val="7182AA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67536-BBF6-4444-BD74-5F6DE7E6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3638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E36A"/>
                </a:solidFill>
              </a:defRPr>
            </a:pPr>
            <a:r>
              <a:rPr sz="2025" b="1">
                <a:solidFill>
                  <a:srgbClr val="FFE36A"/>
                </a:solidFill>
              </a:rPr>
              <a:t>원작 캡처 교체 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36BAE-ACE5-4D96-990D-05B399C0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3448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400B 대형 광물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C435C-DFF7-491C-812D-C829D27F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66900"/>
            <a:ext cx="9239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BDF5F-6F2A-4970-A1CA-EF6BA9BB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733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이동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C6984-5D12-4F00-9C85-65AA4FFF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15265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596AD-61E6-45CA-8111-62CA27DF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866900"/>
            <a:ext cx="9239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09E13-5100-4807-90CA-495361BF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0250"/>
            <a:ext cx="733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채굴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E8542-3614-49D3-8702-89958AC3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5265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1230C-9A30-4B44-80A9-D92AE403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66900"/>
            <a:ext cx="9239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245E6-76EF-4708-8772-8A022958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733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광석 수집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543D1-712F-49E8-8764-4579AADD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5265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3D685-185A-4D7E-AC0D-619378B4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66900"/>
            <a:ext cx="9239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AB68F-315C-45FB-A474-2F38FC5C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0250"/>
            <a:ext cx="733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카고 적재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2A24F-ABC1-4B96-9594-8E9162A9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645543-6F77-41D6-85E7-DA525647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66900"/>
            <a:ext cx="9239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3D0B6-8891-43B5-A1AC-E759DE6C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00250"/>
            <a:ext cx="733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BASE 판매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74431-3C8D-4E93-9701-907D1032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15265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37958-2502-4E65-9B57-46BE6578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866900"/>
            <a:ext cx="9239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ED255E-ECD1-41AD-881F-A85A4D5F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000250"/>
            <a:ext cx="733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성장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94040B-D9CC-4A13-AB5D-4B4717C1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2971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F66D27-01ED-475A-B289-65236315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A99277-401F-4C7A-BBF6-B42C9CB5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작은 광물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9CC7C-AC91-4D04-8CD1-A7295E5F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957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이동과 채굴, 수집이 짧은 간격으로 반복되어 리듬감이 빠르다.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E3A713-F814-4A31-A182-E26947C0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3124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BCFD93-9DF2-4EC4-B1AB-F5AE2FAF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371E09-A5E1-4BAC-8B90-4295A6BF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147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대형 광물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43CB92-8B31-4005-A37F-3606DA11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95700"/>
            <a:ext cx="2724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숫자와 크기는 목표감을 주지만, 오래 때리는 동안 플레이어 선택지가 줄어들 수 있다.</a:t>
            </a:r>
          </a:p>
        </p:txBody>
      </p:sp>
    </p:spTree>
    <p:extLst>
      <p:ext uri="{BB962C8B-B14F-4D97-AF65-F5344CB8AC3E}">
        <p14:creationId xmlns:p14="http://schemas.microsoft.com/office/powerpoint/2010/main" val="4589173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1460A-E691-4183-A72C-770370B4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B1571-41B3-4E87-BF3F-6D16B620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D8FF"/>
                </a:solidFill>
              </a:defRPr>
            </a:pPr>
            <a:r>
              <a:rPr sz="1350" b="1">
                <a:solidFill>
                  <a:srgbClr val="63D8FF"/>
                </a:solidFill>
              </a:rPr>
              <a:t>03. Problem Definition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08247-83F3-4197-8C03-BC74D8E5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8FF"/>
                </a:solidFill>
              </a:defRPr>
            </a:pPr>
            <a:r>
              <a:rPr sz="2625" b="1">
                <a:solidFill>
                  <a:srgbClr val="F6F8FF"/>
                </a:solidFill>
              </a:rPr>
              <a:t>문제 정의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9E99-12F6-401B-8D2B-4080E5E5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14056-B67B-46CE-BDBF-46794F5C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4024A-CACB-4F3B-A63E-660193E7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942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F"/>
                </a:solidFill>
              </a:defRPr>
            </a:pPr>
            <a:r>
              <a:rPr sz="1650" b="1">
                <a:solidFill>
                  <a:srgbClr val="F6F8FF"/>
                </a:solidFill>
              </a:rPr>
              <a:t>대형 광물 구간의 문제는 '긴 파괴 시간' 자체보다, 그 시간 동안 플레이어가 계속 개입해야 할 이유가 약해지는 지점이다.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BD6EE-6785-486F-A1CE-10A07D79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200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E45F4-1821-4F9C-A01F-3E7FA2F6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666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7B60A-3A94-400D-B655-9F7BF4BC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관찰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14D61-E38A-4DA7-B5F2-B368C6EA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800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작은 광물은 이동, 타격, 수집이 빠르게 이어져 손이 계속 바쁘다.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84203-B82F-4F57-81D9-DE5D1617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3200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5738D-E30B-4F1A-A9B2-D31CD972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666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B2647-C9C7-4EB7-9715-13E91C31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766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관찰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EDFE8-F121-4CC7-A376-8D429F83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800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대형 광물은 HP가 크지만 타격 방식이 단조로우면 기다리는 느낌이 생긴다.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F8FB3-96E9-480B-8109-F44724E5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3200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517D7-4418-4644-B1B0-CCB9213B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666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20AC4-F098-4ADA-A18F-CF26B50F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설계 과제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F1C45-589B-429F-A683-AD5EB9D1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2800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대형 광물 앞에서도 위치 조정, 타이밍, 보상 기대가 살아 있어야 한다.</a:t>
            </a:r>
          </a:p>
        </p:txBody>
      </p:sp>
    </p:spTree>
    <p:extLst>
      <p:ext uri="{BB962C8B-B14F-4D97-AF65-F5344CB8AC3E}">
        <p14:creationId xmlns:p14="http://schemas.microsoft.com/office/powerpoint/2010/main" val="1839067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301BF-55F0-4EF9-8475-8C0ADACE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759ED-1E22-49D7-9B68-D5DF5949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D8FF"/>
                </a:solidFill>
              </a:defRPr>
            </a:pPr>
            <a:r>
              <a:rPr sz="1350" b="1">
                <a:solidFill>
                  <a:srgbClr val="63D8FF"/>
                </a:solidFill>
              </a:rPr>
              <a:t>04. Hypothesis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311D3-340F-4EFF-96E9-4559450F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8FF"/>
                </a:solidFill>
              </a:defRPr>
            </a:pPr>
            <a:r>
              <a:rPr sz="2625" b="1">
                <a:solidFill>
                  <a:srgbClr val="F6F8FF"/>
                </a:solidFill>
              </a:rPr>
              <a:t>개선 가설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D01BD-2C5A-46E6-9F9B-E603A153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6517A-2462-44D9-8CA0-31F7F2CC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97358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F0C2A-4074-4367-945A-807F00F9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78308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일반 타격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B1D87-F327-47EC-92CC-F1743A4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200025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F94EE-B56D-4FC0-8CA9-646ED532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1695450"/>
            <a:ext cx="197358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B1643-6604-4E74-B44C-F5C0C9D8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1828800"/>
            <a:ext cx="178308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약점 노출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BA6D8-0CDC-4800-BBDF-0DC0F88F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200025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406F6-245C-47B9-A79B-2A394642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1695450"/>
            <a:ext cx="197358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13B5F-FB17-406E-A421-CA32494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1828800"/>
            <a:ext cx="178308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약점 공략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B290D-4090-4BF6-ACD7-F160337D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740" y="200025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B5488-C730-48D3-A0B2-E40B4317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1695450"/>
            <a:ext cx="197358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C22DD-FF3E-4E3F-B65D-B60CC0F2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28800"/>
            <a:ext cx="178308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BREAK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01EA5-C4DE-4354-9269-C9468F6F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770" y="200025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16EE6-42FC-4979-8331-F52C9DA8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1695450"/>
            <a:ext cx="197358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05380-348A-4718-B4FF-36825293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1828800"/>
            <a:ext cx="178308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채굴 효율 상승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D62CB-0322-41B4-BF8F-1A39368A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328"/>
          </a:solidFill>
          <a:ln xmlns:a="http://schemas.openxmlformats.org/drawingml/2006/main" w="19050">
            <a:solidFill>
              <a:srgbClr val="7182AA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CA3C3-F24D-4F87-98E5-6C17B2CD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33825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E36A"/>
                </a:solidFill>
              </a:defRPr>
            </a:pPr>
            <a:r>
              <a:rPr sz="2025" b="1">
                <a:solidFill>
                  <a:srgbClr val="FFE36A"/>
                </a:solidFill>
              </a:rPr>
              <a:t>약점 노출 캡처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F7A7B-13BC-410D-A399-9E3FA4B3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71975"/>
            <a:ext cx="259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약점이 팍 등장하는 장면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3380E-1FAE-4B6D-A2D3-43352AF4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328"/>
          </a:solidFill>
          <a:ln xmlns:a="http://schemas.openxmlformats.org/drawingml/2006/main" w="19050">
            <a:solidFill>
              <a:srgbClr val="7182AA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9566C-7AFC-40E0-85D0-58A5EC34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33825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E36A"/>
                </a:solidFill>
              </a:defRPr>
            </a:pPr>
            <a:r>
              <a:rPr sz="2025" b="1">
                <a:solidFill>
                  <a:srgbClr val="FFE36A"/>
                </a:solidFill>
              </a:rPr>
              <a:t>BREAK 캡처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3FF372-2F21-4EA1-AD1B-EA89ECC5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1975"/>
            <a:ext cx="259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광물 외곽선 연출 장면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23DE9-BB59-4729-BB10-04458910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36AF2-CADE-4908-AA98-34899D5C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ECB538-FE3E-47CE-A1D9-F9952F80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가설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9EBBF-387A-4E2A-838C-946A0E42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57600"/>
            <a:ext cx="2743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대형 광물을 오래 때리는 대상이 아니라, 약점을 열고 BREAK 상태를 유도하는 공략 대상으로 바꾸면 개입감과 보상감이 살아난다.</a:t>
            </a:r>
          </a:p>
        </p:txBody>
      </p:sp>
    </p:spTree>
    <p:extLst>
      <p:ext uri="{BB962C8B-B14F-4D97-AF65-F5344CB8AC3E}">
        <p14:creationId xmlns:p14="http://schemas.microsoft.com/office/powerpoint/2010/main" val="1137323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9F82C-331D-4B39-A982-D6AC828C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38B72-66BF-4F56-B189-D67A9CFA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D8FF"/>
                </a:solidFill>
              </a:defRPr>
            </a:pPr>
            <a:r>
              <a:rPr sz="1350" b="1">
                <a:solidFill>
                  <a:srgbClr val="63D8FF"/>
                </a:solidFill>
              </a:rPr>
              <a:t>05. Prototype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7E036-7AD3-4B9D-8B8E-661CFA06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8FF"/>
                </a:solidFill>
              </a:defRPr>
            </a:pPr>
            <a:r>
              <a:rPr sz="2625" b="1">
                <a:solidFill>
                  <a:srgbClr val="F6F8FF"/>
                </a:solidFill>
              </a:rPr>
              <a:t>V1 프로토타입 범위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BC776-D090-4A89-853E-AC2DA523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A2AAB-C3EB-452B-98C6-5A2C160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328"/>
          </a:solidFill>
          <a:ln xmlns:a="http://schemas.openxmlformats.org/drawingml/2006/main" w="19050">
            <a:solidFill>
              <a:srgbClr val="7182AA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B8747-05CA-4F42-BAB3-21B83767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E36A"/>
                </a:solidFill>
              </a:defRPr>
            </a:pPr>
            <a:r>
              <a:rPr sz="2025" b="1">
                <a:solidFill>
                  <a:srgbClr val="FFE36A"/>
                </a:solidFill>
              </a:rPr>
              <a:t>프로토타입 전체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79F38-102E-4F39-9D0B-61E4CD1E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382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현재 Canvas 테스트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D8A6F-AF7D-4B11-BADF-9504EB3E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81150"/>
            <a:ext cx="2724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60939-D502-4BE5-B029-C660A01C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811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10B66-85DC-419F-BABD-FEE8BDA8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526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검증 대상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CBC9F-4D34-45AD-A42D-75436872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33600"/>
            <a:ext cx="2324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798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약점 노출</a:t>
            </a:r>
          </a:p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약점 타격</a:t>
            </a:r>
          </a:p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BREAK 전환</a:t>
            </a:r>
          </a:p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광석 드랍/수집</a:t>
            </a:r>
          </a:p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카고 적재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1C544-090D-4D7F-B7DE-BD412C13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81150"/>
            <a:ext cx="2724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D5D55-7662-43ED-BFFE-EC9EE609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811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2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960EA-0EE0-46BA-9C7A-6A23E1F8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526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제외한 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9DD52-EA94-4E76-8684-90EB28FE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33600"/>
            <a:ext cx="2324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998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원작 시점 재현</a:t>
            </a:r>
          </a:p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상점/경제 전체</a:t>
            </a:r>
          </a:p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정식 아트 리소스</a:t>
            </a:r>
          </a:p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장기 성장 밸런스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DDF25-77D4-4F56-A273-6163FA48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62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5FF35-6B39-46E8-88F9-DE064018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57600"/>
            <a:ext cx="942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F"/>
                </a:solidFill>
              </a:defRPr>
            </a:pPr>
            <a:r>
              <a:rPr sz="1650" b="1">
                <a:solidFill>
                  <a:srgbClr val="F6F8FF"/>
                </a:solidFill>
              </a:rPr>
              <a:t>탑뷰 프로토타입은 최종 시점 재현물이 아니라, 시스템 리듬과 규칙을 빠르게 확인하기 위한 검증 환경으로 둔다.</a:t>
            </a:r>
          </a:p>
        </p:txBody>
      </p:sp>
    </p:spTree>
    <p:extLst>
      <p:ext uri="{BB962C8B-B14F-4D97-AF65-F5344CB8AC3E}">
        <p14:creationId xmlns:p14="http://schemas.microsoft.com/office/powerpoint/2010/main" val="1221658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51EFB-F511-4E91-82CB-6D11D334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F6437-48E2-4801-B848-4B6F5B21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D8FF"/>
                </a:solidFill>
              </a:defRPr>
            </a:pPr>
            <a:r>
              <a:rPr sz="1350" b="1">
                <a:solidFill>
                  <a:srgbClr val="63D8FF"/>
                </a:solidFill>
              </a:rPr>
              <a:t>06. System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75833-B903-4341-9EC5-72414EB4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8FF"/>
                </a:solidFill>
              </a:defRPr>
            </a:pPr>
            <a:r>
              <a:rPr sz="2625" b="1">
                <a:solidFill>
                  <a:srgbClr val="F6F8FF"/>
                </a:solidFill>
              </a:rPr>
              <a:t>브레이크 시스템 규칙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C74EF-2E6B-4689-8C34-938E92CC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3EE18-77F0-4941-87BC-23D8243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45F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092A6-8F41-4426-B88A-92042EDD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8FF"/>
                </a:solidFill>
              </a:defRPr>
            </a:pPr>
            <a:r>
              <a:rPr sz="1200" b="1">
                <a:solidFill>
                  <a:srgbClr val="F6F8FF"/>
                </a:solidFill>
              </a:rPr>
              <a:t>단계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54F97-4B69-425F-916C-F615A647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8115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45F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5BF52-FE77-4E87-BB2F-BA723DA5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57350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8FF"/>
                </a:solidFill>
              </a:defRPr>
            </a:pPr>
            <a:r>
              <a:rPr sz="1200" b="1">
                <a:solidFill>
                  <a:srgbClr val="F6F8FF"/>
                </a:solidFill>
              </a:rPr>
              <a:t>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56975-0B61-4F1A-8A05-C33F2C22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45F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388E2-FC46-4936-A67B-EB49D912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5735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8FF"/>
                </a:solidFill>
              </a:defRPr>
            </a:pPr>
            <a:r>
              <a:rPr sz="1200" b="1">
                <a:solidFill>
                  <a:srgbClr val="F6F8FF"/>
                </a:solidFill>
              </a:rPr>
              <a:t>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052CF-8E08-44A9-9384-25F06BBE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5A352-E97A-407D-AFA6-D29C102F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약점 노출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D1BA7-746F-4763-82E8-F7861012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1455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1FED6-F90D-4387-8614-5B2E6709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대형 광물 몸통 타격 누적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9C208-EA1F-45E1-AE01-5354B040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08CAC-4260-4E7D-A43A-F30AA4BE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타격 방향 주변에 약점 마크 등장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26DF8-BA70-4094-B25F-C98C886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E4AD7-315D-4512-9F76-DC1BA45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약점 공략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D8FC7-4673-4482-BC1A-C09FA6F7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795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61074-1AD6-42BA-9A0C-7CB585CB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24150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약점 마크 반복 타격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E8D47-7821-41D2-82FB-E0E5ABD8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280DB-DADE-4CCC-91D5-81E500ED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415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마크가 커지며 균열 진행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28D71-C024-4361-97C2-807E9061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6D97F-1ECD-4958-8F04-806102FD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BREAK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10E65A-8339-48DE-A4F3-15AA23A7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135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1720D4-C54C-4CA9-86CB-DC5C12CB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균열 100%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A92179-DDB8-411E-AC02-16576263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2A8A77-D4F0-4B3D-A864-F241935D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일정 시간 채굴 효율 상승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0C2F03-7F45-4975-85C2-8BDD4AED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7F29F3-A5C3-409D-A128-39EA1BD3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복귀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2E7307-BAAB-4AA5-820B-BF81053E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1475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EC6725-705B-480D-81A4-BD687010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90950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BREAK 시간 종료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DF6FE5-1CED-4067-BA84-2661B9C5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04C87-4442-4F13-8C70-40193759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약점 숨김, 일반 상태로 복귀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BD9237-28F6-4FFE-A6BE-4D1E31D6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DA6631-CDC7-4EE0-A5CA-5F7900A7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4C9E8C-5569-43AF-AF22-11761937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69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설계 기준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BA3B9F-131A-4B2D-8662-FA49D8C5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9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약점은 추가 피해 버튼이 아니라 BREAK를 여는 시동기다. BREAK 중에는 광물 전체가 취약해지고, 플레이어는 그 시간을 보상 구간으로 체감한다.</a:t>
            </a:r>
          </a:p>
        </p:txBody>
      </p:sp>
    </p:spTree>
    <p:extLst>
      <p:ext uri="{BB962C8B-B14F-4D97-AF65-F5344CB8AC3E}">
        <p14:creationId xmlns:p14="http://schemas.microsoft.com/office/powerpoint/2010/main" val="1115401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D7DC7-AB8B-4C50-902C-C6FDA6B6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49F2F-58FF-4189-876E-FBA4F704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D8FF"/>
                </a:solidFill>
              </a:defRPr>
            </a:pPr>
            <a:r>
              <a:rPr sz="1350" b="1">
                <a:solidFill>
                  <a:srgbClr val="63D8FF"/>
                </a:solidFill>
              </a:rPr>
              <a:t>07. Reward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47A26-EFC2-472A-A349-E41F4E33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8FF"/>
                </a:solidFill>
              </a:defRPr>
            </a:pPr>
            <a:r>
              <a:rPr sz="2625" b="1">
                <a:solidFill>
                  <a:srgbClr val="F6F8FF"/>
                </a:solidFill>
              </a:rPr>
              <a:t>광석 수집 / 카고 루프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94052-A63B-4206-8A01-567FCF04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000BC-8829-4545-92F0-AAA60B2B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95072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C1DF2-2E63-4779-80A7-A0B12E51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176022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광물 파괴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0BC72-31F4-4E03-947E-4D3D392C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70" y="194310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C356E-92B1-4290-9616-D00C6443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" y="1657350"/>
            <a:ext cx="195072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761DB-6CA3-4638-847C-0C3B7199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720" y="1790700"/>
            <a:ext cx="176022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광석 드랍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D6DA6-6E20-4C0A-B939-7B8FAB9A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140" y="194310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D06EF-A5DB-4390-B629-26A540DC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657350"/>
            <a:ext cx="195072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E4886-D7B2-4670-9A88-EC236A7C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1790700"/>
            <a:ext cx="176022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직접 수집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75F76-F639-45D1-B67D-DACC0E8F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310" y="194310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7C1A3-C909-4246-A127-76940FBB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810" y="1657350"/>
            <a:ext cx="195072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50047-7832-4D44-8869-793DC551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1790700"/>
            <a:ext cx="176022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카고 적재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6ADC5-AB1D-49F1-9E46-BF53679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1943100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7F1EF-90E6-4FB9-ACC7-31EE838F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980" y="1657350"/>
            <a:ext cx="195072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B92F6-6FA4-40B1-9BAA-03963040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790700"/>
            <a:ext cx="176022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BASE 판매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F1513-ACB9-45A8-BE72-9C2943D0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328"/>
          </a:solidFill>
          <a:ln xmlns:a="http://schemas.openxmlformats.org/drawingml/2006/main" w="19050">
            <a:solidFill>
              <a:srgbClr val="7182AA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B8DEB-6168-4E87-8F0C-DB60FD21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430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E36A"/>
                </a:solidFill>
              </a:defRPr>
            </a:pPr>
            <a:r>
              <a:rPr sz="2025" b="1">
                <a:solidFill>
                  <a:srgbClr val="FFE36A"/>
                </a:solidFill>
              </a:rPr>
              <a:t>광석 드랍 캡처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B06E3-7A3E-4825-AD4B-0E65A592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95775"/>
            <a:ext cx="4114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광물 주변에 광석이 떨어지는 장면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4100E-4803-470B-AB62-AF57C145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2362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9CBB0-6584-461C-8474-3DD6921A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1FA0B-D095-40B3-ABFC-C41FC9F9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수집 방식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C79A3-B631-41DE-A163-1F7C31FE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1962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파괴 즉시 보상이 들어오지 않고, 떨어진 광석을 직접 주워 카고에 적재한다.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923513-DC2C-4022-B3A2-8910E95E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2362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B6EEDA-B0D4-4C32-8472-2A3CAB3C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5DA109-1938-432A-96E2-0298A34E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04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보상감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E0613C-4A11-41C1-9B74-1ACB713F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81400"/>
            <a:ext cx="1962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큰 광물일수록 더 많은 조각이 떨어져 목표를 깼다는 체감을 만든다.</a:t>
            </a:r>
          </a:p>
        </p:txBody>
      </p:sp>
    </p:spTree>
    <p:extLst>
      <p:ext uri="{BB962C8B-B14F-4D97-AF65-F5344CB8AC3E}">
        <p14:creationId xmlns:p14="http://schemas.microsoft.com/office/powerpoint/2010/main" val="26325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E760A-249A-44E4-8A12-690FD97C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7DB9D-0869-42ED-9877-7C9E670A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D8FF"/>
                </a:solidFill>
              </a:defRPr>
            </a:pPr>
            <a:r>
              <a:rPr sz="1350" b="1">
                <a:solidFill>
                  <a:srgbClr val="63D8FF"/>
                </a:solidFill>
              </a:rPr>
              <a:t>08. Balance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07EEB-4BC3-4C09-8ECA-A54A458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8FF"/>
                </a:solidFill>
              </a:defRPr>
            </a:pPr>
            <a:r>
              <a:rPr sz="2625" b="1">
                <a:solidFill>
                  <a:srgbClr val="F6F8FF"/>
                </a:solidFill>
              </a:rPr>
              <a:t>밸런스 설계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37477-85F4-437F-9DC1-A7970F10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0F285-84DD-4894-9906-1B279F0E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45F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89C03-6D6E-47B6-897F-A4511969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8FF"/>
                </a:solidFill>
              </a:defRPr>
            </a:pPr>
            <a:r>
              <a:rPr sz="1200" b="1">
                <a:solidFill>
                  <a:srgbClr val="F6F8FF"/>
                </a:solidFill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47E52-2121-49BD-A87F-784A22C2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45F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B1CC9-8FE1-45AA-BB81-A1904D13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383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8FF"/>
                </a:solidFill>
              </a:defRPr>
            </a:pPr>
            <a:r>
              <a:rPr sz="1200" b="1">
                <a:solidFill>
                  <a:srgbClr val="F6F8FF"/>
                </a:solidFill>
              </a:rPr>
              <a:t>현재값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02494-1F0A-430D-AE21-E0D116D0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621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45F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83BF5-C80C-4A5B-BD59-95ED1DE7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38300"/>
            <a:ext cx="605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8FF"/>
                </a:solidFill>
              </a:defRPr>
            </a:pPr>
            <a:r>
              <a:rPr sz="1200" b="1">
                <a:solidFill>
                  <a:srgbClr val="F6F8FF"/>
                </a:solidFill>
              </a:rPr>
              <a:t>설계 의도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F825C-22D6-4C44-81FF-DD1B6996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ABFA2-409D-4408-B2CE-D4BB27F6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기본 타격 피해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459D1-634D-4A0C-9B18-DB9B4DC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88B55-14CD-4113-B40B-AA3CF92B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717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9.2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8DA7A-B6AA-4AE6-92CC-73B69DB7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1B4B5-A01D-4630-8DF8-CDAEC051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71700"/>
            <a:ext cx="605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곡괭이 자체 성능은 광물 크기와 무관하게 고정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26061-D99F-48AF-8839-B5C80900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9A369-2142-42AE-B1BA-D98091FD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BREAK 피해 배율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78960-3C49-4308-9805-F3AF4587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CEDAD-2314-4CAA-970E-4622714A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051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1.8x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EFFF7-CD5E-4E89-B8B5-27B19E58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80884-4D5E-48D1-B769-88EFE22C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605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공략 성공 후 보상 구간을 체감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A6624-56CB-4C5E-A172-AD34252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F0BD8E-0379-4991-A92C-1FC0285C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약점 진행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9E9F4-A89A-4315-8A25-7ADA95F4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623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6176C4-1FBC-4851-A233-A22B6DAB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385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+1.25%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3D942A-DC5B-4905-A2AF-8C88137D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0350BD-1E1C-432B-B654-506C586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38500"/>
            <a:ext cx="605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약점 80타로 BREAK, 너무 짧지 않은 호흡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48A671-DC1F-4482-8250-89DBCB4F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C387BB-7EDC-47BB-A868-6831B90B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카고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846DF0-CF37-4240-94DA-0AF4CEA5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957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EB5D33-0E5B-48BB-B8B5-311F58CC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719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BEE9DC-9811-439D-8460-B76C9037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957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6CD5A0-E30B-48DB-B828-BB150815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71900"/>
            <a:ext cx="605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수집과 판매 루프를 분리해 목표감 강화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5780E5-E98A-4923-BA60-D7C5D488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38BA27-AA31-40AC-88BE-B8ED53FC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광물 HP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DE4395-E4C2-40C5-848C-679613BA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291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C7E192-04BC-4239-BD8E-5ABDF506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053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대폭 상향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700AEC-176A-4E84-B9B0-11CCDB04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291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82D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E642E3-561D-4DAB-BC30-1778DB78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05300"/>
            <a:ext cx="605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대형 광물이 시스템을 보여줄 시간을 확보</a:t>
            </a:r>
          </a:p>
        </p:txBody>
      </p:sp>
    </p:spTree>
    <p:extLst>
      <p:ext uri="{BB962C8B-B14F-4D97-AF65-F5344CB8AC3E}">
        <p14:creationId xmlns:p14="http://schemas.microsoft.com/office/powerpoint/2010/main" val="552937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6D6FA-D66E-48CC-B30A-A010B55B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F904B-A460-4B26-8D9E-BAAFBD53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D8FF"/>
                </a:solidFill>
              </a:defRPr>
            </a:pPr>
            <a:r>
              <a:rPr sz="1350" b="1">
                <a:solidFill>
                  <a:srgbClr val="63D8FF"/>
                </a:solidFill>
              </a:rPr>
              <a:t>09. Iteration 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79B40-075D-41C9-9C2B-79C510B1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8FF"/>
                </a:solidFill>
              </a:defRPr>
            </a:pPr>
            <a:r>
              <a:rPr sz="2625" b="1">
                <a:solidFill>
                  <a:srgbClr val="F6F8FF"/>
                </a:solidFill>
              </a:rPr>
              <a:t>테스트하면서 조정한 항목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9A48E-C367-4C83-963C-C8BDFBC5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A3AEB-70F4-497F-9B68-06F82DC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9E14E-E72C-4B2D-A485-1FCD6F16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578ED-3F63-42F9-92FC-A4A27392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약점 위치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384EE-4018-4121-85A3-99A528C0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74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중앙부에서 외곽선 근처로 이동. 타격 위치 주변이지만 완전히 동일하지 않게 조정.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85A31-5357-482E-9ED5-4A933C1E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E3D02-B0D7-4C21-8A08-FF127203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3D834-D4C5-4931-B1BF-AC623FD0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907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BREAK 연출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E66E8-58E3-4A6F-A8B7-C12E3F16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71700"/>
            <a:ext cx="274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하단 게이지 제거. 광물 외곽선이 퍼졌다가 돌아오는 방식으로 남은 시간을 표현.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1C3B8-398C-4144-9CE1-5FD70528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43632-9276-4616-A41E-B33BDA3D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03DCF-71BB-4E98-9535-7E5D0C66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피해 체계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32E3B-B447-4A3E-B143-5CD43E9F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74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광물별 퍼센트 피해 제거. 기본 피해 고정 + BREAK 배율 구조로 정리.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C7FC0-5CE7-4D80-90FB-58F17FFE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29025-630B-49B6-ABD4-DC019A23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DC307-466F-42AA-A8ED-252F3429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HP/보상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2847E-A274-428D-97C2-5936391C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74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고정 피해 기준에 맞춰 HP를 상향하고 광석 드랍량을 등급별로 차등화.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B9E6A-D03C-403A-B461-877A1660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0C43F-8245-4A3F-8554-23E8F1EC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3025A-8084-47AF-AAD9-225B98D7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862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카고 루프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464D7-DCE0-4275-B1E6-7C4B811A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67200"/>
            <a:ext cx="274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즉시 보상이 아니라 직접 수집 방식으로 바꿔 이동 목적을 강화.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547871-2CF6-43BB-9F99-66E8C644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2736C8-86E2-45EB-9878-672F7188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F567A2-9BD8-4D38-84FD-1E8AC973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862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피드백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37654B-7752-4270-9B61-32217158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67200"/>
            <a:ext cx="274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광물 피격, 약점 피격, BREAK 상태를 서로 다른 시각 피드백으로 분리.</a:t>
            </a:r>
          </a:p>
        </p:txBody>
      </p:sp>
    </p:spTree>
    <p:extLst>
      <p:ext uri="{BB962C8B-B14F-4D97-AF65-F5344CB8AC3E}">
        <p14:creationId xmlns:p14="http://schemas.microsoft.com/office/powerpoint/2010/main" val="3325704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344F3-2C74-447A-94E6-56A962EE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4C8D2-2E7D-4EF6-BAC3-A6C5A060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D8FF"/>
                </a:solidFill>
              </a:defRPr>
            </a:pPr>
            <a:r>
              <a:rPr sz="1350" b="1">
                <a:solidFill>
                  <a:srgbClr val="63D8FF"/>
                </a:solidFill>
              </a:rPr>
              <a:t>10. V2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26D9D-7241-4E65-B401-D8845AF7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8FF"/>
                </a:solidFill>
              </a:defRPr>
            </a:pPr>
            <a:r>
              <a:rPr sz="2625" b="1">
                <a:solidFill>
                  <a:srgbClr val="F6F8FF"/>
                </a:solidFill>
              </a:rPr>
              <a:t>실제 원작 시점 적용 시 고려사항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0871E-351B-4DCB-8FE8-62868E12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912BD-1E4F-4068-88D7-6C896128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328"/>
          </a:solidFill>
          <a:ln xmlns:a="http://schemas.openxmlformats.org/drawingml/2006/main" w="19050">
            <a:solidFill>
              <a:srgbClr val="7182AA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4AE35-95C0-4CF7-A825-5F6581FA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430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E36A"/>
                </a:solidFill>
              </a:defRPr>
            </a:pPr>
            <a:r>
              <a:rPr sz="2025" b="1">
                <a:solidFill>
                  <a:srgbClr val="FFE36A"/>
                </a:solidFill>
              </a:rPr>
              <a:t>V2 적용 예시 이미지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317FF-C6B4-4F3A-91A4-E477865B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4114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추후 원작 시점 목업으로 교체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7A5BB-80F0-4E47-A7CD-FB447B32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FF151-C56D-4BAC-93A2-A5E99687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F6AFE-BA61-4A10-B464-98F3BD55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약점 표현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760A8-792C-4E77-A47E-1D4D1EEE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마크 UI보다 광물 표면 균열, 발광, 파편으로 자연스럽게 표현.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53CA6-305F-48EF-B8DD-D33DF0A9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B227F-418B-49BB-9993-B0544883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0CE0E-4939-4D2E-81BC-3DE82115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BREAK 표현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CA61E-4C12-4CBA-9317-BC5D68B8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7170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외곽선보다 표면 발광, 파편, 카메라 피드백 중심으로 전환.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1B83C-7684-4AF7-9885-2ECBBF3E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0779D-4FCD-460C-BE9D-3AE506D0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91461-28FF-4273-9715-61E3F102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파편 방향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BA0104-0217-4933-865A-70C72F22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7670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아이소메트릭 시점에 맞춰 떨어지는 방향감과 수집 동선을 설계.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B9D97-8AF6-4307-B073-D91B8FD3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5A2EE2-DA3C-46CD-9599-5537D6AD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1BDF10-801D-4326-89F6-6413FC6A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957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모바일 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1C911-6C00-4C70-9136-BC23054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7670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카고와 목표 정보는 플레이 시선 근처에 배치하되 화면을 가리지 않게 조정.</a:t>
            </a:r>
          </a:p>
        </p:txBody>
      </p:sp>
    </p:spTree>
    <p:extLst>
      <p:ext uri="{BB962C8B-B14F-4D97-AF65-F5344CB8AC3E}">
        <p14:creationId xmlns:p14="http://schemas.microsoft.com/office/powerpoint/2010/main" val="2219014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282C0-F6BE-432B-986B-B6E605B44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13A3D-BFE1-40E3-8BB9-F9A73D74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7B7E2-7DFB-43D2-AEEB-2C18231C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D8FF"/>
                </a:solidFill>
              </a:defRPr>
            </a:pPr>
            <a:r>
              <a:rPr sz="1350" b="1">
                <a:solidFill>
                  <a:srgbClr val="63D8FF"/>
                </a:solidFill>
              </a:rPr>
              <a:t>11.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67557-E942-494D-A79D-551FBEA0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8FF"/>
                </a:solidFill>
              </a:defRPr>
            </a:pPr>
            <a:r>
              <a:rPr sz="2625" b="1">
                <a:solidFill>
                  <a:srgbClr val="F6F8FF"/>
                </a:solidFill>
              </a:rPr>
              <a:t>결과와 향후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4FDE1-F48F-4AC3-B06B-4C6D1428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40FBF-96A7-482C-836F-F80EF476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F"/>
                </a:solidFill>
              </a:defRPr>
            </a:pPr>
            <a:r>
              <a:rPr sz="2100" b="1">
                <a:solidFill>
                  <a:srgbClr val="F6F8FF"/>
                </a:solidFill>
              </a:rPr>
              <a:t>이번 프로토타입에서 검증한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A8A76-F423-45A8-A5DD-1AE0A9A4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8954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0D8AA-6250-42D6-87DF-595E30AF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704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대형 광물 공략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2FC68-6598-49D3-85E5-2B74F72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66975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AF064-8DE8-4EFA-9152-F9DFD256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90750"/>
            <a:ext cx="18954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54798-91EA-45D7-A3FF-084F8DA1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24100"/>
            <a:ext cx="1704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BREAK 보상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F7165-2D6C-46A0-8AFA-9F8CF0E1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51623-78A9-4B50-AA76-2728F49B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18954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6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E3CFE-260D-4C8C-A3D0-1AE4A01C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24100"/>
            <a:ext cx="1704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광석 수집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9579D-A778-4FAB-B504-6268BD1B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66975"/>
            <a:ext cx="24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36A"/>
                </a:solidFill>
              </a:defRPr>
            </a:pPr>
            <a:r>
              <a:rPr sz="1650" b="1">
                <a:solidFill>
                  <a:srgbClr val="FFE36A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026DF-454A-49CC-9064-0F1F0E10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90750"/>
            <a:ext cx="18954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AD7BD-DE30-4469-8073-74C5F201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24100"/>
            <a:ext cx="1704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8FF"/>
                </a:solidFill>
              </a:defRPr>
            </a:pPr>
            <a:r>
              <a:rPr sz="1275" b="1">
                <a:solidFill>
                  <a:srgbClr val="F6F8FF"/>
                </a:solidFill>
              </a:rPr>
              <a:t>카고 루프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CAA3F-6265-4B4D-A314-0511B2BF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3619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EFE67-33B6-4BA1-AAF4-CC1D1DF2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E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16A09-9545-42A6-95B0-0922493A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44C4B-1820-4184-964C-C3795FC7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3219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대형 광물 구간에 약점 공략과 BREAK 보상 타이밍을 부여해, 플레이어가 계속 개입할 이유를 만든다.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6B740-7A4C-4884-A6BB-CAE4D199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3619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D5D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3D384-AC26-4531-9307-62F68FEB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611D79-F210-40C5-AAA4-EA3EBA2D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F"/>
                </a:solidFill>
              </a:defRPr>
            </a:pPr>
            <a:r>
              <a:rPr sz="1575" b="1">
                <a:solidFill>
                  <a:srgbClr val="F6F8FF"/>
                </a:solidFill>
              </a:rPr>
              <a:t>향후 과제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3383D-5FA8-4F19-8DA0-D0FF0261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81450"/>
            <a:ext cx="3219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2E4"/>
                </a:solidFill>
              </a:defRPr>
            </a:pPr>
            <a:r>
              <a:rPr sz="1200" b="0">
                <a:solidFill>
                  <a:srgbClr val="B4C2E4"/>
                </a:solidFill>
              </a:rPr>
              <a:t>원작 시점에 맞는 연출 목업, 업그레이드 경제 밸런스, 모바일 UI 정리.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77B5A-8783-407A-AEB1-F90E1570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38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328"/>
          </a:solidFill>
          <a:ln xmlns:a="http://schemas.openxmlformats.org/drawingml/2006/main" w="19050">
            <a:solidFill>
              <a:srgbClr val="7182AA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102C21-72D8-462C-9250-1F807613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E36A"/>
                </a:solidFill>
              </a:defRPr>
            </a:pPr>
            <a:r>
              <a:rPr sz="2025" b="1">
                <a:solidFill>
                  <a:srgbClr val="FFE36A"/>
                </a:solidFill>
              </a:rPr>
              <a:t>QR / 링크 영역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4CD682-E168-46A7-900A-520D4502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0045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C2E4"/>
                </a:solidFill>
              </a:defRPr>
            </a:pPr>
            <a:r>
              <a:rPr sz="1125" b="0">
                <a:solidFill>
                  <a:srgbClr val="B4C2E4"/>
                </a:solidFill>
              </a:rPr>
              <a:t>GitHub Pages 또는 플레이 링크</a:t>
            </a:r>
          </a:p>
        </p:txBody>
      </p:sp>
    </p:spTree>
    <p:extLst>
      <p:ext uri="{BB962C8B-B14F-4D97-AF65-F5344CB8AC3E}">
        <p14:creationId xmlns:p14="http://schemas.microsoft.com/office/powerpoint/2010/main" val="1485623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2026-04-23T13:53:15.2140000Z</dcterms:created>
  <dcterms:modified xsi:type="dcterms:W3CDTF">2026-04-23T13:53:15.2140000Z</dcterms:modified>
</coreProperties>
</file>