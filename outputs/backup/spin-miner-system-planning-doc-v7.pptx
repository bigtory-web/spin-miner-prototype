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승 고" userId="8296c006db2f14ee" providerId="LiveId" clId="{F997F1B9-429E-4192-954F-F4CED232CDE9}"/>
    <pc:docChg chg="modSld">
      <pc:chgData name="대승 고" userId="8296c006db2f14ee" providerId="LiveId" clId="{F997F1B9-429E-4192-954F-F4CED232CDE9}" dt="2026-04-24T09:57:07.094" v="7" actId="20577"/>
      <pc:docMkLst>
        <pc:docMk/>
      </pc:docMkLst>
      <pc:sldChg chg="modSp mod">
        <pc:chgData name="대승 고" userId="8296c006db2f14ee" providerId="LiveId" clId="{F997F1B9-429E-4192-954F-F4CED232CDE9}" dt="2026-04-24T09:57:07.094" v="7" actId="20577"/>
        <pc:sldMkLst>
          <pc:docMk/>
          <pc:sldMk cId="525846558" sldId="257"/>
        </pc:sldMkLst>
        <pc:spChg chg="mod">
          <ac:chgData name="대승 고" userId="8296c006db2f14ee" providerId="LiveId" clId="{F997F1B9-429E-4192-954F-F4CED232CDE9}" dt="2026-04-24T09:57:07.094" v="7" actId="20577"/>
          <ac:spMkLst>
            <pc:docMk/>
            <pc:sldMk cId="525846558" sldId="257"/>
            <ac:spMk id="5" creationId="{B73C6442-A4D7-404B-8A6D-86DE3A4059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DB6B30-3439-4DD3-8678-5B3EC65A54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60693C-C8D0-43BE-B65B-DF5D1F2F9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C2F7BC9-B25E-4556-ADD4-A0ACD303E73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783F4B-1273-48E8-B12C-6E93D67F3AC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3150" b="1">
                <a:solidFill>
                  <a:srgbClr val="1E2D4A"/>
                </a:solidFill>
              </a:defRPr>
            </a:pPr>
            <a:r>
              <a:rPr sz="3150" b="1">
                <a:solidFill>
                  <a:srgbClr val="1E2D4A"/>
                </a:solidFill>
              </a:rPr>
              <a:t>Spin Miner 브레이크 시스템</a:t>
            </a:r>
          </a:p>
        </p:txBody>
      </p:sp>
    </p:spTree>
    <p:extLst>
      <p:ext uri="{BB962C8B-B14F-4D97-AF65-F5344CB8AC3E}">
        <p14:creationId xmlns:p14="http://schemas.microsoft.com/office/powerpoint/2010/main" val="152721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E38FA4-1E90-49F2-9470-79010CA0563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9F00B0-F01C-45FD-B4F8-9426979208D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32B403-9912-4D50-A713-BEDF04374B35}"/>
              </a:ext>
            </a:extLst>
          </p:cNvPr>
          <p:cNvSpPr>
            <a:spLocks noGrp="1"/>
          </p:cNvSpPr>
          <p:nvPr/>
        </p:nvSpPr>
        <p:spPr>
          <a:xfrm>
            <a:off x="95250" y="781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3C6442-A4D7-404B-8A6D-86DE3A4059E9}"/>
              </a:ext>
            </a:extLst>
          </p:cNvPr>
          <p:cNvSpPr>
            <a:spLocks noGrp="1"/>
          </p:cNvSpPr>
          <p:nvPr/>
        </p:nvSpPr>
        <p:spPr>
          <a:xfrm>
            <a:off x="95250" y="1123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lang="ko-KR" altLang="en-US" sz="1200" b="0" dirty="0">
                <a:solidFill>
                  <a:srgbClr val="202020"/>
                </a:solidFill>
              </a:rPr>
              <a:t>대형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중에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약점이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노출되고</a:t>
            </a:r>
            <a:r>
              <a:rPr sz="1200" b="0" dirty="0">
                <a:solidFill>
                  <a:srgbClr val="202020"/>
                </a:solidFill>
              </a:rPr>
              <a:t>,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공략을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통해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일정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발생시키는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시스템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820293-8214-48F0-B795-1FACFAC2FF1F}"/>
              </a:ext>
            </a:extLst>
          </p:cNvPr>
          <p:cNvSpPr>
            <a:spLocks noGrp="1"/>
          </p:cNvSpPr>
          <p:nvPr/>
        </p:nvSpPr>
        <p:spPr>
          <a:xfrm>
            <a:off x="95250" y="1400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상태에서는 광물</a:t>
            </a:r>
            <a:r>
              <a:rPr sz="1200">
                <a:solidFill>
                  <a:srgbClr val="202020"/>
                </a:solidFill>
              </a:rPr>
              <a:t>이</a:t>
            </a:r>
            <a:r>
              <a:rPr sz="1200" b="0">
                <a:solidFill>
                  <a:srgbClr val="202020"/>
                </a:solidFill>
              </a:rPr>
              <a:t> 취약해져 채굴 효율이 상승한다.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38380F-2D1C-4FC5-B735-4F6DE7E4A0B3}"/>
              </a:ext>
            </a:extLst>
          </p:cNvPr>
          <p:cNvSpPr>
            <a:spLocks noGrp="1"/>
          </p:cNvSpPr>
          <p:nvPr/>
        </p:nvSpPr>
        <p:spPr>
          <a:xfrm>
            <a:off x="95250" y="16764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약점은 브레이크를 발생시키는 시동기 역할로 정의한다.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B9708E-6D52-4906-BDE1-EFDCF68354DA}"/>
              </a:ext>
            </a:extLst>
          </p:cNvPr>
          <p:cNvSpPr>
            <a:spLocks noGrp="1"/>
          </p:cNvSpPr>
          <p:nvPr/>
        </p:nvSpPr>
        <p:spPr>
          <a:xfrm>
            <a:off x="95250" y="2209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1.2. 적용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625521-CB52-47C4-9F7D-79775DAF0EA2}"/>
              </a:ext>
            </a:extLst>
          </p:cNvPr>
          <p:cNvSpPr>
            <a:spLocks noGrp="1"/>
          </p:cNvSpPr>
          <p:nvPr/>
        </p:nvSpPr>
        <p:spPr>
          <a:xfrm>
            <a:off x="95250" y="2552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광물 앞에서 대기하며 타격이 반복되는 구간에 조작 목적을 부여한다.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1BD790-6C30-4955-9DE4-7503F7AD5F23}"/>
              </a:ext>
            </a:extLst>
          </p:cNvPr>
          <p:cNvSpPr>
            <a:spLocks noGrp="1"/>
          </p:cNvSpPr>
          <p:nvPr/>
        </p:nvSpPr>
        <p:spPr>
          <a:xfrm>
            <a:off x="95250" y="28289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 노출, 약점 공략, 브레이크 보상 구간을 분리해 플레이 리듬을 만든다.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7BF92A-33D6-4CAF-BB8B-6F8D5FBDA62C}"/>
              </a:ext>
            </a:extLst>
          </p:cNvPr>
          <p:cNvSpPr>
            <a:spLocks noGrp="1"/>
          </p:cNvSpPr>
          <p:nvPr/>
        </p:nvSpPr>
        <p:spPr>
          <a:xfrm>
            <a:off x="95250" y="31051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광물 앞에서 플레이어가 위치와 타격 대상을 의식하도록 만든다.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594842-F7FD-42B2-9F6F-C56A4D6DC0AD}"/>
              </a:ext>
            </a:extLst>
          </p:cNvPr>
          <p:cNvSpPr>
            <a:spLocks noGrp="1"/>
          </p:cNvSpPr>
          <p:nvPr/>
        </p:nvSpPr>
        <p:spPr>
          <a:xfrm>
            <a:off x="95250" y="3638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87C1A7-1A04-4403-A504-D7457AD30488}"/>
              </a:ext>
            </a:extLst>
          </p:cNvPr>
          <p:cNvSpPr>
            <a:spLocks noGrp="1"/>
          </p:cNvSpPr>
          <p:nvPr/>
        </p:nvSpPr>
        <p:spPr>
          <a:xfrm>
            <a:off x="95250" y="3981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광물을 오래 때리는 대상이 아니라 공략 대상처럼 인식하게 한다.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4D00D1-A5A8-4731-9A26-61762EC32127}"/>
              </a:ext>
            </a:extLst>
          </p:cNvPr>
          <p:cNvSpPr>
            <a:spLocks noGrp="1"/>
          </p:cNvSpPr>
          <p:nvPr/>
        </p:nvSpPr>
        <p:spPr>
          <a:xfrm>
            <a:off x="95250" y="42576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66E56E-E7DA-4B6D-B66D-3C60B9A64892}"/>
              </a:ext>
            </a:extLst>
          </p:cNvPr>
          <p:cNvSpPr>
            <a:spLocks noGrp="1"/>
          </p:cNvSpPr>
          <p:nvPr/>
        </p:nvSpPr>
        <p:spPr>
          <a:xfrm>
            <a:off x="95250" y="45339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광물의 체류 시간을 공략 단계로 분해한다.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9CE827-9FA9-4EE7-8A72-A454713AE204}"/>
              </a:ext>
            </a:extLst>
          </p:cNvPr>
          <p:cNvSpPr>
            <a:spLocks noGrp="1"/>
          </p:cNvSpPr>
          <p:nvPr/>
        </p:nvSpPr>
        <p:spPr>
          <a:xfrm>
            <a:off x="95250" y="5257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E7B01F-C386-48C4-A4E4-215494F98436}"/>
              </a:ext>
            </a:extLst>
          </p:cNvPr>
          <p:cNvSpPr>
            <a:spLocks noGrp="1"/>
          </p:cNvSpPr>
          <p:nvPr/>
        </p:nvSpPr>
        <p:spPr>
          <a:xfrm>
            <a:off x="95250" y="56102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12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프로토 타입 플레이 링크: 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52584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4CC70E-2B6C-4E3C-B9A0-CE7FB9421C8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A1CE62-5BDA-409C-B707-0403F7409E3C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FD2C99-DF39-465D-9A61-53D0951DBBE5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809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F80F41-20B1-4782-9A39-894E3F47C09B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E13BC0-A8A4-4CF4-94FE-B75BBC0DAE7C}"/>
              </a:ext>
            </a:extLst>
          </p:cNvPr>
          <p:cNvSpPr>
            <a:spLocks noGrp="1"/>
          </p:cNvSpPr>
          <p:nvPr/>
        </p:nvSpPr>
        <p:spPr>
          <a:xfrm>
            <a:off x="2000250" y="914400"/>
            <a:ext cx="533400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58C1B-0083-46F9-A1F3-17E18B91A78C}"/>
              </a:ext>
            </a:extLst>
          </p:cNvPr>
          <p:cNvSpPr>
            <a:spLocks noGrp="1"/>
          </p:cNvSpPr>
          <p:nvPr/>
        </p:nvSpPr>
        <p:spPr>
          <a:xfrm>
            <a:off x="2057400" y="9525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E5C148-2BC4-4C09-A737-07CF3DD537E9}"/>
              </a:ext>
            </a:extLst>
          </p:cNvPr>
          <p:cNvSpPr>
            <a:spLocks noGrp="1"/>
          </p:cNvSpPr>
          <p:nvPr/>
        </p:nvSpPr>
        <p:spPr>
          <a:xfrm>
            <a:off x="7334250" y="914400"/>
            <a:ext cx="4476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6C2D8E-49B7-4D70-A04B-DDAAB5E1678D}"/>
              </a:ext>
            </a:extLst>
          </p:cNvPr>
          <p:cNvSpPr>
            <a:spLocks noGrp="1"/>
          </p:cNvSpPr>
          <p:nvPr/>
        </p:nvSpPr>
        <p:spPr>
          <a:xfrm>
            <a:off x="7391400" y="9525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DBE986-8374-488F-A29A-5F70E62FA54B}"/>
              </a:ext>
            </a:extLst>
          </p:cNvPr>
          <p:cNvSpPr>
            <a:spLocks noGrp="1"/>
          </p:cNvSpPr>
          <p:nvPr/>
        </p:nvSpPr>
        <p:spPr>
          <a:xfrm>
            <a:off x="190500" y="1504950"/>
            <a:ext cx="1809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05DCA-D6DB-4A40-99A3-5626B82B5C85}"/>
              </a:ext>
            </a:extLst>
          </p:cNvPr>
          <p:cNvSpPr>
            <a:spLocks noGrp="1"/>
          </p:cNvSpPr>
          <p:nvPr/>
        </p:nvSpPr>
        <p:spPr>
          <a:xfrm>
            <a:off x="247650" y="15430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FF4EA4-C696-4B0E-9789-FD6CDDE79D5A}"/>
              </a:ext>
            </a:extLst>
          </p:cNvPr>
          <p:cNvSpPr>
            <a:spLocks noGrp="1"/>
          </p:cNvSpPr>
          <p:nvPr/>
        </p:nvSpPr>
        <p:spPr>
          <a:xfrm>
            <a:off x="2000250" y="1504950"/>
            <a:ext cx="5334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0E9971-3A7C-469A-BDAE-49E1E3D83285}"/>
              </a:ext>
            </a:extLst>
          </p:cNvPr>
          <p:cNvSpPr>
            <a:spLocks noGrp="1"/>
          </p:cNvSpPr>
          <p:nvPr/>
        </p:nvSpPr>
        <p:spPr>
          <a:xfrm>
            <a:off x="2057400" y="15430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브레이크 적용 광물을 타격하면 해당 광물 근처에 등장하는 공략 포인트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0E49DA-10AF-4998-B58C-E1B22F44A2BA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4476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6DD05-A3E0-4DFF-8734-4DAD075EBBC9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A6D0A0-6887-40BA-A15B-F572EDDF420C}"/>
              </a:ext>
            </a:extLst>
          </p:cNvPr>
          <p:cNvSpPr>
            <a:spLocks noGrp="1"/>
          </p:cNvSpPr>
          <p:nvPr/>
        </p:nvSpPr>
        <p:spPr>
          <a:xfrm>
            <a:off x="190500" y="209550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199911-3032-4CF2-AF49-8751BFA83ED8}"/>
              </a:ext>
            </a:extLst>
          </p:cNvPr>
          <p:cNvSpPr>
            <a:spLocks noGrp="1"/>
          </p:cNvSpPr>
          <p:nvPr/>
        </p:nvSpPr>
        <p:spPr>
          <a:xfrm>
            <a:off x="247650" y="21336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737971-450B-4D21-85B0-62F870184E3C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B01960-49F0-4F42-ADDF-C64A4E425ADF}"/>
              </a:ext>
            </a:extLst>
          </p:cNvPr>
          <p:cNvSpPr>
            <a:spLocks noGrp="1"/>
          </p:cNvSpPr>
          <p:nvPr/>
        </p:nvSpPr>
        <p:spPr>
          <a:xfrm>
            <a:off x="2057400" y="21336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  <a:r>
              <a:rPr sz="1000">
                <a:solidFill>
                  <a:srgbClr val="202020"/>
                </a:solidFill>
              </a:rPr>
              <a:t> 포인트를 일정 횟수 타격하면</a:t>
            </a:r>
            <a:r>
              <a:rPr sz="1000" b="0">
                <a:solidFill>
                  <a:srgbClr val="202020"/>
                </a:solidFill>
              </a:rPr>
              <a:t> 일정 시간 발생하는 취약 상태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E23633-4BCB-4905-AE11-41B4F4F4D036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B71A1E-7512-440F-B4F9-7BF6E5560BF2}"/>
              </a:ext>
            </a:extLst>
          </p:cNvPr>
          <p:cNvSpPr>
            <a:spLocks noGrp="1"/>
          </p:cNvSpPr>
          <p:nvPr/>
        </p:nvSpPr>
        <p:spPr>
          <a:xfrm>
            <a:off x="7391400" y="21336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긴 체류 구간에 리듬 변화를 주는 보상 구간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53A35F8-DE08-495C-AB2F-954EC1FF6E3B}"/>
              </a:ext>
            </a:extLst>
          </p:cNvPr>
          <p:cNvSpPr>
            <a:spLocks noGrp="1"/>
          </p:cNvSpPr>
          <p:nvPr/>
        </p:nvSpPr>
        <p:spPr>
          <a:xfrm>
            <a:off x="190500" y="268605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D416A3-FC46-4674-8917-6471F3566D1F}"/>
              </a:ext>
            </a:extLst>
          </p:cNvPr>
          <p:cNvSpPr>
            <a:spLocks noGrp="1"/>
          </p:cNvSpPr>
          <p:nvPr/>
        </p:nvSpPr>
        <p:spPr>
          <a:xfrm>
            <a:off x="247650" y="27241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적용 광물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40398F-04D5-4C75-967D-05AFC8CBE9AC}"/>
              </a:ext>
            </a:extLst>
          </p:cNvPr>
          <p:cNvSpPr>
            <a:spLocks noGrp="1"/>
          </p:cNvSpPr>
          <p:nvPr/>
        </p:nvSpPr>
        <p:spPr>
          <a:xfrm>
            <a:off x="2000250" y="268605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E7A74C-60AA-4FB8-B7FF-9174571FA0A8}"/>
              </a:ext>
            </a:extLst>
          </p:cNvPr>
          <p:cNvSpPr>
            <a:spLocks noGrp="1"/>
          </p:cNvSpPr>
          <p:nvPr/>
        </p:nvSpPr>
        <p:spPr>
          <a:xfrm>
            <a:off x="2057400" y="27241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규칙을 적용받는 광물</a:t>
            </a:r>
          </a:p>
          <a:p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현재 기대 채굴 성능 대비 상대적 장기 체류가 발생할 경우 브레이크 적용 광물로 분류한다.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FE3923-E79A-4399-ACCC-DA1A509CE393}"/>
              </a:ext>
            </a:extLst>
          </p:cNvPr>
          <p:cNvSpPr>
            <a:spLocks noGrp="1"/>
          </p:cNvSpPr>
          <p:nvPr/>
        </p:nvSpPr>
        <p:spPr>
          <a:xfrm>
            <a:off x="7334250" y="268605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7E1B44-12DB-4EBE-B9A9-7BC32BB725FD}"/>
              </a:ext>
            </a:extLst>
          </p:cNvPr>
          <p:cNvSpPr>
            <a:spLocks noGrp="1"/>
          </p:cNvSpPr>
          <p:nvPr/>
        </p:nvSpPr>
        <p:spPr>
          <a:xfrm>
            <a:off x="7391400" y="27241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장시간 체류 구간에 리듬 변화를 부여할 대상</a:t>
            </a:r>
          </a:p>
        </p:txBody>
      </p:sp>
    </p:spTree>
    <p:extLst>
      <p:ext uri="{BB962C8B-B14F-4D97-AF65-F5344CB8AC3E}">
        <p14:creationId xmlns:p14="http://schemas.microsoft.com/office/powerpoint/2010/main" val="39313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6A97D7-9997-47B9-8DEE-859FFE645D06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3. 플레이 경험 및 개선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36A3FC-22E3-4876-9C55-2638DA31BA1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E76F12-75CC-464B-85E5-C945114FEF7E}"/>
              </a:ext>
            </a:extLst>
          </p:cNvPr>
          <p:cNvSpPr>
            <a:spLocks noGrp="1"/>
          </p:cNvSpPr>
          <p:nvPr/>
        </p:nvSpPr>
        <p:spPr>
          <a:xfrm>
            <a:off x="95250" y="8001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3.1. 플레이 경험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D66BB2-24E3-4D19-9C79-81722143ECC5}"/>
              </a:ext>
            </a:extLst>
          </p:cNvPr>
          <p:cNvSpPr>
            <a:spLocks noGrp="1"/>
          </p:cNvSpPr>
          <p:nvPr/>
        </p:nvSpPr>
        <p:spPr>
          <a:xfrm>
            <a:off x="95250" y="1704975"/>
            <a:ext cx="1524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C8D893-663C-43BE-BA0F-5440BD26FEC5}"/>
              </a:ext>
            </a:extLst>
          </p:cNvPr>
          <p:cNvSpPr>
            <a:spLocks noGrp="1"/>
          </p:cNvSpPr>
          <p:nvPr/>
        </p:nvSpPr>
        <p:spPr>
          <a:xfrm>
            <a:off x="152400" y="17430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8DF122-B47A-419D-950C-0DBE13156C5D}"/>
              </a:ext>
            </a:extLst>
          </p:cNvPr>
          <p:cNvSpPr>
            <a:spLocks noGrp="1"/>
          </p:cNvSpPr>
          <p:nvPr/>
        </p:nvSpPr>
        <p:spPr>
          <a:xfrm>
            <a:off x="1619250" y="1704975"/>
            <a:ext cx="4286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447D16-4757-457F-941A-79E1C0D48C66}"/>
              </a:ext>
            </a:extLst>
          </p:cNvPr>
          <p:cNvSpPr>
            <a:spLocks noGrp="1"/>
          </p:cNvSpPr>
          <p:nvPr/>
        </p:nvSpPr>
        <p:spPr>
          <a:xfrm>
            <a:off x="1676400" y="17430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플레이 경험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B7437C-ADC6-4DE7-8C2D-FA36754C4552}"/>
              </a:ext>
            </a:extLst>
          </p:cNvPr>
          <p:cNvSpPr>
            <a:spLocks noGrp="1"/>
          </p:cNvSpPr>
          <p:nvPr/>
        </p:nvSpPr>
        <p:spPr>
          <a:xfrm>
            <a:off x="5905500" y="1704975"/>
            <a:ext cx="5810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F0D652-45BA-46E8-ABC4-1C30012115C8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4E6F6-C073-4D11-8A59-443C3699A446}"/>
              </a:ext>
            </a:extLst>
          </p:cNvPr>
          <p:cNvSpPr>
            <a:spLocks noGrp="1"/>
          </p:cNvSpPr>
          <p:nvPr/>
        </p:nvSpPr>
        <p:spPr>
          <a:xfrm>
            <a:off x="95250" y="2162175"/>
            <a:ext cx="1524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F3A05D-80EC-4FDD-BDE7-598247CC414D}"/>
              </a:ext>
            </a:extLst>
          </p:cNvPr>
          <p:cNvSpPr>
            <a:spLocks noGrp="1"/>
          </p:cNvSpPr>
          <p:nvPr/>
        </p:nvSpPr>
        <p:spPr>
          <a:xfrm>
            <a:off x="152400" y="22002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소형 광물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72E069-DA5B-410B-91C8-B2717207792C}"/>
              </a:ext>
            </a:extLst>
          </p:cNvPr>
          <p:cNvSpPr>
            <a:spLocks noGrp="1"/>
          </p:cNvSpPr>
          <p:nvPr/>
        </p:nvSpPr>
        <p:spPr>
          <a:xfrm>
            <a:off x="1619250" y="2162175"/>
            <a:ext cx="4286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2A61A8-9B77-40B2-AA73-450013E11FAF}"/>
              </a:ext>
            </a:extLst>
          </p:cNvPr>
          <p:cNvSpPr>
            <a:spLocks noGrp="1"/>
          </p:cNvSpPr>
          <p:nvPr/>
        </p:nvSpPr>
        <p:spPr>
          <a:xfrm>
            <a:off x="1676400" y="22002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이동-타격-수집 주기가 짧음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8F9A9F-A8C1-436D-AAE5-B1D7E6D6CFBF}"/>
              </a:ext>
            </a:extLst>
          </p:cNvPr>
          <p:cNvSpPr>
            <a:spLocks noGrp="1"/>
          </p:cNvSpPr>
          <p:nvPr/>
        </p:nvSpPr>
        <p:spPr>
          <a:xfrm>
            <a:off x="5905500" y="2162175"/>
            <a:ext cx="5810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0D9CD5-B22E-4497-863B-01B666844B4D}"/>
              </a:ext>
            </a:extLst>
          </p:cNvPr>
          <p:cNvSpPr>
            <a:spLocks noGrp="1"/>
          </p:cNvSpPr>
          <p:nvPr/>
        </p:nvSpPr>
        <p:spPr>
          <a:xfrm>
            <a:off x="5962650" y="22002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A1FA5A-EF63-45D7-B7A1-FBF8F78EA6C8}"/>
              </a:ext>
            </a:extLst>
          </p:cNvPr>
          <p:cNvSpPr>
            <a:spLocks noGrp="1"/>
          </p:cNvSpPr>
          <p:nvPr/>
        </p:nvSpPr>
        <p:spPr>
          <a:xfrm>
            <a:off x="95250" y="26193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C653F4-7D09-43B3-8CD0-335883697863}"/>
              </a:ext>
            </a:extLst>
          </p:cNvPr>
          <p:cNvSpPr>
            <a:spLocks noGrp="1"/>
          </p:cNvSpPr>
          <p:nvPr/>
        </p:nvSpPr>
        <p:spPr>
          <a:xfrm>
            <a:off x="152400" y="26574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특수</a:t>
            </a:r>
            <a:r>
              <a:rPr sz="1000" b="0">
                <a:solidFill>
                  <a:srgbClr val="202020"/>
                </a:solidFill>
              </a:rPr>
              <a:t> 광물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27F1C5-73F5-4E5D-976D-AD4EA70CB633}"/>
              </a:ext>
            </a:extLst>
          </p:cNvPr>
          <p:cNvSpPr>
            <a:spLocks noGrp="1"/>
          </p:cNvSpPr>
          <p:nvPr/>
        </p:nvSpPr>
        <p:spPr>
          <a:xfrm>
            <a:off x="1619250" y="26193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3757F1-32DB-445B-91D8-5A5F3D805647}"/>
              </a:ext>
            </a:extLst>
          </p:cNvPr>
          <p:cNvSpPr>
            <a:spLocks noGrp="1"/>
          </p:cNvSpPr>
          <p:nvPr/>
        </p:nvSpPr>
        <p:spPr>
          <a:xfrm>
            <a:off x="1676400" y="26574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젤리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, </a:t>
            </a:r>
            <a:r>
              <a:rPr sz="1000" b="0" dirty="0" err="1">
                <a:solidFill>
                  <a:srgbClr val="202020"/>
                </a:solidFill>
              </a:rPr>
              <a:t>화염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, </a:t>
            </a:r>
            <a:r>
              <a:rPr sz="1000" b="0" dirty="0" err="1">
                <a:solidFill>
                  <a:srgbClr val="202020"/>
                </a:solidFill>
              </a:rPr>
              <a:t>얼음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해당</a:t>
            </a:r>
            <a:endParaRPr sz="1000" b="0" dirty="0">
              <a:solidFill>
                <a:srgbClr val="202020"/>
              </a:solidFill>
            </a:endParaRPr>
          </a:p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dirty="0" err="1">
                <a:solidFill>
                  <a:srgbClr val="202020"/>
                </a:solidFill>
              </a:rPr>
              <a:t>광물의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특수성으로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인한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다채로운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경험</a:t>
            </a:r>
            <a:r>
              <a:rPr sz="1000" dirty="0">
                <a:solidFill>
                  <a:srgbClr val="202020"/>
                </a:solidFill>
              </a:rPr>
              <a:t> </a:t>
            </a:r>
            <a:r>
              <a:rPr sz="1000" dirty="0" err="1">
                <a:solidFill>
                  <a:srgbClr val="202020"/>
                </a:solidFill>
              </a:rPr>
              <a:t>제공</a:t>
            </a:r>
            <a:endParaRPr sz="1000" dirty="0">
              <a:solidFill>
                <a:srgbClr val="20202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B03F64-0816-42B5-875C-47E8ED5AF429}"/>
              </a:ext>
            </a:extLst>
          </p:cNvPr>
          <p:cNvSpPr>
            <a:spLocks noGrp="1"/>
          </p:cNvSpPr>
          <p:nvPr/>
        </p:nvSpPr>
        <p:spPr>
          <a:xfrm>
            <a:off x="5905500" y="26193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9FAD32-AC64-4867-A015-FB25252D5D6D}"/>
              </a:ext>
            </a:extLst>
          </p:cNvPr>
          <p:cNvSpPr>
            <a:spLocks noGrp="1"/>
          </p:cNvSpPr>
          <p:nvPr/>
        </p:nvSpPr>
        <p:spPr>
          <a:xfrm>
            <a:off x="5962650" y="26574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B4E727-9A67-42A8-A8CE-274EA6FE2D2B}"/>
              </a:ext>
            </a:extLst>
          </p:cNvPr>
          <p:cNvSpPr>
            <a:spLocks noGrp="1"/>
          </p:cNvSpPr>
          <p:nvPr/>
        </p:nvSpPr>
        <p:spPr>
          <a:xfrm>
            <a:off x="95250" y="39433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3.2. 개선 방향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397918-82DE-4556-AA15-70C90B47A37E}"/>
              </a:ext>
            </a:extLst>
          </p:cNvPr>
          <p:cNvSpPr>
            <a:spLocks noGrp="1"/>
          </p:cNvSpPr>
          <p:nvPr/>
        </p:nvSpPr>
        <p:spPr>
          <a:xfrm>
            <a:off x="95250" y="43053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광물은 긴 채굴 시간이 필요하지만 높은 보상을 제공하는 목적성이 있다.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C6EED5-D6CE-4C0B-B428-A70C85600A60}"/>
              </a:ext>
            </a:extLst>
          </p:cNvPr>
          <p:cNvSpPr>
            <a:spLocks noGrp="1"/>
          </p:cNvSpPr>
          <p:nvPr/>
        </p:nvSpPr>
        <p:spPr>
          <a:xfrm>
            <a:off x="95250" y="45815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>
                <a:solidFill>
                  <a:srgbClr val="202020"/>
                </a:solidFill>
              </a:rPr>
              <a:t>- 상대적으로 긴 채굴 시간을 브레이크 시스템을 통해 전투 리듬 변화를 제공해 짧게 느껴지도록 한다.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A586D93-2848-2492-4C2F-ED5339E5FC28}"/>
              </a:ext>
            </a:extLst>
          </p:cNvPr>
          <p:cNvSpPr>
            <a:spLocks noGrp="1"/>
          </p:cNvSpPr>
          <p:nvPr/>
        </p:nvSpPr>
        <p:spPr>
          <a:xfrm>
            <a:off x="95249" y="1066800"/>
            <a:ext cx="78200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marL="171450" indent="-171450">
              <a:buChar char="-"/>
              <a:defRPr sz="9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광물의 HP</a:t>
            </a:r>
            <a:r>
              <a:rPr sz="1200">
                <a:solidFill>
                  <a:srgbClr val="202020"/>
                </a:solidFill>
              </a:rPr>
              <a:t> 및 특수성에 따라서 </a:t>
            </a:r>
            <a:r>
              <a:rPr sz="1200" b="0">
                <a:solidFill>
                  <a:srgbClr val="202020"/>
                </a:solidFill>
              </a:rPr>
              <a:t>플레이 경험적 차이가 발생한다.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8CDC577-37DA-49E0-9D30-4DBED552C8FE}"/>
              </a:ext>
            </a:extLst>
          </p:cNvPr>
          <p:cNvSpPr>
            <a:spLocks noGrp="1"/>
          </p:cNvSpPr>
          <p:nvPr/>
        </p:nvSpPr>
        <p:spPr>
          <a:xfrm>
            <a:off x="95250" y="30765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994726A-62A6-CC94-B67C-0F628E3B3654}"/>
              </a:ext>
            </a:extLst>
          </p:cNvPr>
          <p:cNvSpPr>
            <a:spLocks noGrp="1"/>
          </p:cNvSpPr>
          <p:nvPr/>
        </p:nvSpPr>
        <p:spPr>
          <a:xfrm>
            <a:off x="152400" y="31146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적용 광물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DDDD37C-E81E-F53F-0D08-86E74271B41F}"/>
              </a:ext>
            </a:extLst>
          </p:cNvPr>
          <p:cNvSpPr>
            <a:spLocks noGrp="1"/>
          </p:cNvSpPr>
          <p:nvPr/>
        </p:nvSpPr>
        <p:spPr>
          <a:xfrm>
            <a:off x="1619250" y="30765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480740-165C-5915-594A-6E2CA24E20F5}"/>
              </a:ext>
            </a:extLst>
          </p:cNvPr>
          <p:cNvSpPr>
            <a:spLocks noGrp="1"/>
          </p:cNvSpPr>
          <p:nvPr/>
        </p:nvSpPr>
        <p:spPr>
          <a:xfrm>
            <a:off x="1676400" y="31146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HP가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높고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거대해서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공략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대상으로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인지됨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06ED444-E21B-AA0A-F357-4B0272DA53AA}"/>
              </a:ext>
            </a:extLst>
          </p:cNvPr>
          <p:cNvSpPr>
            <a:spLocks noGrp="1"/>
          </p:cNvSpPr>
          <p:nvPr/>
        </p:nvSpPr>
        <p:spPr>
          <a:xfrm>
            <a:off x="5905500" y="30765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1E6732-B2AA-044D-9894-008026314B75}"/>
              </a:ext>
            </a:extLst>
          </p:cNvPr>
          <p:cNvSpPr>
            <a:spLocks noGrp="1"/>
          </p:cNvSpPr>
          <p:nvPr/>
        </p:nvSpPr>
        <p:spPr>
          <a:xfrm>
            <a:off x="5962650" y="31146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목표에 대한 인지와 확실한 보상을 제공함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0E559A-C22E-CA4B-4BD2-FAEC7F2DAF93}"/>
              </a:ext>
            </a:extLst>
          </p:cNvPr>
          <p:cNvSpPr>
            <a:spLocks noGrp="1"/>
          </p:cNvSpPr>
          <p:nvPr/>
        </p:nvSpPr>
        <p:spPr>
          <a:xfrm>
            <a:off x="5962650" y="26574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화염 피해, </a:t>
            </a:r>
            <a:r>
              <a:rPr sz="1000">
                <a:solidFill>
                  <a:srgbClr val="202020"/>
                </a:solidFill>
              </a:rPr>
              <a:t>빙결 상태 등으로 변칙을 줘서 다양한 경험을 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233C87-1D48-873D-36BA-6E4D47327792}"/>
              </a:ext>
            </a:extLst>
          </p:cNvPr>
          <p:cNvSpPr>
            <a:spLocks noGrp="1"/>
          </p:cNvSpPr>
          <p:nvPr/>
        </p:nvSpPr>
        <p:spPr>
          <a:xfrm>
            <a:off x="95250" y="48577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이를 통해 플레이 조작하는 재미를 유지하도록 한다.  (흐름? 뭐라고 해야할지, 전반적인 경험? 패턴?)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16E7960-F514-C091-2A52-5973AAA019A7}"/>
              </a:ext>
            </a:extLst>
          </p:cNvPr>
          <p:cNvSpPr>
            <a:spLocks noGrp="1"/>
          </p:cNvSpPr>
          <p:nvPr/>
        </p:nvSpPr>
        <p:spPr>
          <a:xfrm>
            <a:off x="95250" y="51435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 노출 전후, 브레이크 전후의 피드백을 명확히 분리한다.</a:t>
            </a:r>
          </a:p>
        </p:txBody>
      </p:sp>
    </p:spTree>
    <p:extLst>
      <p:ext uri="{BB962C8B-B14F-4D97-AF65-F5344CB8AC3E}">
        <p14:creationId xmlns:p14="http://schemas.microsoft.com/office/powerpoint/2010/main" val="191445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955EC9-AFCE-4850-86FE-46AC3A9C3CF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2D884F-74B1-4153-AEAC-44E2B4117BD5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8D29A6-9AB3-4744-AD90-CC42D52E255B}"/>
              </a:ext>
            </a:extLst>
          </p:cNvPr>
          <p:cNvSpPr>
            <a:spLocks noGrp="1"/>
          </p:cNvSpPr>
          <p:nvPr/>
        </p:nvSpPr>
        <p:spPr>
          <a:xfrm>
            <a:off x="952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5A4204-507D-4081-8A3F-CED4DBDB43EC}"/>
              </a:ext>
            </a:extLst>
          </p:cNvPr>
          <p:cNvSpPr>
            <a:spLocks noGrp="1"/>
          </p:cNvSpPr>
          <p:nvPr/>
        </p:nvSpPr>
        <p:spPr>
          <a:xfrm>
            <a:off x="1524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 적용 광물 타격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974882-E441-4CB8-939F-7DC1779A545A}"/>
              </a:ext>
            </a:extLst>
          </p:cNvPr>
          <p:cNvSpPr>
            <a:spLocks noGrp="1"/>
          </p:cNvSpPr>
          <p:nvPr/>
        </p:nvSpPr>
        <p:spPr>
          <a:xfrm>
            <a:off x="18923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4896ECE-C9D1-48BC-A15F-E7158FC1D1D4}"/>
              </a:ext>
            </a:extLst>
          </p:cNvPr>
          <p:cNvSpPr>
            <a:spLocks noGrp="1"/>
          </p:cNvSpPr>
          <p:nvPr/>
        </p:nvSpPr>
        <p:spPr>
          <a:xfrm>
            <a:off x="20447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3811FD-FE05-4E8C-92AF-56CEF26F4AF1}"/>
              </a:ext>
            </a:extLst>
          </p:cNvPr>
          <p:cNvSpPr>
            <a:spLocks noGrp="1"/>
          </p:cNvSpPr>
          <p:nvPr/>
        </p:nvSpPr>
        <p:spPr>
          <a:xfrm>
            <a:off x="21018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B457C9-2BD0-4536-B416-3B7CE216EFC5}"/>
              </a:ext>
            </a:extLst>
          </p:cNvPr>
          <p:cNvSpPr>
            <a:spLocks noGrp="1"/>
          </p:cNvSpPr>
          <p:nvPr/>
        </p:nvSpPr>
        <p:spPr>
          <a:xfrm>
            <a:off x="38417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CAEA74-A5D4-4E09-9635-D19FC0B07ACC}"/>
              </a:ext>
            </a:extLst>
          </p:cNvPr>
          <p:cNvSpPr>
            <a:spLocks noGrp="1"/>
          </p:cNvSpPr>
          <p:nvPr/>
        </p:nvSpPr>
        <p:spPr>
          <a:xfrm>
            <a:off x="39941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AD8E52-5DBA-4465-80D2-389A8D5FA03E}"/>
              </a:ext>
            </a:extLst>
          </p:cNvPr>
          <p:cNvSpPr>
            <a:spLocks noGrp="1"/>
          </p:cNvSpPr>
          <p:nvPr/>
        </p:nvSpPr>
        <p:spPr>
          <a:xfrm>
            <a:off x="40513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8D46D6-399C-4D2F-8584-B9204E04DD02}"/>
              </a:ext>
            </a:extLst>
          </p:cNvPr>
          <p:cNvSpPr>
            <a:spLocks noGrp="1"/>
          </p:cNvSpPr>
          <p:nvPr/>
        </p:nvSpPr>
        <p:spPr>
          <a:xfrm>
            <a:off x="57912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2A5CB0-9FA4-4132-A7A0-33222A73165A}"/>
              </a:ext>
            </a:extLst>
          </p:cNvPr>
          <p:cNvSpPr>
            <a:spLocks noGrp="1"/>
          </p:cNvSpPr>
          <p:nvPr/>
        </p:nvSpPr>
        <p:spPr>
          <a:xfrm>
            <a:off x="59436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FC8F07-5F49-4F38-A1CA-2768DCA776F1}"/>
              </a:ext>
            </a:extLst>
          </p:cNvPr>
          <p:cNvSpPr>
            <a:spLocks noGrp="1"/>
          </p:cNvSpPr>
          <p:nvPr/>
        </p:nvSpPr>
        <p:spPr>
          <a:xfrm>
            <a:off x="60007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62B67D-A58C-4BD7-A247-9B1A94BD82AA}"/>
              </a:ext>
            </a:extLst>
          </p:cNvPr>
          <p:cNvSpPr>
            <a:spLocks noGrp="1"/>
          </p:cNvSpPr>
          <p:nvPr/>
        </p:nvSpPr>
        <p:spPr>
          <a:xfrm>
            <a:off x="95250" y="42672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4.2. 적용 범위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46AD17-4C68-4636-AC48-5DD5B5C32636}"/>
              </a:ext>
            </a:extLst>
          </p:cNvPr>
          <p:cNvSpPr>
            <a:spLocks noGrp="1"/>
          </p:cNvSpPr>
          <p:nvPr/>
        </p:nvSpPr>
        <p:spPr>
          <a:xfrm>
            <a:off x="95250" y="4610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광물 데이터에서 브레이크 적용 여부를 제어한다.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69797B-8EC7-4CAB-A272-95ADB28C32A4}"/>
              </a:ext>
            </a:extLst>
          </p:cNvPr>
          <p:cNvSpPr>
            <a:spLocks noGrp="1"/>
          </p:cNvSpPr>
          <p:nvPr/>
        </p:nvSpPr>
        <p:spPr>
          <a:xfrm>
            <a:off x="95250" y="4886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대상이 아닌 광물은 기존 채굴 처리만 유지한다.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C39D45-F7FB-A4C2-9FDC-ECB2DE10E074}"/>
              </a:ext>
            </a:extLst>
          </p:cNvPr>
          <p:cNvSpPr>
            <a:spLocks noGrp="1"/>
          </p:cNvSpPr>
          <p:nvPr/>
        </p:nvSpPr>
        <p:spPr>
          <a:xfrm>
            <a:off x="95250" y="2114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4EA727-3A9A-81C0-C2B6-02710899D3D1}"/>
              </a:ext>
            </a:extLst>
          </p:cNvPr>
          <p:cNvSpPr>
            <a:spLocks noGrp="1"/>
          </p:cNvSpPr>
          <p:nvPr/>
        </p:nvSpPr>
        <p:spPr>
          <a:xfrm>
            <a:off x="95250" y="2457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1. 브레이크 적용 광물을 일정 이상 타격하면 약점 포인트가 등장한다.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4F1578-FBDA-4E54-6574-845C214544A1}"/>
              </a:ext>
            </a:extLst>
          </p:cNvPr>
          <p:cNvSpPr>
            <a:spLocks noGrp="1"/>
          </p:cNvSpPr>
          <p:nvPr/>
        </p:nvSpPr>
        <p:spPr>
          <a:xfrm>
            <a:off x="95250" y="2743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2. 약점 포인트를 일정 이상 타격하면 브레이크 상태에 진입한다.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758A90-9519-BD88-DD7C-D42FCFA719B2}"/>
              </a:ext>
            </a:extLst>
          </p:cNvPr>
          <p:cNvSpPr>
            <a:spLocks noGrp="1"/>
          </p:cNvSpPr>
          <p:nvPr/>
        </p:nvSpPr>
        <p:spPr>
          <a:xfrm>
            <a:off x="95250" y="3028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3. </a:t>
            </a:r>
            <a:r>
              <a:rPr sz="1200">
                <a:solidFill>
                  <a:srgbClr val="202020"/>
                </a:solidFill>
              </a:rPr>
              <a:t>브레이크 상태가 되면 일정 시간 동안 지금보다 높은 배율의 피해를 입힐 수 있다.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F918A1-3D6F-D556-0A48-592B67B82C54}"/>
              </a:ext>
            </a:extLst>
          </p:cNvPr>
          <p:cNvSpPr>
            <a:spLocks noGrp="1"/>
          </p:cNvSpPr>
          <p:nvPr/>
        </p:nvSpPr>
        <p:spPr>
          <a:xfrm>
            <a:off x="95250" y="3314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3. 브레이크 시간이 종료되면 약점은 숨겨지고 일반 상태로 복귀한다.</a:t>
            </a:r>
          </a:p>
        </p:txBody>
      </p:sp>
      <p:cxnSp>
        <p:nvCxnSpPr>
          <p:cNvPr id="37" name="연결선: 꺾임 5"/>
          <p:cNvCxnSpPr>
            <a:stCxn id="16" idx="0"/>
            <a:endCxn id="7" idx="0"/>
          </p:cNvCxnSpPr>
          <p:nvPr/>
        </p:nvCxnSpPr>
        <p:spPr>
          <a:xfrm rot="16200000" flipV="1">
            <a:off x="3908425" y="-1933575"/>
            <a:ext cx="12700" cy="584835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2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DF1B71-A9BF-45E7-ADBC-DA4499FC791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B87362-784A-4A77-8BD6-9A50BFA1A71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24638C-CCE1-4D65-9D91-B1D470D91CFF}"/>
              </a:ext>
            </a:extLst>
          </p:cNvPr>
          <p:cNvSpPr>
            <a:spLocks noGrp="1"/>
          </p:cNvSpPr>
          <p:nvPr/>
        </p:nvSpPr>
        <p:spPr>
          <a:xfrm>
            <a:off x="2857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E231BA-8139-4ADA-B4CB-CD7B22F897DD}"/>
              </a:ext>
            </a:extLst>
          </p:cNvPr>
          <p:cNvSpPr>
            <a:spLocks noGrp="1"/>
          </p:cNvSpPr>
          <p:nvPr/>
        </p:nvSpPr>
        <p:spPr>
          <a:xfrm>
            <a:off x="3429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E954B6-7058-4F21-AEFA-B7011FFB6420}"/>
              </a:ext>
            </a:extLst>
          </p:cNvPr>
          <p:cNvSpPr>
            <a:spLocks noGrp="1"/>
          </p:cNvSpPr>
          <p:nvPr/>
        </p:nvSpPr>
        <p:spPr>
          <a:xfrm>
            <a:off x="20351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23FF6E-F1E1-41CE-9C49-A23DB6DFE41F}"/>
              </a:ext>
            </a:extLst>
          </p:cNvPr>
          <p:cNvSpPr>
            <a:spLocks noGrp="1"/>
          </p:cNvSpPr>
          <p:nvPr/>
        </p:nvSpPr>
        <p:spPr>
          <a:xfrm>
            <a:off x="21875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522287-A772-40B9-8006-3697A7BFEB0B}"/>
              </a:ext>
            </a:extLst>
          </p:cNvPr>
          <p:cNvSpPr>
            <a:spLocks noGrp="1"/>
          </p:cNvSpPr>
          <p:nvPr/>
        </p:nvSpPr>
        <p:spPr>
          <a:xfrm>
            <a:off x="22447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등장 조건 충족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E7D94E-24E7-43AD-9FC2-62AF3A3B6DD7}"/>
              </a:ext>
            </a:extLst>
          </p:cNvPr>
          <p:cNvSpPr>
            <a:spLocks noGrp="1"/>
          </p:cNvSpPr>
          <p:nvPr/>
        </p:nvSpPr>
        <p:spPr>
          <a:xfrm>
            <a:off x="393700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7443C5-7A95-4ADA-95D7-D0E469E001C7}"/>
              </a:ext>
            </a:extLst>
          </p:cNvPr>
          <p:cNvSpPr>
            <a:spLocks noGrp="1"/>
          </p:cNvSpPr>
          <p:nvPr/>
        </p:nvSpPr>
        <p:spPr>
          <a:xfrm>
            <a:off x="408940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F75B2D-12AE-49F0-A951-2D99F1475777}"/>
              </a:ext>
            </a:extLst>
          </p:cNvPr>
          <p:cNvSpPr>
            <a:spLocks noGrp="1"/>
          </p:cNvSpPr>
          <p:nvPr/>
        </p:nvSpPr>
        <p:spPr>
          <a:xfrm>
            <a:off x="414655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즉시 등장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DE8324-83F2-4E82-B0CE-12A8635E67D7}"/>
              </a:ext>
            </a:extLst>
          </p:cNvPr>
          <p:cNvSpPr>
            <a:spLocks noGrp="1"/>
          </p:cNvSpPr>
          <p:nvPr/>
        </p:nvSpPr>
        <p:spPr>
          <a:xfrm>
            <a:off x="583882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01156F-DC9C-4385-8837-2592C1078475}"/>
              </a:ext>
            </a:extLst>
          </p:cNvPr>
          <p:cNvSpPr>
            <a:spLocks noGrp="1"/>
          </p:cNvSpPr>
          <p:nvPr/>
        </p:nvSpPr>
        <p:spPr>
          <a:xfrm>
            <a:off x="599122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F5F992-DA30-438E-ABAD-545308FA636D}"/>
              </a:ext>
            </a:extLst>
          </p:cNvPr>
          <p:cNvSpPr>
            <a:spLocks noGrp="1"/>
          </p:cNvSpPr>
          <p:nvPr/>
        </p:nvSpPr>
        <p:spPr>
          <a:xfrm>
            <a:off x="604837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반복 타격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9FDE6C-9FBF-46FD-93C7-8CE0F0F9C040}"/>
              </a:ext>
            </a:extLst>
          </p:cNvPr>
          <p:cNvSpPr>
            <a:spLocks noGrp="1"/>
          </p:cNvSpPr>
          <p:nvPr/>
        </p:nvSpPr>
        <p:spPr>
          <a:xfrm>
            <a:off x="774065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CEE9E1-6C7A-4B0F-8E11-AFB4DAC8E97E}"/>
              </a:ext>
            </a:extLst>
          </p:cNvPr>
          <p:cNvSpPr>
            <a:spLocks noGrp="1"/>
          </p:cNvSpPr>
          <p:nvPr/>
        </p:nvSpPr>
        <p:spPr>
          <a:xfrm>
            <a:off x="78930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26902F-FB9E-48EA-AE20-17A15F85A158}"/>
              </a:ext>
            </a:extLst>
          </p:cNvPr>
          <p:cNvSpPr>
            <a:spLocks noGrp="1"/>
          </p:cNvSpPr>
          <p:nvPr/>
        </p:nvSpPr>
        <p:spPr>
          <a:xfrm>
            <a:off x="79502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 발생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EDC1EA-6646-457C-AAA3-3E30DCB46437}"/>
              </a:ext>
            </a:extLst>
          </p:cNvPr>
          <p:cNvSpPr>
            <a:spLocks noGrp="1"/>
          </p:cNvSpPr>
          <p:nvPr/>
        </p:nvSpPr>
        <p:spPr>
          <a:xfrm>
            <a:off x="96424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6C11B6-62F7-498D-8420-5498F4796156}"/>
              </a:ext>
            </a:extLst>
          </p:cNvPr>
          <p:cNvSpPr>
            <a:spLocks noGrp="1"/>
          </p:cNvSpPr>
          <p:nvPr/>
        </p:nvSpPr>
        <p:spPr>
          <a:xfrm>
            <a:off x="97948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9E267A-0C86-4FA5-90DE-C5905759B872}"/>
              </a:ext>
            </a:extLst>
          </p:cNvPr>
          <p:cNvSpPr>
            <a:spLocks noGrp="1"/>
          </p:cNvSpPr>
          <p:nvPr/>
        </p:nvSpPr>
        <p:spPr>
          <a:xfrm>
            <a:off x="98520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D73233-8CE2-480A-8E6B-974EFF3327BC}"/>
              </a:ext>
            </a:extLst>
          </p:cNvPr>
          <p:cNvSpPr>
            <a:spLocks noGrp="1"/>
          </p:cNvSpPr>
          <p:nvPr/>
        </p:nvSpPr>
        <p:spPr>
          <a:xfrm>
            <a:off x="190500" y="2190750"/>
            <a:ext cx="1381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7A7E56-F002-4CED-9BC4-83B0AE17E20F}"/>
              </a:ext>
            </a:extLst>
          </p:cNvPr>
          <p:cNvSpPr>
            <a:spLocks noGrp="1"/>
          </p:cNvSpPr>
          <p:nvPr/>
        </p:nvSpPr>
        <p:spPr>
          <a:xfrm>
            <a:off x="247650" y="22288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96DB22-6BCB-4449-9EDA-5F415ADEAF96}"/>
              </a:ext>
            </a:extLst>
          </p:cNvPr>
          <p:cNvSpPr>
            <a:spLocks noGrp="1"/>
          </p:cNvSpPr>
          <p:nvPr/>
        </p:nvSpPr>
        <p:spPr>
          <a:xfrm>
            <a:off x="1571625" y="2190750"/>
            <a:ext cx="2905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F971A-5FB1-4D1C-836C-CE736521D121}"/>
              </a:ext>
            </a:extLst>
          </p:cNvPr>
          <p:cNvSpPr>
            <a:spLocks noGrp="1"/>
          </p:cNvSpPr>
          <p:nvPr/>
        </p:nvSpPr>
        <p:spPr>
          <a:xfrm>
            <a:off x="1628775" y="22288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E64D4C-5652-4322-B400-EDA947D05FEE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8576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91A010-9E5D-4DB3-98F4-C9A688A10149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10968D-52EB-410C-98A3-C976C489BEA3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BE8C83-D568-40E3-9CD7-BAD602FC0D9C}"/>
              </a:ext>
            </a:extLst>
          </p:cNvPr>
          <p:cNvSpPr>
            <a:spLocks noGrp="1"/>
          </p:cNvSpPr>
          <p:nvPr/>
        </p:nvSpPr>
        <p:spPr>
          <a:xfrm>
            <a:off x="8391525" y="2228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02DF9D-32AA-45A1-A55F-BC18D655DB32}"/>
              </a:ext>
            </a:extLst>
          </p:cNvPr>
          <p:cNvSpPr>
            <a:spLocks noGrp="1"/>
          </p:cNvSpPr>
          <p:nvPr/>
        </p:nvSpPr>
        <p:spPr>
          <a:xfrm>
            <a:off x="190500" y="27432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4DF641-D978-4AB2-955A-711F2439D786}"/>
              </a:ext>
            </a:extLst>
          </p:cNvPr>
          <p:cNvSpPr>
            <a:spLocks noGrp="1"/>
          </p:cNvSpPr>
          <p:nvPr/>
        </p:nvSpPr>
        <p:spPr>
          <a:xfrm>
            <a:off x="247650" y="27813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0590B5-D304-402D-9C9C-85B79A56B69B}"/>
              </a:ext>
            </a:extLst>
          </p:cNvPr>
          <p:cNvSpPr>
            <a:spLocks noGrp="1"/>
          </p:cNvSpPr>
          <p:nvPr/>
        </p:nvSpPr>
        <p:spPr>
          <a:xfrm>
            <a:off x="1571625" y="27432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BAACF6-2DB3-45F1-A01D-200D9202BD98}"/>
              </a:ext>
            </a:extLst>
          </p:cNvPr>
          <p:cNvSpPr>
            <a:spLocks noGrp="1"/>
          </p:cNvSpPr>
          <p:nvPr/>
        </p:nvSpPr>
        <p:spPr>
          <a:xfrm>
            <a:off x="1628775" y="27813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몸통에 곡괭이 접촉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8B104D-237A-4D1F-AF36-C9814D032E6F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C2E91A-3EDF-4EEB-A155-28F0C5163DD3}"/>
              </a:ext>
            </a:extLst>
          </p:cNvPr>
          <p:cNvSpPr>
            <a:spLocks noGrp="1"/>
          </p:cNvSpPr>
          <p:nvPr/>
        </p:nvSpPr>
        <p:spPr>
          <a:xfrm>
            <a:off x="4533900" y="27813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 스케일 연출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3B0912-8BEC-482C-B065-05DCEB5DD58C}"/>
              </a:ext>
            </a:extLst>
          </p:cNvPr>
          <p:cNvSpPr>
            <a:spLocks noGrp="1"/>
          </p:cNvSpPr>
          <p:nvPr/>
        </p:nvSpPr>
        <p:spPr>
          <a:xfrm>
            <a:off x="8334375" y="27432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9CF85F-04BB-4D2A-82FB-E156D91FB32C}"/>
              </a:ext>
            </a:extLst>
          </p:cNvPr>
          <p:cNvSpPr>
            <a:spLocks noGrp="1"/>
          </p:cNvSpPr>
          <p:nvPr/>
        </p:nvSpPr>
        <p:spPr>
          <a:xfrm>
            <a:off x="8391525" y="2781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HP 감소 / 약점 노출 카운트 증가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FA18D0-5F56-47A2-A9B4-3250F90A7491}"/>
              </a:ext>
            </a:extLst>
          </p:cNvPr>
          <p:cNvSpPr>
            <a:spLocks noGrp="1"/>
          </p:cNvSpPr>
          <p:nvPr/>
        </p:nvSpPr>
        <p:spPr>
          <a:xfrm>
            <a:off x="190500" y="32956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FED0F1-9A27-4BEB-A355-6EDC8DFD6D63}"/>
              </a:ext>
            </a:extLst>
          </p:cNvPr>
          <p:cNvSpPr>
            <a:spLocks noGrp="1"/>
          </p:cNvSpPr>
          <p:nvPr/>
        </p:nvSpPr>
        <p:spPr>
          <a:xfrm>
            <a:off x="247650" y="33337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1BDB8C-CFDB-4C71-AAA9-86ED8C8242FD}"/>
              </a:ext>
            </a:extLst>
          </p:cNvPr>
          <p:cNvSpPr>
            <a:spLocks noGrp="1"/>
          </p:cNvSpPr>
          <p:nvPr/>
        </p:nvSpPr>
        <p:spPr>
          <a:xfrm>
            <a:off x="1571625" y="32956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E23E81-1E4F-4F25-B601-EC739A672F16}"/>
              </a:ext>
            </a:extLst>
          </p:cNvPr>
          <p:cNvSpPr>
            <a:spLocks noGrp="1"/>
          </p:cNvSpPr>
          <p:nvPr/>
        </p:nvSpPr>
        <p:spPr>
          <a:xfrm>
            <a:off x="1628775" y="33337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노출 조건 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8EA5EBB-BFBB-4FCB-8B4B-DDC68FB9D4D5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5F171C9-633F-437F-B8D5-8BF21F856D56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근처에 X 마크 즉시 등장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51FF9B-AA73-471B-A017-7B6B953EFA41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5982075-E687-45AD-8F9E-A82ED54F6C21}"/>
              </a:ext>
            </a:extLst>
          </p:cNvPr>
          <p:cNvSpPr>
            <a:spLocks noGrp="1"/>
          </p:cNvSpPr>
          <p:nvPr/>
        </p:nvSpPr>
        <p:spPr>
          <a:xfrm>
            <a:off x="8391525" y="3333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5F6469-F5E0-4029-BA9F-C0356170F315}"/>
              </a:ext>
            </a:extLst>
          </p:cNvPr>
          <p:cNvSpPr>
            <a:spLocks noGrp="1"/>
          </p:cNvSpPr>
          <p:nvPr/>
        </p:nvSpPr>
        <p:spPr>
          <a:xfrm>
            <a:off x="190500" y="38481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E71F9D-9B60-471B-BFB2-AF5FF79E21E0}"/>
              </a:ext>
            </a:extLst>
          </p:cNvPr>
          <p:cNvSpPr>
            <a:spLocks noGrp="1"/>
          </p:cNvSpPr>
          <p:nvPr/>
        </p:nvSpPr>
        <p:spPr>
          <a:xfrm>
            <a:off x="247650" y="38862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1E17D39-2A9F-4557-92C9-B3529A90F975}"/>
              </a:ext>
            </a:extLst>
          </p:cNvPr>
          <p:cNvSpPr>
            <a:spLocks noGrp="1"/>
          </p:cNvSpPr>
          <p:nvPr/>
        </p:nvSpPr>
        <p:spPr>
          <a:xfrm>
            <a:off x="1571625" y="38481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00D09D9-D6AC-4766-895C-8EA02481F423}"/>
              </a:ext>
            </a:extLst>
          </p:cNvPr>
          <p:cNvSpPr>
            <a:spLocks noGrp="1"/>
          </p:cNvSpPr>
          <p:nvPr/>
        </p:nvSpPr>
        <p:spPr>
          <a:xfrm>
            <a:off x="1628775" y="38862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D31D039-EB5A-4CE4-ACDA-4616F4B0FC12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86C1D21-5978-48E5-AF22-65759A558DB1}"/>
              </a:ext>
            </a:extLst>
          </p:cNvPr>
          <p:cNvSpPr>
            <a:spLocks noGrp="1"/>
          </p:cNvSpPr>
          <p:nvPr/>
        </p:nvSpPr>
        <p:spPr>
          <a:xfrm>
            <a:off x="4533900" y="38862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 피격 연출 / 크기 증가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88B4AC-134D-4846-9A10-53C3FAF654E2}"/>
              </a:ext>
            </a:extLst>
          </p:cNvPr>
          <p:cNvSpPr>
            <a:spLocks noGrp="1"/>
          </p:cNvSpPr>
          <p:nvPr/>
        </p:nvSpPr>
        <p:spPr>
          <a:xfrm>
            <a:off x="8334375" y="38481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E59ECD2-7E67-4585-BE68-843565D8658C}"/>
              </a:ext>
            </a:extLst>
          </p:cNvPr>
          <p:cNvSpPr>
            <a:spLocks noGrp="1"/>
          </p:cNvSpPr>
          <p:nvPr/>
        </p:nvSpPr>
        <p:spPr>
          <a:xfrm>
            <a:off x="8391525" y="38862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게이지 증가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4805D7B-CC00-4524-979B-D2ECD7E108E4}"/>
              </a:ext>
            </a:extLst>
          </p:cNvPr>
          <p:cNvSpPr>
            <a:spLocks noGrp="1"/>
          </p:cNvSpPr>
          <p:nvPr/>
        </p:nvSpPr>
        <p:spPr>
          <a:xfrm>
            <a:off x="190500" y="44005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CCB2432-64B3-4A09-9551-D8FA7965DD9F}"/>
              </a:ext>
            </a:extLst>
          </p:cNvPr>
          <p:cNvSpPr>
            <a:spLocks noGrp="1"/>
          </p:cNvSpPr>
          <p:nvPr/>
        </p:nvSpPr>
        <p:spPr>
          <a:xfrm>
            <a:off x="247650" y="44386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20958E-F9D7-47EA-8931-69E3327A9E34}"/>
              </a:ext>
            </a:extLst>
          </p:cNvPr>
          <p:cNvSpPr>
            <a:spLocks noGrp="1"/>
          </p:cNvSpPr>
          <p:nvPr/>
        </p:nvSpPr>
        <p:spPr>
          <a:xfrm>
            <a:off x="1571625" y="44005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1BF4355-6EE6-4D93-8EAB-DEF44FA7B446}"/>
              </a:ext>
            </a:extLst>
          </p:cNvPr>
          <p:cNvSpPr>
            <a:spLocks noGrp="1"/>
          </p:cNvSpPr>
          <p:nvPr/>
        </p:nvSpPr>
        <p:spPr>
          <a:xfrm>
            <a:off x="1628775" y="44386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상태 100%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057F37B-CB34-4E98-AD5D-B04452BC7AA0}"/>
              </a:ext>
            </a:extLst>
          </p:cNvPr>
          <p:cNvSpPr>
            <a:spLocks noGrp="1"/>
          </p:cNvSpPr>
          <p:nvPr/>
        </p:nvSpPr>
        <p:spPr>
          <a:xfrm>
            <a:off x="4476750" y="44005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B122430-E230-4C48-8FA1-508C33C2B846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외곽 라인 색상 변경 및</a:t>
            </a:r>
          </a:p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>
                <a:solidFill>
                  <a:srgbClr val="202020"/>
                </a:solidFill>
              </a:rPr>
              <a:t>외곽 라인이 줄어듬으로써 남은 시간 안내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48165A-35F9-4CA4-A153-9F4293D7CB20}"/>
              </a:ext>
            </a:extLst>
          </p:cNvPr>
          <p:cNvSpPr>
            <a:spLocks noGrp="1"/>
          </p:cNvSpPr>
          <p:nvPr/>
        </p:nvSpPr>
        <p:spPr>
          <a:xfrm>
            <a:off x="8334375" y="44005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9EEC09-B43E-4FED-8648-4461C705DAD4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일정 시간 피해 배율 적용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CACA97B-C407-4B44-AE96-25F8217BCDC0}"/>
              </a:ext>
            </a:extLst>
          </p:cNvPr>
          <p:cNvSpPr>
            <a:spLocks noGrp="1"/>
          </p:cNvSpPr>
          <p:nvPr/>
        </p:nvSpPr>
        <p:spPr>
          <a:xfrm>
            <a:off x="190500" y="49530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65C12DF-9D5D-4538-8B6D-2FEED2995EE5}"/>
              </a:ext>
            </a:extLst>
          </p:cNvPr>
          <p:cNvSpPr>
            <a:spLocks noGrp="1"/>
          </p:cNvSpPr>
          <p:nvPr/>
        </p:nvSpPr>
        <p:spPr>
          <a:xfrm>
            <a:off x="247650" y="49911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복귀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C48EDC-E17E-4EAF-B2D5-8CB8A938244D}"/>
              </a:ext>
            </a:extLst>
          </p:cNvPr>
          <p:cNvSpPr>
            <a:spLocks noGrp="1"/>
          </p:cNvSpPr>
          <p:nvPr/>
        </p:nvSpPr>
        <p:spPr>
          <a:xfrm>
            <a:off x="1571625" y="49530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5CBDFF4-5021-448F-A81F-C72809F74BB6}"/>
              </a:ext>
            </a:extLst>
          </p:cNvPr>
          <p:cNvSpPr>
            <a:spLocks noGrp="1"/>
          </p:cNvSpPr>
          <p:nvPr/>
        </p:nvSpPr>
        <p:spPr>
          <a:xfrm>
            <a:off x="1628775" y="49911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E42DAD6-CFDB-40EF-9C95-DF9B6015F8CC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8D701DF-E837-4DC3-AF6B-E6A3687E2CCC}"/>
              </a:ext>
            </a:extLst>
          </p:cNvPr>
          <p:cNvSpPr>
            <a:spLocks noGrp="1"/>
          </p:cNvSpPr>
          <p:nvPr/>
        </p:nvSpPr>
        <p:spPr>
          <a:xfrm>
            <a:off x="4533900" y="49911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숨김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733BEFF-A3E7-48F1-8B64-9156174A7EF1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F5C2DC-E0C7-4C8E-95DD-33BFB7000A95}"/>
              </a:ext>
            </a:extLst>
          </p:cNvPr>
          <p:cNvSpPr>
            <a:spLocks noGrp="1"/>
          </p:cNvSpPr>
          <p:nvPr/>
        </p:nvSpPr>
        <p:spPr>
          <a:xfrm>
            <a:off x="8391525" y="49911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100473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DB901A-44A9-4377-AB08-A33550AEA7E9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6. 약점 규칙 / 설정값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313B0B-0E7F-4152-883C-2F5202B8A457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DEBBEB-7FA2-4C75-A13C-9F068915BFF1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19075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9E9A6-3496-410B-9290-BC5D742AC364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FB4E73-1918-48C3-AABE-BDC884F060ED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2476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5E897E-8F98-4049-8AE2-4D10E5662547}"/>
              </a:ext>
            </a:extLst>
          </p:cNvPr>
          <p:cNvSpPr>
            <a:spLocks noGrp="1"/>
          </p:cNvSpPr>
          <p:nvPr/>
        </p:nvSpPr>
        <p:spPr>
          <a:xfrm>
            <a:off x="2438400" y="9525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7E5F42-35DA-4C65-BD99-00D0FC44C395}"/>
              </a:ext>
            </a:extLst>
          </p:cNvPr>
          <p:cNvSpPr>
            <a:spLocks noGrp="1"/>
          </p:cNvSpPr>
          <p:nvPr/>
        </p:nvSpPr>
        <p:spPr>
          <a:xfrm>
            <a:off x="4857750" y="914400"/>
            <a:ext cx="6858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5A595E-F369-472C-A3BA-B57E5A6CB6A8}"/>
              </a:ext>
            </a:extLst>
          </p:cNvPr>
          <p:cNvSpPr>
            <a:spLocks noGrp="1"/>
          </p:cNvSpPr>
          <p:nvPr/>
        </p:nvSpPr>
        <p:spPr>
          <a:xfrm>
            <a:off x="4914900" y="9525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6FC699-3389-43E2-8529-EC5A0CEA3AB9}"/>
              </a:ext>
            </a:extLst>
          </p:cNvPr>
          <p:cNvSpPr>
            <a:spLocks noGrp="1"/>
          </p:cNvSpPr>
          <p:nvPr/>
        </p:nvSpPr>
        <p:spPr>
          <a:xfrm>
            <a:off x="190500" y="14287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41DEB6-E59E-45AC-8DA4-BF82D013227C}"/>
              </a:ext>
            </a:extLst>
          </p:cNvPr>
          <p:cNvSpPr>
            <a:spLocks noGrp="1"/>
          </p:cNvSpPr>
          <p:nvPr/>
        </p:nvSpPr>
        <p:spPr>
          <a:xfrm>
            <a:off x="247650" y="14668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A7913E-E2E3-4CF2-82C2-2C5085CBADC8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FB45F5-209B-4400-A2E2-9BF3D935A080}"/>
              </a:ext>
            </a:extLst>
          </p:cNvPr>
          <p:cNvSpPr>
            <a:spLocks noGrp="1"/>
          </p:cNvSpPr>
          <p:nvPr/>
        </p:nvSpPr>
        <p:spPr>
          <a:xfrm>
            <a:off x="2438400" y="14668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몸통 타격 120회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D2F571-EA65-40CE-9174-131B6786EABF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C5C743-86BA-49C8-A7BF-C8DA32EE0011}"/>
              </a:ext>
            </a:extLst>
          </p:cNvPr>
          <p:cNvSpPr>
            <a:spLocks noGrp="1"/>
          </p:cNvSpPr>
          <p:nvPr/>
        </p:nvSpPr>
        <p:spPr>
          <a:xfrm>
            <a:off x="4914900" y="14668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 2초 내외. 프레임이 아니라 실제 타격 횟수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D4DAF4-EAD3-448C-AC7F-C95F1BB3B392}"/>
              </a:ext>
            </a:extLst>
          </p:cNvPr>
          <p:cNvSpPr>
            <a:spLocks noGrp="1"/>
          </p:cNvSpPr>
          <p:nvPr/>
        </p:nvSpPr>
        <p:spPr>
          <a:xfrm>
            <a:off x="190500" y="19431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9C0608-0A47-4C9D-9197-22228FDC78A8}"/>
              </a:ext>
            </a:extLst>
          </p:cNvPr>
          <p:cNvSpPr>
            <a:spLocks noGrp="1"/>
          </p:cNvSpPr>
          <p:nvPr/>
        </p:nvSpPr>
        <p:spPr>
          <a:xfrm>
            <a:off x="247650" y="19812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6C64EC-FFF0-4869-930D-0161B1A6A62F}"/>
              </a:ext>
            </a:extLst>
          </p:cNvPr>
          <p:cNvSpPr>
            <a:spLocks noGrp="1"/>
          </p:cNvSpPr>
          <p:nvPr/>
        </p:nvSpPr>
        <p:spPr>
          <a:xfrm>
            <a:off x="2381250" y="19431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E05E58-6A7A-4484-8B39-6EE986100155}"/>
              </a:ext>
            </a:extLst>
          </p:cNvPr>
          <p:cNvSpPr>
            <a:spLocks noGrp="1"/>
          </p:cNvSpPr>
          <p:nvPr/>
        </p:nvSpPr>
        <p:spPr>
          <a:xfrm>
            <a:off x="2438400" y="19812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17px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E4278D-61E7-4F23-B627-8600B9D5BE72}"/>
              </a:ext>
            </a:extLst>
          </p:cNvPr>
          <p:cNvSpPr>
            <a:spLocks noGrp="1"/>
          </p:cNvSpPr>
          <p:nvPr/>
        </p:nvSpPr>
        <p:spPr>
          <a:xfrm>
            <a:off x="4857750" y="19431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65CF77-E714-45B1-A042-9FAE363B1A94}"/>
              </a:ext>
            </a:extLst>
          </p:cNvPr>
          <p:cNvSpPr>
            <a:spLocks noGrp="1"/>
          </p:cNvSpPr>
          <p:nvPr/>
        </p:nvSpPr>
        <p:spPr>
          <a:xfrm>
            <a:off x="4914900" y="19812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0928EB-D05F-4E58-A88B-14F18647814B}"/>
              </a:ext>
            </a:extLst>
          </p:cNvPr>
          <p:cNvSpPr>
            <a:spLocks noGrp="1"/>
          </p:cNvSpPr>
          <p:nvPr/>
        </p:nvSpPr>
        <p:spPr>
          <a:xfrm>
            <a:off x="190500" y="24574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9BB55-0C0B-4A43-9267-C2059E981EAE}"/>
              </a:ext>
            </a:extLst>
          </p:cNvPr>
          <p:cNvSpPr>
            <a:spLocks noGrp="1"/>
          </p:cNvSpPr>
          <p:nvPr/>
        </p:nvSpPr>
        <p:spPr>
          <a:xfrm>
            <a:off x="247650" y="24955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진행 증가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96907F-9679-4EBE-A2F7-A3002ADB820E}"/>
              </a:ext>
            </a:extLst>
          </p:cNvPr>
          <p:cNvSpPr>
            <a:spLocks noGrp="1"/>
          </p:cNvSpPr>
          <p:nvPr/>
        </p:nvSpPr>
        <p:spPr>
          <a:xfrm>
            <a:off x="2381250" y="24574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0FAD49B-809D-4995-8721-15AC42971B97}"/>
              </a:ext>
            </a:extLst>
          </p:cNvPr>
          <p:cNvSpPr>
            <a:spLocks noGrp="1"/>
          </p:cNvSpPr>
          <p:nvPr/>
        </p:nvSpPr>
        <p:spPr>
          <a:xfrm>
            <a:off x="2438400" y="24955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1타당 +1.25%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D4E4BC-D3D2-4289-816D-772CC9DA1A2A}"/>
              </a:ext>
            </a:extLst>
          </p:cNvPr>
          <p:cNvSpPr>
            <a:spLocks noGrp="1"/>
          </p:cNvSpPr>
          <p:nvPr/>
        </p:nvSpPr>
        <p:spPr>
          <a:xfrm>
            <a:off x="4857750" y="24574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57A93B-15A9-4A25-A7A5-C35DFED585B2}"/>
              </a:ext>
            </a:extLst>
          </p:cNvPr>
          <p:cNvSpPr>
            <a:spLocks noGrp="1"/>
          </p:cNvSpPr>
          <p:nvPr/>
        </p:nvSpPr>
        <p:spPr>
          <a:xfrm>
            <a:off x="4914900" y="24955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80회 약점 타격 시 브레이크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E59BDB-5BCC-4FB6-8D1F-A696400098B9}"/>
              </a:ext>
            </a:extLst>
          </p:cNvPr>
          <p:cNvSpPr>
            <a:spLocks noGrp="1"/>
          </p:cNvSpPr>
          <p:nvPr/>
        </p:nvSpPr>
        <p:spPr>
          <a:xfrm>
            <a:off x="190500" y="29718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3B7136-A0DA-488F-946F-D88B40E66EE0}"/>
              </a:ext>
            </a:extLst>
          </p:cNvPr>
          <p:cNvSpPr>
            <a:spLocks noGrp="1"/>
          </p:cNvSpPr>
          <p:nvPr/>
        </p:nvSpPr>
        <p:spPr>
          <a:xfrm>
            <a:off x="247650" y="30099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31C6DF-EA37-4988-873C-5E1B0C33FF52}"/>
              </a:ext>
            </a:extLst>
          </p:cNvPr>
          <p:cNvSpPr>
            <a:spLocks noGrp="1"/>
          </p:cNvSpPr>
          <p:nvPr/>
        </p:nvSpPr>
        <p:spPr>
          <a:xfrm>
            <a:off x="2381250" y="29718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48DE2D-06A7-4A3F-86C6-A248BE5140EC}"/>
              </a:ext>
            </a:extLst>
          </p:cNvPr>
          <p:cNvSpPr>
            <a:spLocks noGrp="1"/>
          </p:cNvSpPr>
          <p:nvPr/>
        </p:nvSpPr>
        <p:spPr>
          <a:xfrm>
            <a:off x="2438400" y="30099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0CCCA9A-D763-4D84-9E0D-62EC512AB211}"/>
              </a:ext>
            </a:extLst>
          </p:cNvPr>
          <p:cNvSpPr>
            <a:spLocks noGrp="1"/>
          </p:cNvSpPr>
          <p:nvPr/>
        </p:nvSpPr>
        <p:spPr>
          <a:xfrm>
            <a:off x="4857750" y="29718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C58FA7-1595-4991-B469-01C0A370C820}"/>
              </a:ext>
            </a:extLst>
          </p:cNvPr>
          <p:cNvSpPr>
            <a:spLocks noGrp="1"/>
          </p:cNvSpPr>
          <p:nvPr/>
        </p:nvSpPr>
        <p:spPr>
          <a:xfrm>
            <a:off x="4914900" y="30099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같은 위치 고정 피로도를 줄이기 위한 이동 주기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8E6FC0-C506-4290-B19F-0762BA3B7ABF}"/>
              </a:ext>
            </a:extLst>
          </p:cNvPr>
          <p:cNvSpPr>
            <a:spLocks noGrp="1"/>
          </p:cNvSpPr>
          <p:nvPr/>
        </p:nvSpPr>
        <p:spPr>
          <a:xfrm>
            <a:off x="190500" y="34861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90609B-C130-48F3-B1F2-1C2FED3E2023}"/>
              </a:ext>
            </a:extLst>
          </p:cNvPr>
          <p:cNvSpPr>
            <a:spLocks noGrp="1"/>
          </p:cNvSpPr>
          <p:nvPr/>
        </p:nvSpPr>
        <p:spPr>
          <a:xfrm>
            <a:off x="247650" y="35242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295AA-FE75-4BB7-A91C-891DCECDE967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ECAB35-5E54-4773-BED6-D93016D879E9}"/>
              </a:ext>
            </a:extLst>
          </p:cNvPr>
          <p:cNvSpPr>
            <a:spLocks noGrp="1"/>
          </p:cNvSpPr>
          <p:nvPr/>
        </p:nvSpPr>
        <p:spPr>
          <a:xfrm>
            <a:off x="2438400" y="35242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비노출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88E0A9F-D981-4DC0-9E42-48C60B7A0D61}"/>
              </a:ext>
            </a:extLst>
          </p:cNvPr>
          <p:cNvSpPr>
            <a:spLocks noGrp="1"/>
          </p:cNvSpPr>
          <p:nvPr/>
        </p:nvSpPr>
        <p:spPr>
          <a:xfrm>
            <a:off x="4857750" y="34861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2E1E19-BDD6-4643-A656-C578C8023E79}"/>
              </a:ext>
            </a:extLst>
          </p:cNvPr>
          <p:cNvSpPr>
            <a:spLocks noGrp="1"/>
          </p:cNvSpPr>
          <p:nvPr/>
        </p:nvSpPr>
        <p:spPr>
          <a:xfrm>
            <a:off x="4914900" y="35242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약점은 브레이크 시동기이므로 브레이크 중에는 숨김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22DFEF-7A37-4316-A5C7-045ED792FFB7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177067-1E8A-479E-AEDD-630AFA5D95BC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7672BDF-33F2-40FB-A4F1-1D63721A558E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플레이어가 타격한 방향 주변에 생성하되, 정확히 같은 위치에는 생성하지 않는다.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EE58EFC-E3A3-43C0-927E-1698CA933279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캐릭터가 접근 불가능한 중심부나 광물 안쪽 깊은 위치에는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77359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BD9336-80F3-469F-980A-4AE50B52989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8. UI / UX 상태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A4DB9-69A1-4AA3-82ED-2634EAADE1F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76275B-1CED-4F66-B124-E2AC04A96139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5619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2569AB-5A3D-43D7-AADD-F96551A83352}"/>
              </a:ext>
            </a:extLst>
          </p:cNvPr>
          <p:cNvSpPr>
            <a:spLocks noGrp="1"/>
          </p:cNvSpPr>
          <p:nvPr/>
        </p:nvSpPr>
        <p:spPr>
          <a:xfrm>
            <a:off x="247650" y="2219325"/>
            <a:ext cx="550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buNone/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게임 화면 캡처 교체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46653B-FCAC-4D85-970B-C77878CF7542}"/>
              </a:ext>
            </a:extLst>
          </p:cNvPr>
          <p:cNvSpPr>
            <a:spLocks noGrp="1"/>
          </p:cNvSpPr>
          <p:nvPr/>
        </p:nvSpPr>
        <p:spPr>
          <a:xfrm>
            <a:off x="6191250" y="914400"/>
            <a:ext cx="6667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D4A17E-E642-4FEF-B7F7-69A506F36F08}"/>
              </a:ext>
            </a:extLst>
          </p:cNvPr>
          <p:cNvSpPr>
            <a:spLocks noGrp="1"/>
          </p:cNvSpPr>
          <p:nvPr/>
        </p:nvSpPr>
        <p:spPr>
          <a:xfrm>
            <a:off x="6248400" y="952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BA629C-4CA5-4681-BDB1-61207A2BE3D6}"/>
              </a:ext>
            </a:extLst>
          </p:cNvPr>
          <p:cNvSpPr>
            <a:spLocks noGrp="1"/>
          </p:cNvSpPr>
          <p:nvPr/>
        </p:nvSpPr>
        <p:spPr>
          <a:xfrm>
            <a:off x="6858000" y="914400"/>
            <a:ext cx="1619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2DC6E9-B9A8-40DF-99CD-BBF0648DBED9}"/>
              </a:ext>
            </a:extLst>
          </p:cNvPr>
          <p:cNvSpPr>
            <a:spLocks noGrp="1"/>
          </p:cNvSpPr>
          <p:nvPr/>
        </p:nvSpPr>
        <p:spPr>
          <a:xfrm>
            <a:off x="6915150" y="952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E9B644-923B-4CFD-B0B9-FBD9964185B9}"/>
              </a:ext>
            </a:extLst>
          </p:cNvPr>
          <p:cNvSpPr>
            <a:spLocks noGrp="1"/>
          </p:cNvSpPr>
          <p:nvPr/>
        </p:nvSpPr>
        <p:spPr>
          <a:xfrm>
            <a:off x="8477250" y="914400"/>
            <a:ext cx="3429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3DF6EB-A688-4907-B389-B04EBE33409A}"/>
              </a:ext>
            </a:extLst>
          </p:cNvPr>
          <p:cNvSpPr>
            <a:spLocks noGrp="1"/>
          </p:cNvSpPr>
          <p:nvPr/>
        </p:nvSpPr>
        <p:spPr>
          <a:xfrm>
            <a:off x="8534400" y="952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039B5E-DF4D-46C0-A04C-3C175F5841CC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CB9A9-82DC-4EC7-9233-1E8B9AEEEADB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5AD2F2-18AC-42E3-B3B8-0ACEA24AD39B}"/>
              </a:ext>
            </a:extLst>
          </p:cNvPr>
          <p:cNvSpPr>
            <a:spLocks noGrp="1"/>
          </p:cNvSpPr>
          <p:nvPr/>
        </p:nvSpPr>
        <p:spPr>
          <a:xfrm>
            <a:off x="6858000" y="13716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3CAF48-873E-41E5-A627-120140D20C7C}"/>
              </a:ext>
            </a:extLst>
          </p:cNvPr>
          <p:cNvSpPr>
            <a:spLocks noGrp="1"/>
          </p:cNvSpPr>
          <p:nvPr/>
        </p:nvSpPr>
        <p:spPr>
          <a:xfrm>
            <a:off x="6915150" y="14097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AF2B53-6483-4821-9914-CD7195D42F15}"/>
              </a:ext>
            </a:extLst>
          </p:cNvPr>
          <p:cNvSpPr>
            <a:spLocks noGrp="1"/>
          </p:cNvSpPr>
          <p:nvPr/>
        </p:nvSpPr>
        <p:spPr>
          <a:xfrm>
            <a:off x="8477250" y="13716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FB75E4-E6FC-4FFA-8228-37C09F727F99}"/>
              </a:ext>
            </a:extLst>
          </p:cNvPr>
          <p:cNvSpPr>
            <a:spLocks noGrp="1"/>
          </p:cNvSpPr>
          <p:nvPr/>
        </p:nvSpPr>
        <p:spPr>
          <a:xfrm>
            <a:off x="8534400" y="14097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 텍스트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67C779-A625-4990-8270-6DDC5E979AE2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A261FF-1066-4943-9EAD-827EE04E7DB3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696AAF-B671-4140-8EE1-0C289C212C4E}"/>
              </a:ext>
            </a:extLst>
          </p:cNvPr>
          <p:cNvSpPr>
            <a:spLocks noGrp="1"/>
          </p:cNvSpPr>
          <p:nvPr/>
        </p:nvSpPr>
        <p:spPr>
          <a:xfrm>
            <a:off x="6858000" y="18288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4112E9-AD19-49E3-A0DE-A82D1C995F53}"/>
              </a:ext>
            </a:extLst>
          </p:cNvPr>
          <p:cNvSpPr>
            <a:spLocks noGrp="1"/>
          </p:cNvSpPr>
          <p:nvPr/>
        </p:nvSpPr>
        <p:spPr>
          <a:xfrm>
            <a:off x="6915150" y="18669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DF5593-AC9D-4698-A154-D9AD0E9DBDA3}"/>
              </a:ext>
            </a:extLst>
          </p:cNvPr>
          <p:cNvSpPr>
            <a:spLocks noGrp="1"/>
          </p:cNvSpPr>
          <p:nvPr/>
        </p:nvSpPr>
        <p:spPr>
          <a:xfrm>
            <a:off x="8477250" y="18288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141D3B-F60E-422B-8466-30B5066E8ABC}"/>
              </a:ext>
            </a:extLst>
          </p:cNvPr>
          <p:cNvSpPr>
            <a:spLocks noGrp="1"/>
          </p:cNvSpPr>
          <p:nvPr/>
        </p:nvSpPr>
        <p:spPr>
          <a:xfrm>
            <a:off x="8534400" y="18669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조건 충족 시 즉시 등장. 서서히 페이드인 금지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939B69-4572-4FDD-92C8-EB06B6984AA1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C2F6C0-8D87-440F-A0C1-445B8B744669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B375FC-4B1C-49EE-A15C-14B283AA1869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913540-0DB2-4E2C-9E65-F38F9C8240D1}"/>
              </a:ext>
            </a:extLst>
          </p:cNvPr>
          <p:cNvSpPr>
            <a:spLocks noGrp="1"/>
          </p:cNvSpPr>
          <p:nvPr/>
        </p:nvSpPr>
        <p:spPr>
          <a:xfrm>
            <a:off x="6915150" y="23241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외곽선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8B198B-B460-405C-8FA0-0D716E59ECAB}"/>
              </a:ext>
            </a:extLst>
          </p:cNvPr>
          <p:cNvSpPr>
            <a:spLocks noGrp="1"/>
          </p:cNvSpPr>
          <p:nvPr/>
        </p:nvSpPr>
        <p:spPr>
          <a:xfrm>
            <a:off x="8477250" y="22860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54E32F7-FF5D-4A79-A1E1-5D15200B44A8}"/>
              </a:ext>
            </a:extLst>
          </p:cNvPr>
          <p:cNvSpPr>
            <a:spLocks noGrp="1"/>
          </p:cNvSpPr>
          <p:nvPr/>
        </p:nvSpPr>
        <p:spPr>
          <a:xfrm>
            <a:off x="8534400" y="23241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외곽과 같은 형태로 확산 후 복귀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691DE1-3F6F-47BB-9DD5-9DCF2D43BF24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E2F689-BB22-4BF5-A00D-234CB23DE8A6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4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F86DEF-123A-4C20-8491-8AA607C5E11C}"/>
              </a:ext>
            </a:extLst>
          </p:cNvPr>
          <p:cNvSpPr>
            <a:spLocks noGrp="1"/>
          </p:cNvSpPr>
          <p:nvPr/>
        </p:nvSpPr>
        <p:spPr>
          <a:xfrm>
            <a:off x="6858000" y="27432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04CEFC-A437-4537-AA10-CCD568353C4F}"/>
              </a:ext>
            </a:extLst>
          </p:cNvPr>
          <p:cNvSpPr>
            <a:spLocks noGrp="1"/>
          </p:cNvSpPr>
          <p:nvPr/>
        </p:nvSpPr>
        <p:spPr>
          <a:xfrm>
            <a:off x="6915150" y="27813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53F885-E6F0-430B-B783-D49151895943}"/>
              </a:ext>
            </a:extLst>
          </p:cNvPr>
          <p:cNvSpPr>
            <a:spLocks noGrp="1"/>
          </p:cNvSpPr>
          <p:nvPr/>
        </p:nvSpPr>
        <p:spPr>
          <a:xfrm>
            <a:off x="8477250" y="27432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396D85-4F71-430C-A1AA-E064A70A67D4}"/>
              </a:ext>
            </a:extLst>
          </p:cNvPr>
          <p:cNvSpPr>
            <a:spLocks noGrp="1"/>
          </p:cNvSpPr>
          <p:nvPr/>
        </p:nvSpPr>
        <p:spPr>
          <a:xfrm>
            <a:off x="8534400" y="27813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시 즉시 반응해 명중 여부 전달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E40DB3-F902-4775-B661-973A026D7DA9}"/>
              </a:ext>
            </a:extLst>
          </p:cNvPr>
          <p:cNvSpPr>
            <a:spLocks noGrp="1"/>
          </p:cNvSpPr>
          <p:nvPr/>
        </p:nvSpPr>
        <p:spPr>
          <a:xfrm>
            <a:off x="6191250" y="32004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A855868-5470-4F8A-B650-CA105DAE8F53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5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0367CC-3FC0-4D1F-A1E4-8BF5C3FA024C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9FFA8C9-3C54-419A-A65A-0CC9CC739D15}"/>
              </a:ext>
            </a:extLst>
          </p:cNvPr>
          <p:cNvSpPr>
            <a:spLocks noGrp="1"/>
          </p:cNvSpPr>
          <p:nvPr/>
        </p:nvSpPr>
        <p:spPr>
          <a:xfrm>
            <a:off x="6915150" y="3238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 피드백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72391C1-9219-44CC-A2A5-A4FC61794BC2}"/>
              </a:ext>
            </a:extLst>
          </p:cNvPr>
          <p:cNvSpPr>
            <a:spLocks noGrp="1"/>
          </p:cNvSpPr>
          <p:nvPr/>
        </p:nvSpPr>
        <p:spPr>
          <a:xfrm>
            <a:off x="8477250" y="32004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7933880-2C44-46A8-AF3E-482A8DA9B40A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본체가 순간적으로 작아졌다 복귀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68704F5-6826-46E2-9A64-A2662C7B6625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8.1. UX 기준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33CDFD-A499-448B-A1E7-F844A2F6770A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775B43-7F99-423B-9886-AB611178252F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남은 시간은 하단 게이지가 아니라 광물 외곽선 연출로 표현한다.</a:t>
            </a:r>
          </a:p>
        </p:txBody>
      </p:sp>
    </p:spTree>
    <p:extLst>
      <p:ext uri="{BB962C8B-B14F-4D97-AF65-F5344CB8AC3E}">
        <p14:creationId xmlns:p14="http://schemas.microsoft.com/office/powerpoint/2010/main" val="81885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0B2338-7F6C-4DE5-B499-7F6FFF3097A2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9. 피드백 / 연출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BD9ED-7DA9-40A6-84A1-D2DD80870318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86F3F7-A251-427E-AEF6-4325776EB2F9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3ECF31-67A1-4B89-BCE0-D6F9C7476A1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62509E-1F2A-4B2F-A493-721B4E3E81F6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A20481-4428-4438-ACB9-925937318C39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7A24EE-6484-4C22-B672-1F7A3EAC27EA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6286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90573-E3D1-40E1-9E28-59480389D712}"/>
              </a:ext>
            </a:extLst>
          </p:cNvPr>
          <p:cNvSpPr>
            <a:spLocks noGrp="1"/>
          </p:cNvSpPr>
          <p:nvPr/>
        </p:nvSpPr>
        <p:spPr>
          <a:xfrm>
            <a:off x="5391150" y="9525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9CFEF2-3F41-49E6-B7D1-1894C8E43AC9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E41601-D039-4264-80C1-DD86F40E95E8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3FF6BE-D6E3-4EAF-A1FC-84D4F255F457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B7D984-1F03-4BA2-909E-24AEEB73A020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광물에 접촉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0F560-C242-4D23-9B4E-97329E81C83E}"/>
              </a:ext>
            </a:extLst>
          </p:cNvPr>
          <p:cNvSpPr>
            <a:spLocks noGrp="1"/>
          </p:cNvSpPr>
          <p:nvPr/>
        </p:nvSpPr>
        <p:spPr>
          <a:xfrm>
            <a:off x="5334000" y="14668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1DDE8F-D9D3-4B51-9031-9848E87D19EA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연출 사용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E52D91-FD83-45B4-AB20-6E46AA36783C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F5A051-0FC5-489D-B76C-F43F24F1105A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C65E30-B4A9-4084-8237-644A3955E3A9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98CC73-0F5B-459D-B2C0-4D3966909ACC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AA41BF9-6F05-4F22-8864-9F5B6F8B7459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5C252E-2676-4B86-9455-8B771430BBCB}"/>
              </a:ext>
            </a:extLst>
          </p:cNvPr>
          <p:cNvSpPr>
            <a:spLocks noGrp="1"/>
          </p:cNvSpPr>
          <p:nvPr/>
        </p:nvSpPr>
        <p:spPr>
          <a:xfrm>
            <a:off x="5391150" y="20574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마크가 순간적으로 반응하고 누적 크기 증가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3D7C1F-8D24-4517-83EB-3F400D9594FE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712FDF-A497-429F-9D9F-63CF8824EF42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1081C2-A756-4553-8F84-88CE4A10DAB1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A7F845-07E4-4D23-A9C5-0A50EF194B85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진행도 100%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1712E4-CF0B-4A44-BB60-AA1C0C5B5710}"/>
              </a:ext>
            </a:extLst>
          </p:cNvPr>
          <p:cNvSpPr>
            <a:spLocks noGrp="1"/>
          </p:cNvSpPr>
          <p:nvPr/>
        </p:nvSpPr>
        <p:spPr>
          <a:xfrm>
            <a:off x="5334000" y="25717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4114CD-6019-4AFA-B6D9-0367CD96E7CB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외곽선과 동일한 형태의 라인 확산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109D5E-A148-45FA-B36B-F5403321188A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2748A9-4362-4DAB-88FC-D03FA9308020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8EE654-1DC5-4B4C-AF49-43118E39892F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2F1AAF-2624-4EAD-8732-257FB5971D65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94411FD-CBB4-4A83-801A-676C8F66AB87}"/>
              </a:ext>
            </a:extLst>
          </p:cNvPr>
          <p:cNvSpPr>
            <a:spLocks noGrp="1"/>
          </p:cNvSpPr>
          <p:nvPr/>
        </p:nvSpPr>
        <p:spPr>
          <a:xfrm>
            <a:off x="5334000" y="31242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6DEA46-6203-4400-AA23-96BDB086AD25}"/>
              </a:ext>
            </a:extLst>
          </p:cNvPr>
          <p:cNvSpPr>
            <a:spLocks noGrp="1"/>
          </p:cNvSpPr>
          <p:nvPr/>
        </p:nvSpPr>
        <p:spPr>
          <a:xfrm>
            <a:off x="5391150" y="31623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확산된 외곽선이 서서히 광물 테두리로 복귀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C8B10C5-C414-44A5-A84A-8DA89A4015BF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51BD92-6CB7-4612-B12C-C1BB23D84AC2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196C5D-556C-4FAC-A7A9-F7227FA2FDF1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C07D7AA-C58B-4E9E-A283-97EF394CE5F6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884D9C9-7E8B-46E6-A56B-90E3A259E52C}"/>
              </a:ext>
            </a:extLst>
          </p:cNvPr>
          <p:cNvSpPr>
            <a:spLocks noGrp="1"/>
          </p:cNvSpPr>
          <p:nvPr/>
        </p:nvSpPr>
        <p:spPr>
          <a:xfrm>
            <a:off x="5334000" y="36766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2C7149-35D9-42BD-B112-DF12AC8C56E1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숨김 / 일반 상태 복귀</a:t>
            </a:r>
          </a:p>
        </p:txBody>
      </p:sp>
    </p:spTree>
    <p:extLst>
      <p:ext uri="{BB962C8B-B14F-4D97-AF65-F5344CB8AC3E}">
        <p14:creationId xmlns:p14="http://schemas.microsoft.com/office/powerpoint/2010/main" val="26590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21F15A-1F8E-4B8F-9AD0-1E3367E96CA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10. 데이터 키 초안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A73AE6-B378-4ADB-9582-52FAE438774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D93B44-CB3B-4A87-A4C8-4AA22FFEED7B}"/>
              </a:ext>
            </a:extLst>
          </p:cNvPr>
          <p:cNvSpPr>
            <a:spLocks noGrp="1"/>
          </p:cNvSpPr>
          <p:nvPr/>
        </p:nvSpPr>
        <p:spPr>
          <a:xfrm>
            <a:off x="190500" y="8953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9999B4-A8BD-48BD-952A-6A7A8F9431F0}"/>
              </a:ext>
            </a:extLst>
          </p:cNvPr>
          <p:cNvSpPr>
            <a:spLocks noGrp="1"/>
          </p:cNvSpPr>
          <p:nvPr/>
        </p:nvSpPr>
        <p:spPr>
          <a:xfrm>
            <a:off x="247650" y="9334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BreakMiningConfig (규칙값 매핑)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EF06A5-A8E8-445E-92A5-BD7FBF6AB0E3}"/>
              </a:ext>
            </a:extLst>
          </p:cNvPr>
          <p:cNvSpPr>
            <a:spLocks noGrp="1"/>
          </p:cNvSpPr>
          <p:nvPr/>
        </p:nvSpPr>
        <p:spPr>
          <a:xfrm>
            <a:off x="3143250" y="8953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2B50C5-BB35-4AD1-8643-9B374708B0D8}"/>
              </a:ext>
            </a:extLst>
          </p:cNvPr>
          <p:cNvSpPr>
            <a:spLocks noGrp="1"/>
          </p:cNvSpPr>
          <p:nvPr/>
        </p:nvSpPr>
        <p:spPr>
          <a:xfrm>
            <a:off x="3200400" y="9334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FA71BD-DEB9-493B-81FA-7E967AACBAB8}"/>
              </a:ext>
            </a:extLst>
          </p:cNvPr>
          <p:cNvSpPr>
            <a:spLocks noGrp="1"/>
          </p:cNvSpPr>
          <p:nvPr/>
        </p:nvSpPr>
        <p:spPr>
          <a:xfrm>
            <a:off x="4857750" y="8953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54AE42-CF5C-4E1D-A3D6-484A229D82DF}"/>
              </a:ext>
            </a:extLst>
          </p:cNvPr>
          <p:cNvSpPr>
            <a:spLocks noGrp="1"/>
          </p:cNvSpPr>
          <p:nvPr/>
        </p:nvSpPr>
        <p:spPr>
          <a:xfrm>
            <a:off x="4914900" y="9334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0CE7D0-6386-4EBD-86D4-81F2AFB9DEEC}"/>
              </a:ext>
            </a:extLst>
          </p:cNvPr>
          <p:cNvSpPr>
            <a:spLocks noGrp="1"/>
          </p:cNvSpPr>
          <p:nvPr/>
        </p:nvSpPr>
        <p:spPr>
          <a:xfrm>
            <a:off x="6572250" y="89535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1C19BA-D1B0-42CC-BCAA-818278B87C85}"/>
              </a:ext>
            </a:extLst>
          </p:cNvPr>
          <p:cNvSpPr>
            <a:spLocks noGrp="1"/>
          </p:cNvSpPr>
          <p:nvPr/>
        </p:nvSpPr>
        <p:spPr>
          <a:xfrm>
            <a:off x="6629400" y="9334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9B5AD0-669C-4299-82D5-7FA2D0F0DB90}"/>
              </a:ext>
            </a:extLst>
          </p:cNvPr>
          <p:cNvSpPr>
            <a:spLocks noGrp="1"/>
          </p:cNvSpPr>
          <p:nvPr/>
        </p:nvSpPr>
        <p:spPr>
          <a:xfrm>
            <a:off x="190500" y="12573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BD0708-7550-469B-BEE8-A2F8518CA489}"/>
              </a:ext>
            </a:extLst>
          </p:cNvPr>
          <p:cNvSpPr>
            <a:spLocks noGrp="1"/>
          </p:cNvSpPr>
          <p:nvPr/>
        </p:nvSpPr>
        <p:spPr>
          <a:xfrm>
            <a:off x="247650" y="12954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BF07D3-D8FA-4CA7-8A00-1D19C0583222}"/>
              </a:ext>
            </a:extLst>
          </p:cNvPr>
          <p:cNvSpPr>
            <a:spLocks noGrp="1"/>
          </p:cNvSpPr>
          <p:nvPr/>
        </p:nvSpPr>
        <p:spPr>
          <a:xfrm>
            <a:off x="31432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C3FD6B-0235-4A10-9AAC-736B2BD03840}"/>
              </a:ext>
            </a:extLst>
          </p:cNvPr>
          <p:cNvSpPr>
            <a:spLocks noGrp="1"/>
          </p:cNvSpPr>
          <p:nvPr/>
        </p:nvSpPr>
        <p:spPr>
          <a:xfrm>
            <a:off x="32004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435128-1184-406A-B6CA-65D5937A3110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442970-0BDD-4AA8-92A1-968C506150DF}"/>
              </a:ext>
            </a:extLst>
          </p:cNvPr>
          <p:cNvSpPr>
            <a:spLocks noGrp="1"/>
          </p:cNvSpPr>
          <p:nvPr/>
        </p:nvSpPr>
        <p:spPr>
          <a:xfrm>
            <a:off x="49149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75ADFA-7F0F-4063-A8D4-D33D88D01F23}"/>
              </a:ext>
            </a:extLst>
          </p:cNvPr>
          <p:cNvSpPr>
            <a:spLocks noGrp="1"/>
          </p:cNvSpPr>
          <p:nvPr/>
        </p:nvSpPr>
        <p:spPr>
          <a:xfrm>
            <a:off x="6572250" y="125730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406A62-2947-4E3E-9B15-7F2580EAC6CC}"/>
              </a:ext>
            </a:extLst>
          </p:cNvPr>
          <p:cNvSpPr>
            <a:spLocks noGrp="1"/>
          </p:cNvSpPr>
          <p:nvPr/>
        </p:nvSpPr>
        <p:spPr>
          <a:xfrm>
            <a:off x="6629400" y="12954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427A58-C608-4C99-9169-0458AB500E97}"/>
              </a:ext>
            </a:extLst>
          </p:cNvPr>
          <p:cNvSpPr>
            <a:spLocks noGrp="1"/>
          </p:cNvSpPr>
          <p:nvPr/>
        </p:nvSpPr>
        <p:spPr>
          <a:xfrm>
            <a:off x="190500" y="16192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332425-70B1-4BCC-A1DB-C85997E2913E}"/>
              </a:ext>
            </a:extLst>
          </p:cNvPr>
          <p:cNvSpPr>
            <a:spLocks noGrp="1"/>
          </p:cNvSpPr>
          <p:nvPr/>
        </p:nvSpPr>
        <p:spPr>
          <a:xfrm>
            <a:off x="247650" y="1657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base_damage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333473-4065-49E6-831C-119BD8CF239D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FE4A39-6AA1-46B8-9DE6-0A00BBC4B2A3}"/>
              </a:ext>
            </a:extLst>
          </p:cNvPr>
          <p:cNvSpPr>
            <a:spLocks noGrp="1"/>
          </p:cNvSpPr>
          <p:nvPr/>
        </p:nvSpPr>
        <p:spPr>
          <a:xfrm>
            <a:off x="3200400" y="1657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56FEC6-C79C-4E4D-847B-869C3EA903D6}"/>
              </a:ext>
            </a:extLst>
          </p:cNvPr>
          <p:cNvSpPr>
            <a:spLocks noGrp="1"/>
          </p:cNvSpPr>
          <p:nvPr/>
        </p:nvSpPr>
        <p:spPr>
          <a:xfrm>
            <a:off x="4857750" y="16192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FBDD5D4-B8E4-46A6-9AFF-E3CAA9E2D6B3}"/>
              </a:ext>
            </a:extLst>
          </p:cNvPr>
          <p:cNvSpPr>
            <a:spLocks noGrp="1"/>
          </p:cNvSpPr>
          <p:nvPr/>
        </p:nvSpPr>
        <p:spPr>
          <a:xfrm>
            <a:off x="4914900" y="1657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9.2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92F6014-EA04-4CE3-B66B-A1B228968A52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F87EB4-1EDD-47AF-9A64-06BE60B4E50B}"/>
              </a:ext>
            </a:extLst>
          </p:cNvPr>
          <p:cNvSpPr>
            <a:spLocks noGrp="1"/>
          </p:cNvSpPr>
          <p:nvPr/>
        </p:nvSpPr>
        <p:spPr>
          <a:xfrm>
            <a:off x="6629400" y="16573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 기본 데미지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D41587-C151-4798-8074-B902D9D5F943}"/>
              </a:ext>
            </a:extLst>
          </p:cNvPr>
          <p:cNvSpPr>
            <a:spLocks noGrp="1"/>
          </p:cNvSpPr>
          <p:nvPr/>
        </p:nvSpPr>
        <p:spPr>
          <a:xfrm>
            <a:off x="190500" y="19812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D49523-EBAF-42FA-B1F1-0FA6BF4F569B}"/>
              </a:ext>
            </a:extLst>
          </p:cNvPr>
          <p:cNvSpPr>
            <a:spLocks noGrp="1"/>
          </p:cNvSpPr>
          <p:nvPr/>
        </p:nvSpPr>
        <p:spPr>
          <a:xfrm>
            <a:off x="247650" y="2019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54E373-535B-41DC-8614-10196ED662E6}"/>
              </a:ext>
            </a:extLst>
          </p:cNvPr>
          <p:cNvSpPr>
            <a:spLocks noGrp="1"/>
          </p:cNvSpPr>
          <p:nvPr/>
        </p:nvSpPr>
        <p:spPr>
          <a:xfrm>
            <a:off x="3143250" y="19812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7E1DE29-BBCD-41F8-9D25-80F43EB6BBC2}"/>
              </a:ext>
            </a:extLst>
          </p:cNvPr>
          <p:cNvSpPr>
            <a:spLocks noGrp="1"/>
          </p:cNvSpPr>
          <p:nvPr/>
        </p:nvSpPr>
        <p:spPr>
          <a:xfrm>
            <a:off x="3200400" y="2019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6C79C7-9BF1-4CBD-8CBA-EB5ED8446D41}"/>
              </a:ext>
            </a:extLst>
          </p:cNvPr>
          <p:cNvSpPr>
            <a:spLocks noGrp="1"/>
          </p:cNvSpPr>
          <p:nvPr/>
        </p:nvSpPr>
        <p:spPr>
          <a:xfrm>
            <a:off x="4857750" y="19812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D8C604C-EB4D-4B8A-B427-F73D0B2E4850}"/>
              </a:ext>
            </a:extLst>
          </p:cNvPr>
          <p:cNvSpPr>
            <a:spLocks noGrp="1"/>
          </p:cNvSpPr>
          <p:nvPr/>
        </p:nvSpPr>
        <p:spPr>
          <a:xfrm>
            <a:off x="4914900" y="2019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1.8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9E99F22-5FF3-4686-8348-78BB53CB2C92}"/>
              </a:ext>
            </a:extLst>
          </p:cNvPr>
          <p:cNvSpPr>
            <a:spLocks noGrp="1"/>
          </p:cNvSpPr>
          <p:nvPr/>
        </p:nvSpPr>
        <p:spPr>
          <a:xfrm>
            <a:off x="6572250" y="1981200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894BBD-F1DF-48C6-8049-F098E496ECE5}"/>
              </a:ext>
            </a:extLst>
          </p:cNvPr>
          <p:cNvSpPr>
            <a:spLocks noGrp="1"/>
          </p:cNvSpPr>
          <p:nvPr/>
        </p:nvSpPr>
        <p:spPr>
          <a:xfrm>
            <a:off x="6629400" y="20193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데미지 배율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A38856-6065-4B0E-A607-176F6A053BF5}"/>
              </a:ext>
            </a:extLst>
          </p:cNvPr>
          <p:cNvSpPr>
            <a:spLocks noGrp="1"/>
          </p:cNvSpPr>
          <p:nvPr/>
        </p:nvSpPr>
        <p:spPr>
          <a:xfrm>
            <a:off x="190500" y="2343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3EBCB3B-2176-45FD-9F8F-8763E8F03170}"/>
              </a:ext>
            </a:extLst>
          </p:cNvPr>
          <p:cNvSpPr>
            <a:spLocks noGrp="1"/>
          </p:cNvSpPr>
          <p:nvPr/>
        </p:nvSpPr>
        <p:spPr>
          <a:xfrm>
            <a:off x="247650" y="2381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weak_reveal_hits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42139D-3C34-4C91-ABBF-54E40DA50284}"/>
              </a:ext>
            </a:extLst>
          </p:cNvPr>
          <p:cNvSpPr>
            <a:spLocks noGrp="1"/>
          </p:cNvSpPr>
          <p:nvPr/>
        </p:nvSpPr>
        <p:spPr>
          <a:xfrm>
            <a:off x="3143250" y="2343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A7A375F-D70E-44AF-A748-12460717D30F}"/>
              </a:ext>
            </a:extLst>
          </p:cNvPr>
          <p:cNvSpPr>
            <a:spLocks noGrp="1"/>
          </p:cNvSpPr>
          <p:nvPr/>
        </p:nvSpPr>
        <p:spPr>
          <a:xfrm>
            <a:off x="3200400" y="2381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9F843D-A6E6-4374-96DE-C586E46E844D}"/>
              </a:ext>
            </a:extLst>
          </p:cNvPr>
          <p:cNvSpPr>
            <a:spLocks noGrp="1"/>
          </p:cNvSpPr>
          <p:nvPr/>
        </p:nvSpPr>
        <p:spPr>
          <a:xfrm>
            <a:off x="4857750" y="2343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3EB8CA8-72C2-4547-B0CD-DE484A61520E}"/>
              </a:ext>
            </a:extLst>
          </p:cNvPr>
          <p:cNvSpPr>
            <a:spLocks noGrp="1"/>
          </p:cNvSpPr>
          <p:nvPr/>
        </p:nvSpPr>
        <p:spPr>
          <a:xfrm>
            <a:off x="4914900" y="2381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6BF607-B13F-4FD6-9DC9-0AF17CDFEA9D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92F89A-A58A-4855-A682-A438A67D9255}"/>
              </a:ext>
            </a:extLst>
          </p:cNvPr>
          <p:cNvSpPr>
            <a:spLocks noGrp="1"/>
          </p:cNvSpPr>
          <p:nvPr/>
        </p:nvSpPr>
        <p:spPr>
          <a:xfrm>
            <a:off x="6629400" y="23812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노출까지 필요한 몸통 타격 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6DA4A66-6519-4356-9C74-3A1024EBA1B8}"/>
              </a:ext>
            </a:extLst>
          </p:cNvPr>
          <p:cNvSpPr>
            <a:spLocks noGrp="1"/>
          </p:cNvSpPr>
          <p:nvPr/>
        </p:nvSpPr>
        <p:spPr>
          <a:xfrm>
            <a:off x="190500" y="2705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73F2F5-EFE7-4D7A-B1A4-94FDAE35CCFF}"/>
              </a:ext>
            </a:extLst>
          </p:cNvPr>
          <p:cNvSpPr>
            <a:spLocks noGrp="1"/>
          </p:cNvSpPr>
          <p:nvPr/>
        </p:nvSpPr>
        <p:spPr>
          <a:xfrm>
            <a:off x="247650" y="2743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weak_break_gain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C58A2A-0F96-4DF3-AF67-9717760B27E7}"/>
              </a:ext>
            </a:extLst>
          </p:cNvPr>
          <p:cNvSpPr>
            <a:spLocks noGrp="1"/>
          </p:cNvSpPr>
          <p:nvPr/>
        </p:nvSpPr>
        <p:spPr>
          <a:xfrm>
            <a:off x="3143250" y="2705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C847F4F-35E1-4629-8123-6E39BF125005}"/>
              </a:ext>
            </a:extLst>
          </p:cNvPr>
          <p:cNvSpPr>
            <a:spLocks noGrp="1"/>
          </p:cNvSpPr>
          <p:nvPr/>
        </p:nvSpPr>
        <p:spPr>
          <a:xfrm>
            <a:off x="3200400" y="2743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8C6A163-4456-4EB7-8D36-6C8426B7A415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ED4CE1B-4726-41E8-9638-C906AC02CDF2}"/>
              </a:ext>
            </a:extLst>
          </p:cNvPr>
          <p:cNvSpPr>
            <a:spLocks noGrp="1"/>
          </p:cNvSpPr>
          <p:nvPr/>
        </p:nvSpPr>
        <p:spPr>
          <a:xfrm>
            <a:off x="4914900" y="2743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1.25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ECB6A72-1201-4BCD-AE40-B78552805C0C}"/>
              </a:ext>
            </a:extLst>
          </p:cNvPr>
          <p:cNvSpPr>
            <a:spLocks noGrp="1"/>
          </p:cNvSpPr>
          <p:nvPr/>
        </p:nvSpPr>
        <p:spPr>
          <a:xfrm>
            <a:off x="6572250" y="2705100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E28C6D-FC07-4BE9-B310-17C34D5E65EF}"/>
              </a:ext>
            </a:extLst>
          </p:cNvPr>
          <p:cNvSpPr>
            <a:spLocks noGrp="1"/>
          </p:cNvSpPr>
          <p:nvPr/>
        </p:nvSpPr>
        <p:spPr>
          <a:xfrm>
            <a:off x="6629400" y="27432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1타당 진행도 증가율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773947-88E6-4839-9DEC-99453D645DD4}"/>
              </a:ext>
            </a:extLst>
          </p:cNvPr>
          <p:cNvSpPr>
            <a:spLocks noGrp="1"/>
          </p:cNvSpPr>
          <p:nvPr/>
        </p:nvSpPr>
        <p:spPr>
          <a:xfrm>
            <a:off x="190500" y="30670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3D90B24-E79E-4AC2-B237-E794640ECB2D}"/>
              </a:ext>
            </a:extLst>
          </p:cNvPr>
          <p:cNvSpPr>
            <a:spLocks noGrp="1"/>
          </p:cNvSpPr>
          <p:nvPr/>
        </p:nvSpPr>
        <p:spPr>
          <a:xfrm>
            <a:off x="247650" y="31051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8EEA1F-2D98-4A9C-B0E9-69F945A8F1E8}"/>
              </a:ext>
            </a:extLst>
          </p:cNvPr>
          <p:cNvSpPr>
            <a:spLocks noGrp="1"/>
          </p:cNvSpPr>
          <p:nvPr/>
        </p:nvSpPr>
        <p:spPr>
          <a:xfrm>
            <a:off x="3143250" y="30670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B6175CD-B8E8-4A4D-946C-CD6186F00C38}"/>
              </a:ext>
            </a:extLst>
          </p:cNvPr>
          <p:cNvSpPr>
            <a:spLocks noGrp="1"/>
          </p:cNvSpPr>
          <p:nvPr/>
        </p:nvSpPr>
        <p:spPr>
          <a:xfrm>
            <a:off x="3200400" y="31051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1EC5954-42DE-4144-BB9C-BD0DEDA0638F}"/>
              </a:ext>
            </a:extLst>
          </p:cNvPr>
          <p:cNvSpPr>
            <a:spLocks noGrp="1"/>
          </p:cNvSpPr>
          <p:nvPr/>
        </p:nvSpPr>
        <p:spPr>
          <a:xfrm>
            <a:off x="4857750" y="30670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8234CD-DB92-4B96-A708-1F42ED0310E8}"/>
              </a:ext>
            </a:extLst>
          </p:cNvPr>
          <p:cNvSpPr>
            <a:spLocks noGrp="1"/>
          </p:cNvSpPr>
          <p:nvPr/>
        </p:nvSpPr>
        <p:spPr>
          <a:xfrm>
            <a:off x="4914900" y="31051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A04B8ED-11EC-4387-BBDE-D4B8EDDF5454}"/>
              </a:ext>
            </a:extLst>
          </p:cNvPr>
          <p:cNvSpPr>
            <a:spLocks noGrp="1"/>
          </p:cNvSpPr>
          <p:nvPr/>
        </p:nvSpPr>
        <p:spPr>
          <a:xfrm>
            <a:off x="6572250" y="30670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889B40-1AB0-44F5-B132-0422282244EB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프레임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36433EA-54B1-4814-955C-E89282599501}"/>
              </a:ext>
            </a:extLst>
          </p:cNvPr>
          <p:cNvSpPr>
            <a:spLocks noGrp="1"/>
          </p:cNvSpPr>
          <p:nvPr/>
        </p:nvSpPr>
        <p:spPr>
          <a:xfrm>
            <a:off x="190500" y="39052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A01DDB-38AA-44C4-BA83-246EE6E9F319}"/>
              </a:ext>
            </a:extLst>
          </p:cNvPr>
          <p:cNvSpPr>
            <a:spLocks noGrp="1"/>
          </p:cNvSpPr>
          <p:nvPr/>
        </p:nvSpPr>
        <p:spPr>
          <a:xfrm>
            <a:off x="247650" y="3943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MineralBreakGroup (적용 분류)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B04F320-1697-4930-99DA-07BAB890240E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334DFDA-8474-4937-8871-6D73F4147F06}"/>
              </a:ext>
            </a:extLst>
          </p:cNvPr>
          <p:cNvSpPr>
            <a:spLocks noGrp="1"/>
          </p:cNvSpPr>
          <p:nvPr/>
        </p:nvSpPr>
        <p:spPr>
          <a:xfrm>
            <a:off x="3200400" y="3943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E84C356-0E23-44D2-A24D-6DC12C330BA3}"/>
              </a:ext>
            </a:extLst>
          </p:cNvPr>
          <p:cNvSpPr>
            <a:spLocks noGrp="1"/>
          </p:cNvSpPr>
          <p:nvPr/>
        </p:nvSpPr>
        <p:spPr>
          <a:xfrm>
            <a:off x="4857750" y="390525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68BF63B-109A-45FB-A51B-6CBCAD289EB1}"/>
              </a:ext>
            </a:extLst>
          </p:cNvPr>
          <p:cNvSpPr>
            <a:spLocks noGrp="1"/>
          </p:cNvSpPr>
          <p:nvPr/>
        </p:nvSpPr>
        <p:spPr>
          <a:xfrm>
            <a:off x="4914900" y="39433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945864A-A45D-4777-8853-2691D12476D2}"/>
              </a:ext>
            </a:extLst>
          </p:cNvPr>
          <p:cNvSpPr>
            <a:spLocks noGrp="1"/>
          </p:cNvSpPr>
          <p:nvPr/>
        </p:nvSpPr>
        <p:spPr>
          <a:xfrm>
            <a:off x="8001000" y="390525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920A485-A7E6-45E7-B38E-0D6482131B2F}"/>
              </a:ext>
            </a:extLst>
          </p:cNvPr>
          <p:cNvSpPr>
            <a:spLocks noGrp="1"/>
          </p:cNvSpPr>
          <p:nvPr/>
        </p:nvSpPr>
        <p:spPr>
          <a:xfrm>
            <a:off x="8058150" y="39433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0384ED3-4A60-401C-BB2B-EEE1ECE9E711}"/>
              </a:ext>
            </a:extLst>
          </p:cNvPr>
          <p:cNvSpPr>
            <a:spLocks noGrp="1"/>
          </p:cNvSpPr>
          <p:nvPr/>
        </p:nvSpPr>
        <p:spPr>
          <a:xfrm>
            <a:off x="190500" y="42672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850D11B-110B-4035-951C-228BFEAF0CE3}"/>
              </a:ext>
            </a:extLst>
          </p:cNvPr>
          <p:cNvSpPr>
            <a:spLocks noGrp="1"/>
          </p:cNvSpPr>
          <p:nvPr/>
        </p:nvSpPr>
        <p:spPr>
          <a:xfrm>
            <a:off x="247650" y="4305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group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DA1B56F-430B-40FA-939C-E3945D7502B1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1BBC12A-4E54-4465-8B43-778E1FF08EF0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57D1771-57FE-49E9-83AA-AC88550E9E20}"/>
              </a:ext>
            </a:extLst>
          </p:cNvPr>
          <p:cNvSpPr>
            <a:spLocks noGrp="1"/>
          </p:cNvSpPr>
          <p:nvPr/>
        </p:nvSpPr>
        <p:spPr>
          <a:xfrm>
            <a:off x="4857750" y="426720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421FF02-DE1F-40BD-96FC-4DCDC666F1D5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C67DC4A-A65A-41CB-BE06-23E0FC987A3E}"/>
              </a:ext>
            </a:extLst>
          </p:cNvPr>
          <p:cNvSpPr>
            <a:spLocks noGrp="1"/>
          </p:cNvSpPr>
          <p:nvPr/>
        </p:nvSpPr>
        <p:spPr>
          <a:xfrm>
            <a:off x="8001000" y="426720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8EA10F5-5432-4BF1-B4E8-2373B2F07493}"/>
              </a:ext>
            </a:extLst>
          </p:cNvPr>
          <p:cNvSpPr>
            <a:spLocks noGrp="1"/>
          </p:cNvSpPr>
          <p:nvPr/>
        </p:nvSpPr>
        <p:spPr>
          <a:xfrm>
            <a:off x="8058150" y="43053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effect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D946CB9-2489-48C7-BCE3-4581E18EB0DA}"/>
              </a:ext>
            </a:extLst>
          </p:cNvPr>
          <p:cNvSpPr>
            <a:spLocks noGrp="1"/>
          </p:cNvSpPr>
          <p:nvPr/>
        </p:nvSpPr>
        <p:spPr>
          <a:xfrm>
            <a:off x="190500" y="4629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326CEFC-A59F-4211-9F85-8774EC0AB89C}"/>
              </a:ext>
            </a:extLst>
          </p:cNvPr>
          <p:cNvSpPr>
            <a:spLocks noGrp="1"/>
          </p:cNvSpPr>
          <p:nvPr/>
        </p:nvSpPr>
        <p:spPr>
          <a:xfrm>
            <a:off x="247650" y="4667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Normal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7D2B26-6E77-4174-B0BE-DCF2ABB39D0C}"/>
              </a:ext>
            </a:extLst>
          </p:cNvPr>
          <p:cNvSpPr>
            <a:spLocks noGrp="1"/>
          </p:cNvSpPr>
          <p:nvPr/>
        </p:nvSpPr>
        <p:spPr>
          <a:xfrm>
            <a:off x="3143250" y="4629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087480B-278E-47CE-B08D-10F7D16358F1}"/>
              </a:ext>
            </a:extLst>
          </p:cNvPr>
          <p:cNvSpPr>
            <a:spLocks noGrp="1"/>
          </p:cNvSpPr>
          <p:nvPr/>
        </p:nvSpPr>
        <p:spPr>
          <a:xfrm>
            <a:off x="3200400" y="4667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54590BD-59C0-49B4-AC3A-B72C4EDFA519}"/>
              </a:ext>
            </a:extLst>
          </p:cNvPr>
          <p:cNvSpPr>
            <a:spLocks noGrp="1"/>
          </p:cNvSpPr>
          <p:nvPr/>
        </p:nvSpPr>
        <p:spPr>
          <a:xfrm>
            <a:off x="4857750" y="4629150"/>
            <a:ext cx="31432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4109420-1E20-4728-9CD1-6970D3B282E0}"/>
              </a:ext>
            </a:extLst>
          </p:cNvPr>
          <p:cNvSpPr>
            <a:spLocks noGrp="1"/>
          </p:cNvSpPr>
          <p:nvPr/>
        </p:nvSpPr>
        <p:spPr>
          <a:xfrm>
            <a:off x="4914900" y="46672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미적용 광물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9573BF5-BB6E-43CA-AF1E-43043F4731AA}"/>
              </a:ext>
            </a:extLst>
          </p:cNvPr>
          <p:cNvSpPr>
            <a:spLocks noGrp="1"/>
          </p:cNvSpPr>
          <p:nvPr/>
        </p:nvSpPr>
        <p:spPr>
          <a:xfrm>
            <a:off x="8001000" y="4629150"/>
            <a:ext cx="3333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462966C-92DE-48A6-9F29-8C692D6E20F3}"/>
              </a:ext>
            </a:extLst>
          </p:cNvPr>
          <p:cNvSpPr>
            <a:spLocks noGrp="1"/>
          </p:cNvSpPr>
          <p:nvPr/>
        </p:nvSpPr>
        <p:spPr>
          <a:xfrm>
            <a:off x="8058150" y="46672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채굴 처리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14C4F86-BBA7-491A-BDBF-204A1E6BF76E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6D7F461-F84B-4138-9751-C76A72D51DBF}"/>
              </a:ext>
            </a:extLst>
          </p:cNvPr>
          <p:cNvSpPr>
            <a:spLocks noGrp="1"/>
          </p:cNvSpPr>
          <p:nvPr/>
        </p:nvSpPr>
        <p:spPr>
          <a:xfrm>
            <a:off x="247650" y="5029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Breakable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8E9E020-A77C-4364-B8AA-45D4A71A2B14}"/>
              </a:ext>
            </a:extLst>
          </p:cNvPr>
          <p:cNvSpPr>
            <a:spLocks noGrp="1"/>
          </p:cNvSpPr>
          <p:nvPr/>
        </p:nvSpPr>
        <p:spPr>
          <a:xfrm>
            <a:off x="3143250" y="4991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138AC25-7E87-4F99-8EC4-F9A9795B4792}"/>
              </a:ext>
            </a:extLst>
          </p:cNvPr>
          <p:cNvSpPr>
            <a:spLocks noGrp="1"/>
          </p:cNvSpPr>
          <p:nvPr/>
        </p:nvSpPr>
        <p:spPr>
          <a:xfrm>
            <a:off x="3200400" y="5029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F4E2237-5688-48D2-81C3-7B623BF55812}"/>
              </a:ext>
            </a:extLst>
          </p:cNvPr>
          <p:cNvSpPr>
            <a:spLocks noGrp="1"/>
          </p:cNvSpPr>
          <p:nvPr/>
        </p:nvSpPr>
        <p:spPr>
          <a:xfrm>
            <a:off x="4857750" y="4991100"/>
            <a:ext cx="31432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7E1A891-5CD0-47DA-9591-EC359F2B93A6}"/>
              </a:ext>
            </a:extLst>
          </p:cNvPr>
          <p:cNvSpPr>
            <a:spLocks noGrp="1"/>
          </p:cNvSpPr>
          <p:nvPr/>
        </p:nvSpPr>
        <p:spPr>
          <a:xfrm>
            <a:off x="4914900" y="50292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 fontScale="92066"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상대적 장기 체류가 발생해 브레이크 규칙을 적용하는 광물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1C49D2F-3ABE-4AC8-8788-B50400998B99}"/>
              </a:ext>
            </a:extLst>
          </p:cNvPr>
          <p:cNvSpPr>
            <a:spLocks noGrp="1"/>
          </p:cNvSpPr>
          <p:nvPr/>
        </p:nvSpPr>
        <p:spPr>
          <a:xfrm>
            <a:off x="8001000" y="4991100"/>
            <a:ext cx="3333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15DC4DE-A593-45A7-9973-83453E910367}"/>
              </a:ext>
            </a:extLst>
          </p:cNvPr>
          <p:cNvSpPr>
            <a:spLocks noGrp="1"/>
          </p:cNvSpPr>
          <p:nvPr/>
        </p:nvSpPr>
        <p:spPr>
          <a:xfrm>
            <a:off x="8058150" y="50292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+ 브레이크 외곽선 연출</a:t>
            </a:r>
          </a:p>
        </p:txBody>
      </p:sp>
    </p:spTree>
    <p:extLst>
      <p:ext uri="{BB962C8B-B14F-4D97-AF65-F5344CB8AC3E}">
        <p14:creationId xmlns:p14="http://schemas.microsoft.com/office/powerpoint/2010/main" val="56726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>
              <a:buNone/>
            </a:pPr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02695-52BF-4B5E-9029-51401DB161B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buNone/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12. 예외 처리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401ED6-AB40-4621-80E0-527BC156F55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B2DB12-A6B0-4C74-93EF-6F338FD885D4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E61DBA-B5BC-44F0-AC98-0B02D51A984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E9CCF-8E9A-4064-A576-940FD5D023BD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40957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EDEF72-CA10-4194-B44F-C75DF2277320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819F85-1910-4A4C-A0A2-E9E6F8406D23}"/>
              </a:ext>
            </a:extLst>
          </p:cNvPr>
          <p:cNvSpPr>
            <a:spLocks noGrp="1"/>
          </p:cNvSpPr>
          <p:nvPr/>
        </p:nvSpPr>
        <p:spPr>
          <a:xfrm>
            <a:off x="6286500" y="914400"/>
            <a:ext cx="5143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2493A7-77D5-48D6-A9E7-63FE71DC0B26}"/>
              </a:ext>
            </a:extLst>
          </p:cNvPr>
          <p:cNvSpPr>
            <a:spLocks noGrp="1"/>
          </p:cNvSpPr>
          <p:nvPr/>
        </p:nvSpPr>
        <p:spPr>
          <a:xfrm>
            <a:off x="6343650" y="9525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92ACC8-EDF5-4A33-B51C-33BCEF0E87A8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B7C21B-DB6C-4D86-AA5E-15E8E94F71C9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26625E-8428-48FC-AB93-AA806454455B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7965BC-8286-4137-A524-500ADC489ECB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3FE41A-262D-47F2-915C-B235A7A3F16F}"/>
              </a:ext>
            </a:extLst>
          </p:cNvPr>
          <p:cNvSpPr>
            <a:spLocks noGrp="1"/>
          </p:cNvSpPr>
          <p:nvPr/>
        </p:nvSpPr>
        <p:spPr>
          <a:xfrm>
            <a:off x="6286500" y="14668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6CE3EB-9521-4DBD-88A6-5216B0E7CB53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4AFFDC-C392-42B9-91A2-F45E36BE879B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130DC2-E812-4AB3-B523-619A4BAB8876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과다 이동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8B828E-A2E7-4936-BB2B-D5489E3BEABB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1A44C7-88ED-4D57-91D8-C3A5AE8E9F68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위치가 너무 자주 바뀌어 피로함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C5CD4E-B428-4D55-BEE0-CE6538784BC5}"/>
              </a:ext>
            </a:extLst>
          </p:cNvPr>
          <p:cNvSpPr>
            <a:spLocks noGrp="1"/>
          </p:cNvSpPr>
          <p:nvPr/>
        </p:nvSpPr>
        <p:spPr>
          <a:xfrm>
            <a:off x="6286500" y="20193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906246B-037A-4945-998A-73B565D63646}"/>
              </a:ext>
            </a:extLst>
          </p:cNvPr>
          <p:cNvSpPr>
            <a:spLocks noGrp="1"/>
          </p:cNvSpPr>
          <p:nvPr/>
        </p:nvSpPr>
        <p:spPr>
          <a:xfrm>
            <a:off x="6343650" y="20574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 이동 주기 유지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5E05C1E-C66F-4B0E-A847-001E4297C11A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3771DC-6A9C-419B-B762-65EC3C54AA40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9F4831-B59E-4C51-98F9-366168E874CC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98A560-6D77-421E-9DDB-404CA0D29A52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118F27-544E-4C78-8693-25938795018D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9856D4-89EA-4AF9-B2F5-A818C0EFCBA7}"/>
              </a:ext>
            </a:extLst>
          </p:cNvPr>
          <p:cNvSpPr>
            <a:spLocks noGrp="1"/>
          </p:cNvSpPr>
          <p:nvPr/>
        </p:nvSpPr>
        <p:spPr>
          <a:xfrm>
            <a:off x="6343650" y="26098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CA9484-1CFD-4F73-8E75-0AC3FC566E51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89A1F3-3FEF-400D-9FC8-48D42B769D35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36820D-4450-4FC9-961F-24A515B0AB21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69A4DBD-47A4-484D-89DE-11D5960F6B16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84EB34-BFF0-42CE-9B7E-AA13386CA3E9}"/>
              </a:ext>
            </a:extLst>
          </p:cNvPr>
          <p:cNvSpPr>
            <a:spLocks noGrp="1"/>
          </p:cNvSpPr>
          <p:nvPr/>
        </p:nvSpPr>
        <p:spPr>
          <a:xfrm>
            <a:off x="6286500" y="31242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8E778A-500C-4C45-BA0F-2B46EAB7E0BE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BreakGroup 데이터 확인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4192B74-E5F1-47BB-A633-2298BBF979ED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5C80833-226B-492F-87E6-6BA6A248447A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겹침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CAA776F-6365-4F16-96DD-C7BACEDC8805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4E178FE-DC72-4FA0-81D0-8F49DBA7FE26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스폰 시 광물이 서로 겹침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DC5F22-7E01-47D8-A4E8-25227BC3702F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FA12587-6236-4C1A-896D-8F8F86BD4485}"/>
              </a:ext>
            </a:extLst>
          </p:cNvPr>
          <p:cNvSpPr>
            <a:spLocks noGrp="1"/>
          </p:cNvSpPr>
          <p:nvPr/>
        </p:nvSpPr>
        <p:spPr>
          <a:xfrm>
            <a:off x="6343650" y="37147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스폰 후 배치 보정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07AD5F-9DC5-49C5-98AA-6C2D3977B2DF}"/>
              </a:ext>
            </a:extLst>
          </p:cNvPr>
          <p:cNvSpPr>
            <a:spLocks noGrp="1"/>
          </p:cNvSpPr>
          <p:nvPr/>
        </p:nvSpPr>
        <p:spPr>
          <a:xfrm>
            <a:off x="190500" y="42291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49DAE4-7005-41C5-ACE5-6E2675CC83A8}"/>
              </a:ext>
            </a:extLst>
          </p:cNvPr>
          <p:cNvSpPr>
            <a:spLocks noGrp="1"/>
          </p:cNvSpPr>
          <p:nvPr/>
        </p:nvSpPr>
        <p:spPr>
          <a:xfrm>
            <a:off x="247650" y="42672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A776031-4411-4D7C-ADDC-573344818190}"/>
              </a:ext>
            </a:extLst>
          </p:cNvPr>
          <p:cNvSpPr>
            <a:spLocks noGrp="1"/>
          </p:cNvSpPr>
          <p:nvPr/>
        </p:nvSpPr>
        <p:spPr>
          <a:xfrm>
            <a:off x="2190750" y="42291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E01AE70-C71F-497D-83D2-ED73765A29BB}"/>
              </a:ext>
            </a:extLst>
          </p:cNvPr>
          <p:cNvSpPr>
            <a:spLocks noGrp="1"/>
          </p:cNvSpPr>
          <p:nvPr/>
        </p:nvSpPr>
        <p:spPr>
          <a:xfrm>
            <a:off x="2247900" y="42672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DFC5F61-6335-4793-BDDB-A787F3C7AA10}"/>
              </a:ext>
            </a:extLst>
          </p:cNvPr>
          <p:cNvSpPr>
            <a:spLocks noGrp="1"/>
          </p:cNvSpPr>
          <p:nvPr/>
        </p:nvSpPr>
        <p:spPr>
          <a:xfrm>
            <a:off x="6286500" y="42291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D28F7BA-A8AC-44A2-A043-1DF623A30A4C}"/>
              </a:ext>
            </a:extLst>
          </p:cNvPr>
          <p:cNvSpPr>
            <a:spLocks noGrp="1"/>
          </p:cNvSpPr>
          <p:nvPr/>
        </p:nvSpPr>
        <p:spPr>
          <a:xfrm>
            <a:off x="6343650" y="42672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buNone/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396681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1034</Words>
  <Application>Microsoft Office PowerPoint</Application>
  <DocSecurity>0</DocSecurity>
  <PresentationFormat>와이드스크린</PresentationFormat>
  <Paragraphs>230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대승 고</cp:lastModifiedBy>
  <cp:revision>1</cp:revision>
  <dcterms:created xsi:type="dcterms:W3CDTF">2026-04-24T09:35:54Z</dcterms:created>
  <dcterms:modified xsi:type="dcterms:W3CDTF">2026-04-24T09:57:09Z</dcterms:modified>
</cp:coreProperties>
</file>