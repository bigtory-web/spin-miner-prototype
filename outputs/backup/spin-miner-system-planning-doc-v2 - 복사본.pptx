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926701d0d0430d" /><Relationship Type="http://schemas.openxmlformats.org/officeDocument/2006/relationships/extended-properties" Target="/docProps/app.xml" Id="R033f6c63edc443bf" /><Relationship Type="http://schemas.openxmlformats.org/officeDocument/2006/relationships/officeDocument" Target="/ppt/presentation.xml" Id="Ra21b8f58bf884d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0ef4d77b3e40cd"/>
  </p:sldMasterIdLst>
  <p:notesMasterIdLst>
    <p:notesMasterId xmlns:r="http://schemas.openxmlformats.org/officeDocument/2006/relationships" r:id="Rfc4c89f603eb48a2"/>
  </p:notesMasterIdLst>
  <p:sldIdLst>
    <p:sldId xmlns:r="http://schemas.openxmlformats.org/officeDocument/2006/relationships" id="256" r:id="R43f24033779f47bd"/>
    <p:sldId xmlns:r="http://schemas.openxmlformats.org/officeDocument/2006/relationships" id="257" r:id="Rf73f8abc490b4627"/>
    <p:sldId xmlns:r="http://schemas.openxmlformats.org/officeDocument/2006/relationships" id="258" r:id="Rbbdaac2e2a874f7f"/>
    <p:sldId xmlns:r="http://schemas.openxmlformats.org/officeDocument/2006/relationships" id="259" r:id="R197fbe4bd62444f0"/>
    <p:sldId xmlns:r="http://schemas.openxmlformats.org/officeDocument/2006/relationships" id="260" r:id="Rc68096b0f7954a26"/>
    <p:sldId xmlns:r="http://schemas.openxmlformats.org/officeDocument/2006/relationships" id="261" r:id="R5df45631f38f40da"/>
    <p:sldId xmlns:r="http://schemas.openxmlformats.org/officeDocument/2006/relationships" id="262" r:id="R2dbe7e9e96e444f9"/>
    <p:sldId xmlns:r="http://schemas.openxmlformats.org/officeDocument/2006/relationships" id="263" r:id="R726c1f2017fd4d83"/>
    <p:sldId xmlns:r="http://schemas.openxmlformats.org/officeDocument/2006/relationships" id="264" r:id="R09a3d32d36fe4ac0"/>
    <p:sldId xmlns:r="http://schemas.openxmlformats.org/officeDocument/2006/relationships" id="265" r:id="R171df2d784624cae"/>
    <p:sldId xmlns:r="http://schemas.openxmlformats.org/officeDocument/2006/relationships" id="266" r:id="Rcd2d2a3594b3419f"/>
    <p:sldId xmlns:r="http://schemas.openxmlformats.org/officeDocument/2006/relationships" id="267" r:id="Rcbc25835035d4494"/>
    <p:sldId xmlns:r="http://schemas.openxmlformats.org/officeDocument/2006/relationships" id="268" r:id="Rfee4beae9436485d"/>
    <p:sldId xmlns:r="http://schemas.openxmlformats.org/officeDocument/2006/relationships" id="269" r:id="R2e99f972adbd456f"/>
    <p:sldId xmlns:r="http://schemas.openxmlformats.org/officeDocument/2006/relationships" id="270" r:id="Re9b1274fd75d4cf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0ef4d77b3e40cd" /><Relationship Type="http://schemas.openxmlformats.org/officeDocument/2006/relationships/theme" Target="/ppt/theme/theme1.xml" Id="R340b3f3f9435470f" /><Relationship Type="http://schemas.openxmlformats.org/officeDocument/2006/relationships/notesMaster" Target="/ppt/notesMasters/notesMaster1.xml" Id="Rfc4c89f603eb48a2" /><Relationship Type="http://schemas.openxmlformats.org/officeDocument/2006/relationships/presProps" Target="/ppt/presProps.xml" Id="Rcdac0f1c84fa4b81" /><Relationship Type="http://schemas.openxmlformats.org/officeDocument/2006/relationships/viewProps" Target="/ppt/viewProps.xml" Id="R4fb964c998c94282" /><Relationship Type="http://schemas.openxmlformats.org/officeDocument/2006/relationships/tableStyles" Target="/ppt/tableStyles.xml" Id="R7b6d7eafde1a4205" /><Relationship Type="http://schemas.openxmlformats.org/officeDocument/2006/relationships/slide" Target="/ppt/slides/slide1.xml" Id="R43f24033779f47bd" /><Relationship Type="http://schemas.openxmlformats.org/officeDocument/2006/relationships/slide" Target="/ppt/slides/slide2.xml" Id="Rf73f8abc490b4627" /><Relationship Type="http://schemas.openxmlformats.org/officeDocument/2006/relationships/slide" Target="/ppt/slides/slide3.xml" Id="Rbbdaac2e2a874f7f" /><Relationship Type="http://schemas.openxmlformats.org/officeDocument/2006/relationships/slide" Target="/ppt/slides/slide4.xml" Id="R197fbe4bd62444f0" /><Relationship Type="http://schemas.openxmlformats.org/officeDocument/2006/relationships/slide" Target="/ppt/slides/slide5.xml" Id="Rc68096b0f7954a26" /><Relationship Type="http://schemas.openxmlformats.org/officeDocument/2006/relationships/slide" Target="/ppt/slides/slide6.xml" Id="R5df45631f38f40da" /><Relationship Type="http://schemas.openxmlformats.org/officeDocument/2006/relationships/slide" Target="/ppt/slides/slide7.xml" Id="R2dbe7e9e96e444f9" /><Relationship Type="http://schemas.openxmlformats.org/officeDocument/2006/relationships/slide" Target="/ppt/slides/slide8.xml" Id="R726c1f2017fd4d83" /><Relationship Type="http://schemas.openxmlformats.org/officeDocument/2006/relationships/slide" Target="/ppt/slides/slide9.xml" Id="R09a3d32d36fe4ac0" /><Relationship Type="http://schemas.openxmlformats.org/officeDocument/2006/relationships/slide" Target="/ppt/slides/slide10.xml" Id="R171df2d784624cae" /><Relationship Type="http://schemas.openxmlformats.org/officeDocument/2006/relationships/slide" Target="/ppt/slides/slide11.xml" Id="Rcd2d2a3594b3419f" /><Relationship Type="http://schemas.openxmlformats.org/officeDocument/2006/relationships/slide" Target="/ppt/slides/slide12.xml" Id="Rcbc25835035d4494" /><Relationship Type="http://schemas.openxmlformats.org/officeDocument/2006/relationships/slide" Target="/ppt/slides/slide13.xml" Id="Rfee4beae9436485d" /><Relationship Type="http://schemas.openxmlformats.org/officeDocument/2006/relationships/slide" Target="/ppt/slides/slide14.xml" Id="R2e99f972adbd456f" /><Relationship Type="http://schemas.openxmlformats.org/officeDocument/2006/relationships/slide" Target="/ppt/slides/slide15.xml" Id="Re9b1274fd75d4c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ee40e500f6248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a471498ec249fb" /><Relationship Type="http://schemas.openxmlformats.org/officeDocument/2006/relationships/notesMaster" Target="/ppt/notesMasters/notesMaster1.xml" Id="R0dda8bc3802742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80d2c7abdf4e9b" /><Relationship Type="http://schemas.openxmlformats.org/officeDocument/2006/relationships/notesMaster" Target="/ppt/notesMasters/notesMaster1.xml" Id="Rdeac362bca1f42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c17a1b82d2474c" /><Relationship Type="http://schemas.openxmlformats.org/officeDocument/2006/relationships/notesMaster" Target="/ppt/notesMasters/notesMaster1.xml" Id="R91bcb96105734c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63003b836b4486" /><Relationship Type="http://schemas.openxmlformats.org/officeDocument/2006/relationships/notesMaster" Target="/ppt/notesMasters/notesMaster1.xml" Id="R9689b7a5df2946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26a695031af4b03" /><Relationship Type="http://schemas.openxmlformats.org/officeDocument/2006/relationships/notesMaster" Target="/ppt/notesMasters/notesMaster1.xml" Id="R8cf5a1f1765f41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e17f7271e3d4dc1" /><Relationship Type="http://schemas.openxmlformats.org/officeDocument/2006/relationships/notesMaster" Target="/ppt/notesMasters/notesMaster1.xml" Id="R957c41575c1849d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2e7838ff4034ad3" /><Relationship Type="http://schemas.openxmlformats.org/officeDocument/2006/relationships/notesMaster" Target="/ppt/notesMasters/notesMaster1.xml" Id="R197e0b7c92b1449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a95fdebdd944473" /><Relationship Type="http://schemas.openxmlformats.org/officeDocument/2006/relationships/notesMaster" Target="/ppt/notesMasters/notesMaster1.xml" Id="R3c84f6c2873d4e0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992fb19639e43c5" /><Relationship Type="http://schemas.openxmlformats.org/officeDocument/2006/relationships/notesMaster" Target="/ppt/notesMasters/notesMaster1.xml" Id="R5dae1d0f27d542b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5f23ecd32e04523" /><Relationship Type="http://schemas.openxmlformats.org/officeDocument/2006/relationships/notesMaster" Target="/ppt/notesMasters/notesMaster1.xml" Id="R8bc9d54198d8407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039ed1503a6483f" /><Relationship Type="http://schemas.openxmlformats.org/officeDocument/2006/relationships/notesMaster" Target="/ppt/notesMasters/notesMaster1.xml" Id="Rd9e86322be7c4b8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845c8927b714c4c" /><Relationship Type="http://schemas.openxmlformats.org/officeDocument/2006/relationships/notesMaster" Target="/ppt/notesMasters/notesMaster1.xml" Id="R04e7c0ce70984b6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cb359ec7c824ce9" /><Relationship Type="http://schemas.openxmlformats.org/officeDocument/2006/relationships/notesMaster" Target="/ppt/notesMasters/notesMaster1.xml" Id="R530e27c40cb44a6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250417351f74a22" /><Relationship Type="http://schemas.openxmlformats.org/officeDocument/2006/relationships/notesMaster" Target="/ppt/notesMasters/notesMaster1.xml" Id="Recc3347e1da94bb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7d9eed4c9704cba" /><Relationship Type="http://schemas.openxmlformats.org/officeDocument/2006/relationships/notesMaster" Target="/ppt/notesMasters/notesMaster1.xml" Id="R2a39a09d39e94c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1bc0a220b9452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D7057309-BB74-42D9-B7E6-A9B1D0C381C2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EA603447-F737-48BC-A150-A36FDFDF6CCB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3DB6B30-3439-4DD3-8678-5B3EC65A54F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E60693C-C8D0-43BE-B65B-DF5D1F2F93C7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2FDC39-5A87-49BE-B604-ECDB383621D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546372a370f490d" /><Relationship Type="http://schemas.openxmlformats.org/officeDocument/2006/relationships/slideLayout" Target="/ppt/slideLayouts/slideLayout2.xml" Id="Re7866e2a1d1449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C2F7BC9-B25E-4556-ADD4-A0ACD303E73A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866e2a1d1449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9cec32b07b4b8e" /><Relationship Type="http://schemas.openxmlformats.org/officeDocument/2006/relationships/notesSlide" Target="/ppt/notesSlides/notesSlide1.xml" Id="Ra8178d98d4214c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2c7f0396834885" /><Relationship Type="http://schemas.openxmlformats.org/officeDocument/2006/relationships/notesSlide" Target="/ppt/notesSlides/notesSlide2.xml" Id="R952738b6c15249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03c97eb9ba4d99" /><Relationship Type="http://schemas.openxmlformats.org/officeDocument/2006/relationships/notesSlide" Target="/ppt/notesSlides/notesSlide3.xml" Id="Rf540392e90ea4f0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f82a7412c042f4" /><Relationship Type="http://schemas.openxmlformats.org/officeDocument/2006/relationships/notesSlide" Target="/ppt/notesSlides/notesSlide4.xml" Id="R8e2b76ce4e0b46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737bdba5574397" /><Relationship Type="http://schemas.openxmlformats.org/officeDocument/2006/relationships/notesSlide" Target="/ppt/notesSlides/notesSlide5.xml" Id="R6d05e99a0e9547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2ea971deaa41fe" /><Relationship Type="http://schemas.openxmlformats.org/officeDocument/2006/relationships/notesSlide" Target="/ppt/notesSlides/notesSlide6.xml" Id="Rc9a29df13f3b4db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7a235c2912416d" /><Relationship Type="http://schemas.openxmlformats.org/officeDocument/2006/relationships/notesSlide" Target="/ppt/notesSlides/notesSlide7.xml" Id="R115a1d934e7d40e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6c3a288f4246e8" /><Relationship Type="http://schemas.openxmlformats.org/officeDocument/2006/relationships/notesSlide" Target="/ppt/notesSlides/notesSlide8.xml" Id="R7d8f03dd604f43c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a050d9650d4b4a" /><Relationship Type="http://schemas.openxmlformats.org/officeDocument/2006/relationships/notesSlide" Target="/ppt/notesSlides/notesSlide9.xml" Id="Ra26ba6a6743742a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835e63fc0547a6" /><Relationship Type="http://schemas.openxmlformats.org/officeDocument/2006/relationships/notesSlide" Target="/ppt/notesSlides/notesSlide10.xml" Id="R8d6ab11517f44ea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4d8ce332c14713" /><Relationship Type="http://schemas.openxmlformats.org/officeDocument/2006/relationships/notesSlide" Target="/ppt/notesSlides/notesSlide11.xml" Id="Rd1fbd28174434db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eeb46177fd4f3f" /><Relationship Type="http://schemas.openxmlformats.org/officeDocument/2006/relationships/notesSlide" Target="/ppt/notesSlides/notesSlide12.xml" Id="Rd1e7267ba2d2418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868e32c86540f6" /><Relationship Type="http://schemas.openxmlformats.org/officeDocument/2006/relationships/notesSlide" Target="/ppt/notesSlides/notesSlide13.xml" Id="R50397b573a63457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e055190f484575" /><Relationship Type="http://schemas.openxmlformats.org/officeDocument/2006/relationships/notesSlide" Target="/ppt/notesSlides/notesSlide14.xml" Id="R335c4ab3dddb406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f871ceec154a6a" /><Relationship Type="http://schemas.openxmlformats.org/officeDocument/2006/relationships/notesSlide" Target="/ppt/notesSlides/notesSlide15.xml" Id="R5145db0db0d945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2FDC39-5A87-49BE-B604-ECDB383621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783F4B-1273-48E8-B12C-6E93D67F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9560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E2D4A"/>
                </a:solidFill>
              </a:defRPr>
            </a:pPr>
            <a:r>
              <a:rPr sz="3150" b="1">
                <a:solidFill>
                  <a:srgbClr val="1E2D4A"/>
                </a:solidFill>
              </a:rPr>
              <a:t>Spin Miner 대형 광물 브레이크 시스템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5638ED-10B5-43E8-A23E-6EB32844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5242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시스템 / 콘텐츠 / UIUX 기획 작업 문서</a:t>
            </a:r>
          </a:p>
        </p:txBody>
      </p:sp>
    </p:spTree>
    <p:extLst>
      <p:ext uri="{BB962C8B-B14F-4D97-AF65-F5344CB8AC3E}">
        <p14:creationId xmlns:p14="http://schemas.microsoft.com/office/powerpoint/2010/main" val="15272195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2FDC39-5A87-49BE-B604-ECDB383621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E38FA4-1E90-49F2-9470-79010CA0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14300"/>
            <a:ext cx="8572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1. 개요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9F00B0-F01C-45FD-B4F8-942697920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A5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32B403-9912-4D50-A713-BEDF0437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781050"/>
            <a:ext cx="1123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020"/>
                </a:solidFill>
              </a:defRPr>
            </a:pPr>
            <a:r>
              <a:rPr sz="1350" b="1">
                <a:solidFill>
                  <a:srgbClr val="202020"/>
                </a:solidFill>
              </a:rPr>
              <a:t>1.1. 시스템 정의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3C6442-A4D7-404B-8A6D-86DE3A40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123950"/>
            <a:ext cx="1028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대형 광물 채굴 중 약점이 노출되고, 약점 공략을 통해 일정 시간 브레이크 상태를 발생시키는 시스템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820293-8214-48F0-B795-1FACFAC2F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400175"/>
            <a:ext cx="1028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브레이크 상태에서는 광물 전체가 취약해져 채굴 효율이 상승한다.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38380F-2D1C-4FC5-B735-4F6DE7E4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676400"/>
            <a:ext cx="1028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약점은 추가 데미지 수단이 아니라 브레이크를 발생시키는 시동기 역할로 정의한다.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B9708E-6D52-4906-BDE1-EFDCF683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209800"/>
            <a:ext cx="1123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020"/>
                </a:solidFill>
              </a:defRPr>
            </a:pPr>
            <a:r>
              <a:rPr sz="1350" b="1">
                <a:solidFill>
                  <a:srgbClr val="202020"/>
                </a:solidFill>
              </a:rPr>
              <a:t>1.2. 적용 목적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625521-CB52-47C4-9F7D-79775DAF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552700"/>
            <a:ext cx="1028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대형 광물 앞에서 단순 대기성 타격이 반복되는 구간에 조작 목적을 부여한다.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1BD790-6C30-4955-9DE4-7503F7AD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828925"/>
            <a:ext cx="1028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약점 노출, 약점 공략, 브레이크 보상 구간을 분리해 플레이 리듬을 만든다.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7BF92A-33D6-4CAF-BB8B-6F8D5FBD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105150"/>
            <a:ext cx="1028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대형 광물 앞에서 플레이어가 위치와 타격 대상을 의식하도록 만든다.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594842-F7FD-42B2-9F6F-C56A4D6D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886200"/>
            <a:ext cx="1123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020"/>
                </a:solidFill>
              </a:defRPr>
            </a:pPr>
            <a:r>
              <a:rPr sz="1350" b="1">
                <a:solidFill>
                  <a:srgbClr val="202020"/>
                </a:solidFill>
              </a:rPr>
              <a:t>1.3. 기대 효과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87C1A7-1A04-4403-A504-D7457AD3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4229100"/>
            <a:ext cx="1028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대형 광물을 오래 때리는 대상이 아니라 공략 대상처럼 인식하게 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4D00D1-A5A8-4731-9A26-61762EC3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4505325"/>
            <a:ext cx="1028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브레이크 타이밍을 통해 짧은 보상 구간을 제공한다.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66E56E-E7DA-4B6D-B66D-3C60B9A64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4781550"/>
            <a:ext cx="1028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대형 광물의 긴 체류 시간을 공략 단계로 분해한다.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9CE827-9FA9-4EE7-8A72-A454713A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5257800"/>
            <a:ext cx="1123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020"/>
                </a:solidFill>
              </a:defRPr>
            </a:pPr>
            <a:r>
              <a:rPr sz="1350" b="1">
                <a:solidFill>
                  <a:srgbClr val="202020"/>
                </a:solidFill>
              </a:rPr>
              <a:t>1.4. 참고 링크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C4C6F8-CD9E-4800-A578-E62B7E65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5600700"/>
            <a:ext cx="1028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2020"/>
                </a:solidFill>
              </a:defRPr>
            </a:pPr>
            <a:r>
              <a:rPr sz="1125" b="0">
                <a:solidFill>
                  <a:srgbClr val="202020"/>
                </a:solidFill>
              </a:rPr>
              <a:t>- GitHub 저장소: https://github.com/bigtory-web/spin-miner-prototype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E7B01F-C386-48C4-A4E4-215494F9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5838825"/>
            <a:ext cx="1028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2020"/>
                </a:solidFill>
              </a:defRPr>
            </a:pPr>
            <a:r>
              <a:rPr sz="1125" b="0">
                <a:solidFill>
                  <a:srgbClr val="202020"/>
                </a:solidFill>
              </a:rPr>
              <a:t>- 플레이 링크: https://bigtory-web.github.io/spin-miner-prototype/</a:t>
            </a:r>
          </a:p>
        </p:txBody>
      </p:sp>
    </p:spTree>
    <p:extLst>
      <p:ext uri="{BB962C8B-B14F-4D97-AF65-F5344CB8AC3E}">
        <p14:creationId xmlns:p14="http://schemas.microsoft.com/office/powerpoint/2010/main" val="5258465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2FDC39-5A87-49BE-B604-ECDB383621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4CC70E-2B6C-4E3C-B9A0-CE7FB942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14300"/>
            <a:ext cx="8572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2. 용어 정의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A1CE62-5BDA-409C-B707-0403F740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A5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FD2C99-DF39-465D-9A61-53D0951DB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91440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F80F41-20B1-4782-9A39-894E3F47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952500"/>
            <a:ext cx="1695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용어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E13BC0-A8A4-4CF4-94FE-B75BBC0D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4400"/>
            <a:ext cx="533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458C1B-0083-46F9-A1F3-17E18B91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952500"/>
            <a:ext cx="5219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정의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E5C148-2BC4-4C09-A737-07CF3DD5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914400"/>
            <a:ext cx="447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6C2D8E-49B7-4D70-A04B-DDAAB5E16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952500"/>
            <a:ext cx="4362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기획상 역할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DBE986-8374-488F-A29A-5F70E62F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50495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705DCA-D6DB-4A40-99A3-5626B82B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543050"/>
            <a:ext cx="1695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FF4EA4-C696-4B0E-9789-FD6CDDE79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504950"/>
            <a:ext cx="533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0E9971-3A7C-469A-BDAE-49E1E3D8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543050"/>
            <a:ext cx="5219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장시간 체류하는 광물 타격 누적 후 외곽선 근처에 등장하는 공략 포인트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0E49DA-10AF-4998-B58C-E1B22F44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504950"/>
            <a:ext cx="447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A6DD05-A3E0-4DFF-8734-4DAD075E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543050"/>
            <a:ext cx="4362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브레이크를 발생시키기 위한 시동기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A6D0A0-6887-40BA-A15B-F572EDDF4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09550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199911-3032-4CF2-AF49-8751BFA8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133600"/>
            <a:ext cx="1695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브레이크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737971-450B-4D21-85B0-62F87018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95500"/>
            <a:ext cx="533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B01960-49F0-4F42-ADDF-C64A4E42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133600"/>
            <a:ext cx="5219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 공략이 완료되면 일정 시간 발생하는 광물 취약 상태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E23633-4BCB-4905-AE11-41B4F4F4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95500"/>
            <a:ext cx="447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B71A1E-7512-440F-B4F9-7BF6E5560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33600"/>
            <a:ext cx="4362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긴 체류 구간 중간에 리듬 변화를 주는 보상 구간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AD7C3D-A6F6-4748-B320-E43D3F850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68605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6CB521-CF15-4290-823C-CD041643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724150"/>
            <a:ext cx="1695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균열 진행도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91C47-32E1-46ED-A54C-5FAAA70E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686050"/>
            <a:ext cx="533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3BEA09-5BA8-4F0E-A226-3E16444E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724150"/>
            <a:ext cx="5219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 타격으로 누적되는 브레이크 발생 진행값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764923-EBE5-4A72-AD33-37C5D777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86050"/>
            <a:ext cx="447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FB6651-317B-4201-9D20-5703EF11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724150"/>
            <a:ext cx="4362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 공략의 누적 피드백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3A35F8-DE08-495C-AB2F-954EC1FF6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27660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D416A3-FC46-4674-8917-6471F356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3314700"/>
            <a:ext cx="1695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브레이크 적용 광물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40398F-04D5-4C75-967D-05AFC8CB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76600"/>
            <a:ext cx="533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E7A74C-60AA-4FB8-B7FF-9174571F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314700"/>
            <a:ext cx="5219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일반 채굴 대상이 아니라 브레이크 규칙을 적용받는 광물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FE3923-E79A-4399-ACCC-DA1A509C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76600"/>
            <a:ext cx="447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7E1B44-12DB-4EBE-B9A9-7BC32BB72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314700"/>
            <a:ext cx="4362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장시간 체류 구간에 리듬 변화를 부여할 대상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BC382B0-982D-49C4-91AC-05D2821B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991100"/>
            <a:ext cx="10858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C8A600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74BED8-54FC-43DF-BA48-6734AF3C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1816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2020"/>
                </a:solidFill>
              </a:defRPr>
            </a:pPr>
            <a:r>
              <a:rPr sz="1275" b="1">
                <a:solidFill>
                  <a:srgbClr val="202020"/>
                </a:solidFill>
              </a:rPr>
              <a:t>작성 기준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1045BC-4D5B-4A62-BC5F-D9AEAB81F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8160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본 문서는 프로토타입 전체 규칙이 아니라 대형 광물 브레이크 시스템의 적용 조건, 상태, 연출 피드백을 정의하는 문서다.</a:t>
            </a:r>
          </a:p>
        </p:txBody>
      </p:sp>
    </p:spTree>
    <p:extLst>
      <p:ext uri="{BB962C8B-B14F-4D97-AF65-F5344CB8AC3E}">
        <p14:creationId xmlns:p14="http://schemas.microsoft.com/office/powerpoint/2010/main" val="3931324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2FDC39-5A87-49BE-B604-ECDB383621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6A97D7-9997-47B9-8DEE-859FFE64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14300"/>
            <a:ext cx="8572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3. 기존 플레이 관찰 및 설계 방향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36A3FC-22E3-4876-9C55-2638DA31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A5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E76F12-75CC-464B-85E5-C945114F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800100"/>
            <a:ext cx="1123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020"/>
                </a:solidFill>
              </a:defRPr>
            </a:pPr>
            <a:r>
              <a:rPr sz="1350" b="1">
                <a:solidFill>
                  <a:srgbClr val="202020"/>
                </a:solidFill>
              </a:rPr>
              <a:t>3.1. 관찰 내용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D66BB2-24E3-4D19-9C79-81722143E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162050"/>
            <a:ext cx="152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C8D893-663C-43BE-BA0F-5440BD26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200150"/>
            <a:ext cx="1409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구분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8DF122-B47A-419D-950C-0DBE1315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162050"/>
            <a:ext cx="4286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447D16-4757-457F-941A-79E1C0D4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200150"/>
            <a:ext cx="4171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관찰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B7437C-ADC6-4DE7-8C2D-FA36754C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162050"/>
            <a:ext cx="581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F0D652-45BA-46E8-ABC4-1C300121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200150"/>
            <a:ext cx="5695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기획 해석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74E6F6-C073-4D11-8A59-443C3699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619250"/>
            <a:ext cx="152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F3A05D-80EC-4FDD-BDE7-598247CC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657350"/>
            <a:ext cx="1409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소형 광물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72E069-DA5B-410B-91C8-B2717207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19250"/>
            <a:ext cx="4286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2A61A8-9B77-40B2-AA73-450013E1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657350"/>
            <a:ext cx="4171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이동-타격-수집 주기가 짧음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8F9A9F-A8C1-436D-AAE5-B1D7E6D6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19250"/>
            <a:ext cx="581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0D9CD5-B22E-4497-863B-01B666844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657350"/>
            <a:ext cx="5695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짧은 반복으로 플레이 리듬이 빠르게 유지됨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A1FA5A-EF63-45D7-B7A1-FBF8F78EA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076450"/>
            <a:ext cx="152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C653F4-7D09-43B3-8CD0-335883697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2114550"/>
            <a:ext cx="1409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장기 체류 광물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27F1C5-73F5-4E5D-976D-AD4EA70C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76450"/>
            <a:ext cx="4286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3757F1-32DB-445B-91D8-5A5F3D80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114550"/>
            <a:ext cx="4171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HP가 높아 같은 타격이 오래 반복됨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B03F64-0816-42B5-875C-47E8ED5A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76450"/>
            <a:ext cx="581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9FAD32-AC64-4867-A015-FB25252D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114550"/>
            <a:ext cx="5695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목표감은 있으나 조작 선택지가 부족할 수 있음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2D635B-294F-4C20-AAF3-E31E5ECA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533650"/>
            <a:ext cx="152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A2E75E-BCC9-4579-B636-57759D176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2571750"/>
            <a:ext cx="1409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브레이크 적용 대상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E180C7-F956-464D-A876-ABDE3402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33650"/>
            <a:ext cx="4286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51610D-0653-4FF5-8264-6FDB2B24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71750"/>
            <a:ext cx="4171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특정 광물만 별도 공략 대상으로 지정 가능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D8B380-6ECC-4F00-BEAF-9C4C24B5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33650"/>
            <a:ext cx="581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94A00E-5D3E-42C1-AB4B-2F90FA8A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571750"/>
            <a:ext cx="5695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모든 광물이 아니라 긴 체류 광물에만 보조 규칙 적용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B4E727-9A67-42A8-A8CE-274EA6FE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067050"/>
            <a:ext cx="1123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020"/>
                </a:solidFill>
              </a:defRPr>
            </a:pPr>
            <a:r>
              <a:rPr sz="1350" b="1">
                <a:solidFill>
                  <a:srgbClr val="202020"/>
                </a:solidFill>
              </a:rPr>
              <a:t>3.2. 설계 방향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397918-82DE-4556-AA15-70C90B47A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429000"/>
            <a:ext cx="1028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장시간 체류하는 광물의 긴 채굴 시간을 단순 HP 증가가 아닌 단계형 공략 구조로 전환한다.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C6EED5-D6CE-4C0B-B428-A70C85600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705225"/>
            <a:ext cx="1028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약점 노출 전후, 브레이크 전후의 피드백을 명확히 분리한다.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2CFDB3-CB4F-4CD0-BD04-CF38D162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981450"/>
            <a:ext cx="1028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데미지는 곡괭이 기본 성능을 기준으로 고정하고, 브레이크는 보상 배율로만 처리한다.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E88643-E47E-4F45-969E-65164625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4762500"/>
            <a:ext cx="11239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C8A600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3227E2-5432-4DFD-B7CE-6CBB0D7A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49530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2020"/>
                </a:solidFill>
              </a:defRPr>
            </a:pPr>
            <a:r>
              <a:rPr sz="1275" b="1">
                <a:solidFill>
                  <a:srgbClr val="202020"/>
                </a:solidFill>
              </a:rPr>
              <a:t>문서 표현 기준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71E9DB-6059-4BEF-89C8-8C677A5E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5257800"/>
            <a:ext cx="1066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본 문서는 원작 개선 완료 보고가 아니라, 라이브 게임 관찰을 기반으로 한 시스템 제안 및 프로토타입 검증 문서로 작성한다.</a:t>
            </a:r>
          </a:p>
        </p:txBody>
      </p:sp>
    </p:spTree>
    <p:extLst>
      <p:ext uri="{BB962C8B-B14F-4D97-AF65-F5344CB8AC3E}">
        <p14:creationId xmlns:p14="http://schemas.microsoft.com/office/powerpoint/2010/main" val="19144506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2FDC39-5A87-49BE-B604-ECDB383621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955EC9-AFCE-4850-86FE-46AC3A9C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14300"/>
            <a:ext cx="8572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4. 브레이크 시스템 기본 플로우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2D884F-74B1-4153-AEAC-44E2B411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A5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89BFFC-3F02-4585-AC56-71FAC0A7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990600"/>
            <a:ext cx="177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52F53A-2342-4C75-90D7-5D333A6E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200150"/>
            <a:ext cx="1663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020"/>
                </a:solidFill>
              </a:defRPr>
            </a:pPr>
            <a:r>
              <a:rPr sz="1125" b="1">
                <a:solidFill>
                  <a:srgbClr val="202020"/>
                </a:solidFill>
              </a:rPr>
              <a:t>장기 체류 광물 접근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13C000-0DF4-4847-B26D-D57389A9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650" y="1190625"/>
            <a:ext cx="171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02020"/>
                </a:solidFill>
              </a:defRPr>
            </a:pPr>
            <a:r>
              <a:rPr sz="1500" b="1">
                <a:solidFill>
                  <a:srgbClr val="202020"/>
                </a:solidFill>
              </a:rPr>
              <a:t>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8D29A6-9AB3-4744-AD90-CC42D52E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8050" y="990600"/>
            <a:ext cx="177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5A4204-507D-4081-8A3F-CED4DBDB4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200" y="1200150"/>
            <a:ext cx="1663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020"/>
                </a:solidFill>
              </a:defRPr>
            </a:pPr>
            <a:r>
              <a:rPr sz="1125" b="1">
                <a:solidFill>
                  <a:srgbClr val="202020"/>
                </a:solidFill>
              </a:rPr>
              <a:t>몸통 타격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974882-E441-4CB8-939F-7DC1779A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5100" y="1190625"/>
            <a:ext cx="171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02020"/>
                </a:solidFill>
              </a:defRPr>
            </a:pPr>
            <a:r>
              <a:rPr sz="1500" b="1">
                <a:solidFill>
                  <a:srgbClr val="202020"/>
                </a:solidFill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896ECE-C9D1-48BC-A15F-E7158FC1D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7500" y="990600"/>
            <a:ext cx="177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3811FD-FE05-4E8C-92AF-56CEF26F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1200150"/>
            <a:ext cx="1663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020"/>
                </a:solidFill>
              </a:defRPr>
            </a:pPr>
            <a:r>
              <a:rPr sz="1125" b="1">
                <a:solidFill>
                  <a:srgbClr val="202020"/>
                </a:solidFill>
              </a:rPr>
              <a:t>약점 노출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B457C9-2BD0-4536-B416-3B7CE216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190625"/>
            <a:ext cx="171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02020"/>
                </a:solidFill>
              </a:defRPr>
            </a:pPr>
            <a:r>
              <a:rPr sz="1500" b="1">
                <a:solidFill>
                  <a:srgbClr val="202020"/>
                </a:solidFill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CAEA74-A5D4-4E09-9635-D19FC0B07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990600"/>
            <a:ext cx="177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AD8E52-5DBA-4465-80D2-389A8D5F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200150"/>
            <a:ext cx="1663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020"/>
                </a:solidFill>
              </a:defRPr>
            </a:pPr>
            <a:r>
              <a:rPr sz="1125" b="1">
                <a:solidFill>
                  <a:srgbClr val="202020"/>
                </a:solidFill>
              </a:rPr>
              <a:t>약점 공략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8D46D6-399C-4D2F-8584-B9204E04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190625"/>
            <a:ext cx="171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02020"/>
                </a:solidFill>
              </a:defRPr>
            </a:pPr>
            <a:r>
              <a:rPr sz="1500" b="1">
                <a:solidFill>
                  <a:srgbClr val="202020"/>
                </a:solidFill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2A5CB0-9FA4-4132-A7A0-33222A73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990600"/>
            <a:ext cx="177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FC8F07-5F49-4F38-A1CA-2768DCA7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550" y="1200150"/>
            <a:ext cx="1663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020"/>
                </a:solidFill>
              </a:defRPr>
            </a:pPr>
            <a:r>
              <a:rPr sz="1125" b="1">
                <a:solidFill>
                  <a:srgbClr val="202020"/>
                </a:solidFill>
              </a:rPr>
              <a:t>브레이크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65635A-665B-4B53-85AE-F2A6E686E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3450" y="1190625"/>
            <a:ext cx="171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02020"/>
                </a:solidFill>
              </a:defRPr>
            </a:pPr>
            <a:r>
              <a:rPr sz="1500" b="1">
                <a:solidFill>
                  <a:srgbClr val="202020"/>
                </a:solidFill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6928D8-8338-4A7D-BAAB-D4EBEE34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5850" y="990600"/>
            <a:ext cx="177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C0A681-B324-4CC1-AEAE-EE4FA4D4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3000" y="1200150"/>
            <a:ext cx="1663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020"/>
                </a:solidFill>
              </a:defRPr>
            </a:pPr>
            <a:r>
              <a:rPr sz="1125" b="1">
                <a:solidFill>
                  <a:srgbClr val="202020"/>
                </a:solidFill>
              </a:rPr>
              <a:t>일반 상태 복귀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909143-EA3B-45D6-AA3A-A9704C2D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114550"/>
            <a:ext cx="1123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020"/>
                </a:solidFill>
              </a:defRPr>
            </a:pPr>
            <a:r>
              <a:rPr sz="1350" b="1">
                <a:solidFill>
                  <a:srgbClr val="202020"/>
                </a:solidFill>
              </a:rPr>
              <a:t>4.1. 기본 플로우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1C280A-119B-4B7D-96CB-5B5D7CC7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457450"/>
            <a:ext cx="1028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플레이어는 WASD 또는 드래그로 이동하며, 회전 곡괭이가 광물과 접촉하면 타격한다.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565DEA-AD1A-45C4-BEBC-005F75787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743200"/>
            <a:ext cx="1028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브레이크 적용 분류로 지정된 광물은 타격 누적 후 약점이 등장한다.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882D62-AA98-455F-98BC-1BFC4558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028950"/>
            <a:ext cx="1028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약점 타격 누적으로 브레이크 상태에 진입한다.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9C7D8C-01A2-4D22-8C59-CFD980C4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314700"/>
            <a:ext cx="1028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브레이크 시간이 종료되면 약점은 숨겨지고 일반 타격 상태로 복귀한다.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0C1C34-EA96-46E1-A878-0DB77DFB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600450"/>
            <a:ext cx="1028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프로토타입 전체 진행 조건은 본 문서의 설명 범위에서 제외한다.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62B67D-A58C-4BD7-A247-9B1A94BD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4267200"/>
            <a:ext cx="1123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020"/>
                </a:solidFill>
              </a:defRPr>
            </a:pPr>
            <a:r>
              <a:rPr sz="1350" b="1">
                <a:solidFill>
                  <a:srgbClr val="202020"/>
                </a:solidFill>
              </a:rPr>
              <a:t>4.2. 적용 범위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46AD17-4C68-4636-AC48-5DD5B5C3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4610100"/>
            <a:ext cx="1028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광물 데이터에서 브레이크 적용 여부를 제어한다.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69797B-8EC7-4CAB-A272-95ADB28C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4886325"/>
            <a:ext cx="1028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브레이크 적용 대상이 아닌 광물은 기존 채굴 처리만 유지한다.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4354C4-0B36-4793-9679-606179A9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5162550"/>
            <a:ext cx="1028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원작의 실제 진행/보상 규칙과는 분리해 작성한다.</a:t>
            </a:r>
          </a:p>
        </p:txBody>
      </p:sp>
    </p:spTree>
    <p:extLst>
      <p:ext uri="{BB962C8B-B14F-4D97-AF65-F5344CB8AC3E}">
        <p14:creationId xmlns:p14="http://schemas.microsoft.com/office/powerpoint/2010/main" val="5197219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2FDC39-5A87-49BE-B604-ECDB383621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DF1B71-A9BF-45E7-ADBC-DA4499FC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14300"/>
            <a:ext cx="8572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5. 브레이크 시스템 상세 플로우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B87362-784A-4A77-8BD6-9A50BFA1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A5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24638C-CCE1-4D65-9D91-B1D470D9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90600"/>
            <a:ext cx="1730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E231BA-8139-4ADA-B4CB-CD7B22F8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28725"/>
            <a:ext cx="16160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020"/>
                </a:solidFill>
              </a:defRPr>
            </a:pPr>
            <a:r>
              <a:rPr sz="1125" b="1">
                <a:solidFill>
                  <a:srgbClr val="202020"/>
                </a:solidFill>
              </a:rPr>
              <a:t>일반 타격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E954B6-7058-4F21-AEFA-B7011FFB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5175" y="1219200"/>
            <a:ext cx="171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02020"/>
                </a:solidFill>
              </a:defRPr>
            </a:pPr>
            <a:r>
              <a:rPr sz="1500" b="1">
                <a:solidFill>
                  <a:srgbClr val="202020"/>
                </a:solidFill>
              </a:rPr>
              <a:t>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23FF6E-F1E1-41CE-9C49-A23DB6DF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7575" y="990600"/>
            <a:ext cx="1730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522287-A772-40B9-8006-3697A7BF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4725" y="1228725"/>
            <a:ext cx="16160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020"/>
                </a:solidFill>
              </a:defRPr>
            </a:pPr>
            <a:r>
              <a:rPr sz="1125" b="1">
                <a:solidFill>
                  <a:srgbClr val="202020"/>
                </a:solidFill>
              </a:rPr>
              <a:t>약점 등장 조건 충족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E7D94E-24E7-43AD-9FC2-62AF3A3B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0" y="1219200"/>
            <a:ext cx="171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02020"/>
                </a:solidFill>
              </a:defRPr>
            </a:pPr>
            <a:r>
              <a:rPr sz="1500" b="1">
                <a:solidFill>
                  <a:srgbClr val="202020"/>
                </a:solidFill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7443C5-7A95-4ADA-95D7-D0E469E0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9400" y="990600"/>
            <a:ext cx="1730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F75B2D-12AE-49F0-A951-2D99F1475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6550" y="1228725"/>
            <a:ext cx="16160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020"/>
                </a:solidFill>
              </a:defRPr>
            </a:pPr>
            <a:r>
              <a:rPr sz="1125" b="1">
                <a:solidFill>
                  <a:srgbClr val="202020"/>
                </a:solidFill>
              </a:rPr>
              <a:t>약점 즉시 등장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DE8324-83F2-4E82-B0CE-12A8635E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219200"/>
            <a:ext cx="171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02020"/>
                </a:solidFill>
              </a:defRPr>
            </a:pPr>
            <a:r>
              <a:rPr sz="1500" b="1">
                <a:solidFill>
                  <a:srgbClr val="202020"/>
                </a:solidFill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01156F-DC9C-4385-8837-2592C107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990600"/>
            <a:ext cx="1730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F5F992-DA30-438E-ABAD-545308FA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228725"/>
            <a:ext cx="16160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020"/>
                </a:solidFill>
              </a:defRPr>
            </a:pPr>
            <a:r>
              <a:rPr sz="1125" b="1">
                <a:solidFill>
                  <a:srgbClr val="202020"/>
                </a:solidFill>
              </a:rPr>
              <a:t>약점 반복 타격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9FDE6C-9FBF-46FD-93C7-8CE0F0F9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0650" y="1219200"/>
            <a:ext cx="171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02020"/>
                </a:solidFill>
              </a:defRPr>
            </a:pPr>
            <a:r>
              <a:rPr sz="1500" b="1">
                <a:solidFill>
                  <a:srgbClr val="202020"/>
                </a:solidFill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CEE9E1-6C7A-4B0F-8E11-AFB4DAC8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3050" y="990600"/>
            <a:ext cx="1730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26902F-FB9E-48EA-AE20-17A15F85A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1228725"/>
            <a:ext cx="16160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020"/>
                </a:solidFill>
              </a:defRPr>
            </a:pPr>
            <a:r>
              <a:rPr sz="1125" b="1">
                <a:solidFill>
                  <a:srgbClr val="202020"/>
                </a:solidFill>
              </a:rPr>
              <a:t>브레이크 발생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EDC1EA-6646-457C-AAA3-3E30DCB4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2475" y="1219200"/>
            <a:ext cx="171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02020"/>
                </a:solidFill>
              </a:defRPr>
            </a:pPr>
            <a:r>
              <a:rPr sz="1500" b="1">
                <a:solidFill>
                  <a:srgbClr val="202020"/>
                </a:solidFill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6C11B6-62F7-498D-8420-5498F4796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4875" y="990600"/>
            <a:ext cx="1730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9E267A-0C86-4FA5-90DE-C5905759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2025" y="1228725"/>
            <a:ext cx="16160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020"/>
                </a:solidFill>
              </a:defRPr>
            </a:pPr>
            <a:r>
              <a:rPr sz="1125" b="1">
                <a:solidFill>
                  <a:srgbClr val="202020"/>
                </a:solidFill>
              </a:rPr>
              <a:t>일반 상태 복귀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D73233-8CE2-480A-8E6B-974EFF33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19075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7A7E56-F002-4CED-9BC4-83B0AE17E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228850"/>
            <a:ext cx="12668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단계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96DB22-6BCB-4449-9EDA-5F415ADEA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190750"/>
            <a:ext cx="2905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9F971A-5FB1-4D1C-836C-CE736521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228850"/>
            <a:ext cx="27908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조건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E64D4C-5652-4322-B400-EDA947D0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85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91A010-9E5D-4DB3-98F4-C9A688A1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28850"/>
            <a:ext cx="37433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표현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10968D-52EB-410C-98A3-C976C489B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9075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BE8C83-D568-40E3-9CD7-BAD602FC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228850"/>
            <a:ext cx="3028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결과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02DF9D-32AA-45A1-A55F-BC18D655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74320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4DF641-D978-4AB2-955A-711F2439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781300"/>
            <a:ext cx="12668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일반 타격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0590B5-D304-402D-9C9C-85B79A56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43200"/>
            <a:ext cx="2905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BAACF6-2DB3-45F1-A01D-200D9202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781300"/>
            <a:ext cx="27908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광물 몸통에 곡괭이 접촉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8B104D-237A-4D1F-AF36-C9814D03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43200"/>
            <a:ext cx="385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C2E91A-3EDF-4EEB-A155-28F0C516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81300"/>
            <a:ext cx="37433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광물 피격 스케일 연출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E3B0912-8BEC-482C-B065-05DCEB5D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74320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D9CF85F-04BB-4D2A-82FB-E156D91F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781300"/>
            <a:ext cx="3028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HP 감소 / 약점 노출 카운트 증가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4FA18D0-5F56-47A2-A9B4-3250F90A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29565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DFED0F1-9A27-4BEB-A355-6EDC8DFD6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3333750"/>
            <a:ext cx="12668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 노출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A1BDB8C-CFDB-4C71-AAA9-86ED8C824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295650"/>
            <a:ext cx="2905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8E23E81-1E4F-4F25-B601-EC739A67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333750"/>
            <a:ext cx="27908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노출 조건 충족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8EA5EBB-BFBB-4FCB-8B4B-DDC68FB9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95650"/>
            <a:ext cx="385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5F171C9-633F-437F-B8D5-8BF21F85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33750"/>
            <a:ext cx="37433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외곽선 근처에 X 마크 즉시 등장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351FF9B-AA73-471B-A017-7B6B953EF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9565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5982075-E687-45AD-8F9E-A82ED54F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333750"/>
            <a:ext cx="3028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 타격 가능 상태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35F6469-F5E0-4029-BA9F-C0356170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84810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6E71F9D-9B60-471B-BFB2-AF5FF79E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3886200"/>
            <a:ext cx="12668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 공략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1E17D39-2A9F-4557-92C9-B3529A90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848100"/>
            <a:ext cx="2905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00D09D9-D6AC-4766-895C-8EA02481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886200"/>
            <a:ext cx="27908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곡괭이가 약점 판정 반경 접촉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D31D039-EB5A-4CE4-ACDA-4616F4B0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48100"/>
            <a:ext cx="385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86C1D21-5978-48E5-AF22-65759A55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886200"/>
            <a:ext cx="37433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 마크 피격 연출 / 크기 증가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B88B4AC-134D-4846-9A10-53C3FAF6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84810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E59ECD2-7E67-4585-BE68-843565D8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886200"/>
            <a:ext cx="3028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균열 진행도 증가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4805D7B-CC00-4524-979B-D2ECD7E1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40055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CCB2432-64B3-4A09-9551-D8FA7965D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4438650"/>
            <a:ext cx="12668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브레이크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F20958E-F9D7-47EA-8931-69E3327A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400550"/>
            <a:ext cx="2905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1BF4355-6EE6-4D93-8EAB-DEF44FA7B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438650"/>
            <a:ext cx="27908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균열 100%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057F37B-CB34-4E98-AD5D-B04452BC7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00550"/>
            <a:ext cx="385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B122430-E230-4C48-8FA1-508C33C2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38650"/>
            <a:ext cx="37433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광물 외곽 라인 확산 후 복귀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948165A-35F9-4CA4-A153-9F4293D7C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40055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49EEC09-B43E-4FED-8648-4461C705D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438650"/>
            <a:ext cx="3028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일정 시간 피해 배율 적용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CACA97B-C407-4B44-AE96-25F8217BC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95300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65C12DF-9D5D-4538-8B6D-2FEED299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4991100"/>
            <a:ext cx="12668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복귀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1C48EDC-E17E-4EAF-B2D5-8CB8A938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953000"/>
            <a:ext cx="2905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5CBDFF4-5021-448F-A81F-C72809F74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991100"/>
            <a:ext cx="27908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브레이크 시간 종료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E42DAD6-CFDB-40EF-9C95-DF9B6015F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53000"/>
            <a:ext cx="385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8D701DF-E837-4DC3-AF6B-E6A3687E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991100"/>
            <a:ext cx="37433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 숨김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733BEFF-A3E7-48F1-8B64-9156174A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5300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5F5C2DC-E0C7-4C8E-95DD-33BFB7000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991100"/>
            <a:ext cx="3028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일반 상태로 복귀</a:t>
            </a:r>
          </a:p>
        </p:txBody>
      </p:sp>
    </p:spTree>
    <p:extLst>
      <p:ext uri="{BB962C8B-B14F-4D97-AF65-F5344CB8AC3E}">
        <p14:creationId xmlns:p14="http://schemas.microsoft.com/office/powerpoint/2010/main" val="10047359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2FDC39-5A87-49BE-B604-ECDB383621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DB901A-44A9-4377-AB08-A33550AE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14300"/>
            <a:ext cx="8572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6. 약점 규칙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313B0B-0E7F-4152-883C-2F5202B8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A5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DEBBEB-7FA2-4C75-A13C-9F068915B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91440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B9E9A6-3496-410B-9290-BC5D742A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952500"/>
            <a:ext cx="2076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항목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FB4E73-1918-48C3-AABE-BDC884F06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91440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5E897E-8F98-4049-8AE2-4D10E5662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952500"/>
            <a:ext cx="2362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7E5F42-35DA-4C65-BD99-00D0FC44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914400"/>
            <a:ext cx="685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5A595E-F369-472C-A3BA-B57E5A6C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952500"/>
            <a:ext cx="6743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설명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6FC699-3389-43E2-8529-EC5A0CEA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42875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41DEB6-E59E-45AC-8DA4-BF82D013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466850"/>
            <a:ext cx="2076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 노출 조건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A7913E-E2E3-4CF2-82C2-2C5085CBA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42875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FB45F5-209B-4400-A2E2-9BF3D935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466850"/>
            <a:ext cx="2362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몸통 타격 120회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D2F571-EA65-40CE-9174-131B6786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428750"/>
            <a:ext cx="685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C5C743-86BA-49C8-A7BF-C8DA32EE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466850"/>
            <a:ext cx="6743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 2초 내외. 프레임이 아니라 실제 타격 횟수 기준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D4DAF4-EAD3-448C-AC7F-C95F1BB3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4310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9C0608-0A47-4C9D-9197-22228FDC7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981200"/>
            <a:ext cx="2076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 판정 반경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6C64EC-FFF0-4869-930D-0161B1A6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94310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E05E58-6A7A-4484-8B39-6EE98610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981200"/>
            <a:ext cx="2362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17px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E4278D-61E7-4F23-B627-8600B9D5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43100"/>
            <a:ext cx="685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65CF77-E714-45B1-A042-9FAE363B1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981200"/>
            <a:ext cx="6743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곡괭이가 약점에 닿았는지 판단하는 반경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0928EB-D05F-4E58-A88B-14F18647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45745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99BB55-0C0B-4A43-9267-C2059E98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495550"/>
            <a:ext cx="2076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 진행 증가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96907F-9679-4EBE-A2F7-A3002ADB8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5745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FAD49B-809D-4995-8721-15AC4297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495550"/>
            <a:ext cx="2362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1타당 +1.25%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D4E4BC-D3D2-4289-816D-772CC9DA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57450"/>
            <a:ext cx="685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57A93B-15A9-4A25-A7A5-C35DFED5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495550"/>
            <a:ext cx="6743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80회 약점 타격 시 브레이크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E59BDB-5BCC-4FB6-8D1F-A6964000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97180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3B7136-A0DA-488F-946F-D88B40E6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3009900"/>
            <a:ext cx="2076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 이동 주기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31C6DF-EA37-4988-873C-5E1B0C33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97180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48DE2D-06A7-4A3F-86C6-A248BE51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009900"/>
            <a:ext cx="2362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6.5초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CCCA9A-D763-4D84-9E0D-62EC512A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971800"/>
            <a:ext cx="685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C58FA7-1595-4991-B469-01C0A370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009900"/>
            <a:ext cx="6743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같은 위치 고정 피로도를 줄이기 위한 이동 주기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8E6FC0-C506-4290-B19F-0762BA3B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48615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990609B-C130-48F3-B1F2-1C2FED3E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3524250"/>
            <a:ext cx="2076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브레이크 중 약점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5295AA-FE75-4BB7-A91C-891DCECD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8615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0ECAB35-5E54-4773-BED6-D93016D87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524250"/>
            <a:ext cx="2362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비노출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88E0A9F-D981-4DC0-9E42-48C60B7A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486150"/>
            <a:ext cx="685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52E1E19-BDD6-4643-A656-C578C802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524250"/>
            <a:ext cx="6743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약점은 브레이크 시동기이므로 브레이크 중에는 숨김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022DFEF-7A37-4316-A5C7-045ED792F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095750"/>
            <a:ext cx="1123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020"/>
                </a:solidFill>
              </a:defRPr>
            </a:pPr>
            <a:r>
              <a:rPr sz="1350" b="1">
                <a:solidFill>
                  <a:srgbClr val="202020"/>
                </a:solidFill>
              </a:rPr>
              <a:t>6.1. 약점 위치 규칙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5177067-1E8A-479E-AEDD-630AFA5D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438650"/>
            <a:ext cx="1028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약점은 광물 외곽선 근처에 생성한다.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7672BDF-33F2-40FB-A4F1-1D63721A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714875"/>
            <a:ext cx="1028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플레이어가 타격한 방향 주변에 생성하되, 정확히 같은 위치에는 생성하지 않는다.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EE58EFC-E3A3-43C0-927E-1698CA93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991100"/>
            <a:ext cx="1028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캐릭터가 접근 불가능한 중심부나 광물 안쪽 깊은 위치에는 생성하지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3773592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2FDC39-5A87-49BE-B604-ECDB383621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5F6603-0B8E-4652-92D6-5B3D2152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14300"/>
            <a:ext cx="8572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7. 데미지 / 적용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E1A247-0529-4D1A-B1D8-0469F426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A5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9F9DFB-FBA1-4B71-B514-E158A9FF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914400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6F7040-D424-4F08-8795-E5CF6E50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952500"/>
            <a:ext cx="207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항목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740C43-7961-4E4C-AAA8-A9CB5692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914400"/>
            <a:ext cx="295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EC6A89-806B-4200-8C02-A4A471CF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952500"/>
            <a:ext cx="2838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0DF7C6-9D88-432C-B5D9-6FB626C83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914400"/>
            <a:ext cx="647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F88860-055E-48A2-B6EC-F3B3E822D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952500"/>
            <a:ext cx="6362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의도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58AAFE-B8A5-4D64-A871-A73AFA72B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409700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E1D002-FBFF-47C6-AD32-9458660C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447800"/>
            <a:ext cx="207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기본 타격 데미지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91B81E-5C80-4E37-9E5E-6E8486428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409700"/>
            <a:ext cx="295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84C16D-CE06-4A46-AACC-3AF54FFB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447800"/>
            <a:ext cx="2838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9.2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BA6B42-8401-48E2-8293-B92D2F8A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09700"/>
            <a:ext cx="647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6F111C-9F06-42AF-8D9B-01812D36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447800"/>
            <a:ext cx="6362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곡괭이 자체 데미지. 광물 크기와 무관하게 동일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5E8761-8617-4341-8793-32515143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05000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9F79B6-E8F8-473A-99C7-9377258B4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943100"/>
            <a:ext cx="207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브레이크 데미지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338C03-E8B5-4D31-94FF-3A15C7BB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905000"/>
            <a:ext cx="295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423F9C-5078-4A55-B873-ABD38859A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943100"/>
            <a:ext cx="2838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9.2 x 1.8 = 16.56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1FFA2C-2E9A-40FC-A8FB-E6F8E459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05000"/>
            <a:ext cx="647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ACC773-2F33-4377-B4CE-DB5F6C02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943100"/>
            <a:ext cx="6362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공략 성공 후 보상 구간 체감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010A1A-2DAE-4F75-B799-93F410B5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400300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49218D-B691-44F1-A7E3-89DF0A81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438400"/>
            <a:ext cx="207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적용 분류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F079E9-BC22-42AB-AC52-0C514C34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00300"/>
            <a:ext cx="295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9BF1F9-34BB-42C6-9707-1ED7FA0E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438400"/>
            <a:ext cx="2838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BreakGroup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3E9964-74C1-4647-A6EB-66B8D8DA0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00300"/>
            <a:ext cx="647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822369-6338-426A-89B6-1E778B49E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438400"/>
            <a:ext cx="6362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장기 체류 광물에만 약점/브레이크 연출 적용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ED14F9-1536-4EE6-AA53-A1C3D50D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895600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EC62E7-1E19-4662-9741-6E191D4C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933700"/>
            <a:ext cx="207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일반 분류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B465C8-00C4-4B4C-A915-E6ACA276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95600"/>
            <a:ext cx="295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D9D536-9014-4234-B647-E38919F9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933700"/>
            <a:ext cx="2838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Normal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0AB33B-24CC-4AA0-A555-2F2D4B23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95600"/>
            <a:ext cx="647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E1230A-53DE-4955-8D85-88F7B108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933700"/>
            <a:ext cx="6362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기존 채굴 처리만 유지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150A5B-E0B9-4B6E-A4C4-185AA96F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390900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00FB1D-D41E-4B13-ACBE-5E9D3145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3429000"/>
            <a:ext cx="207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광물 HP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E9F340D-7B74-486A-8895-87F823A2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90900"/>
            <a:ext cx="295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2FB6132-D10F-4ABA-B869-812E1C7C9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429000"/>
            <a:ext cx="2838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별도 광물 데이터 사용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723C39E-240B-48EB-97C9-F65DF845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390900"/>
            <a:ext cx="647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482E0DD-1A49-4A37-8BE9-DA343648B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429000"/>
            <a:ext cx="6362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프로토타입 검증 수치는 문서 기준값에서 제외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89A9E54-514B-4965-82A9-4D6C2646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886200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A9EC4A7-78B5-42B9-A665-41CB5CA22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3924300"/>
            <a:ext cx="207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적용 조건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438BD60-A405-4485-9D96-72AF5B73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86200"/>
            <a:ext cx="295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4B2BA8B-8EFA-4FA9-8525-B23417D1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924300"/>
            <a:ext cx="2838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상대적 장기 체류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635AFB3-1F29-4FE9-A39C-F9A37F31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886200"/>
            <a:ext cx="647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CE8CAD6-E996-435C-836D-E03106E8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924300"/>
            <a:ext cx="6362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현재 기대 채굴 성능 대비 체류 시간이 길 때 적용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26B0307-B821-4DE3-B4FC-468BB5A4C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762500"/>
            <a:ext cx="10953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C8A600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6BA34C4-C10E-4D62-9955-B1EBA634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9530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2020"/>
                </a:solidFill>
              </a:defRPr>
            </a:pPr>
            <a:r>
              <a:rPr sz="1275" b="1">
                <a:solidFill>
                  <a:srgbClr val="202020"/>
                </a:solidFill>
              </a:rPr>
              <a:t>밸런스 기준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B4F44E3-AD81-45BC-8AA9-5C3E28F7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238750"/>
            <a:ext cx="1028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81141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광물 크기에 따라 기본 데미지를 퍼센트로 바꾸지 않는다. 곡괭이의 기본 성능은 항상 9.2이며, 브레이크는 현재 기대 채굴 성능 대비 장기 체류가 발생하는 광물에만 별도 보상 배율로 처리한다.</a:t>
            </a:r>
          </a:p>
        </p:txBody>
      </p:sp>
    </p:spTree>
    <p:extLst>
      <p:ext uri="{BB962C8B-B14F-4D97-AF65-F5344CB8AC3E}">
        <p14:creationId xmlns:p14="http://schemas.microsoft.com/office/powerpoint/2010/main" val="13805027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2FDC39-5A87-49BE-B604-ECDB383621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BD9336-80F3-469F-980A-4AE50B52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14300"/>
            <a:ext cx="8572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8. UI / UX 상태 정의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EA4DB9-69A1-4AA3-82ED-2634EAAD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A5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76275B-1CED-4F66-B124-E2AC04A9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914400"/>
            <a:ext cx="5619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2569AB-5A3D-43D7-AADD-F96551A8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219325"/>
            <a:ext cx="5505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020"/>
                </a:solidFill>
              </a:defRPr>
            </a:pPr>
            <a:r>
              <a:rPr sz="1125" b="1">
                <a:solidFill>
                  <a:srgbClr val="202020"/>
                </a:solidFill>
              </a:rPr>
              <a:t>게임 화면 캡처 교체 영역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46653B-FCAC-4D85-970B-C77878CF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914400"/>
            <a:ext cx="66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D4A17E-E642-4FEF-B7F7-69A506F36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95250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No.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BA629C-4CA5-4681-BDB1-61207A2B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91440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2DC6E9-B9A8-40DF-99CD-BBF0648D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952500"/>
            <a:ext cx="1504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요소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E9B644-923B-4CFD-B0B9-FBD99641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914400"/>
            <a:ext cx="342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3DF6EB-A688-4907-B389-B04EBE33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952500"/>
            <a:ext cx="3314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설명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039B5E-DF4D-46C0-A04C-3C175F58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71600"/>
            <a:ext cx="66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DCB9A9-82DC-4EC7-9233-1E8B9AEEE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40970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5AD2F2-18AC-42E3-B3B8-0ACEA24A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37160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3CAF48-873E-41E5-A627-120140D2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409700"/>
            <a:ext cx="1504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광물 HP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AF2B53-6483-4821-9914-CD7195D42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371600"/>
            <a:ext cx="342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FB75E4-E6FC-4FFA-8228-37C09F727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409700"/>
            <a:ext cx="3314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대형 광물은 HP 텍스트를 크게 표시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67C779-A625-4990-8270-6DDC5E97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28800"/>
            <a:ext cx="66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A261FF-1066-4943-9EAD-827EE04E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6690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696AAF-B671-4140-8EE1-0C289C21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2880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4112E9-AD19-49E3-A0DE-A82D1C995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866900"/>
            <a:ext cx="1504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 마크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DF5593-AC9D-4698-A154-D9AD0E9DB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28800"/>
            <a:ext cx="342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141D3B-F60E-422B-8466-30B5066E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866900"/>
            <a:ext cx="3314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조건 충족 시 즉시 등장. 서서히 페이드인 금지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939B69-4572-4FDD-92C8-EB06B698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66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C2F6C0-8D87-440F-A0C1-445B8B74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2410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B375FC-4B1C-49EE-A15C-14B283AA1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8600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913540-0DB2-4E2C-9E65-F38F9C82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324100"/>
            <a:ext cx="1504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브레이크 외곽선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8B198B-B460-405C-8FA0-0D716E59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86000"/>
            <a:ext cx="342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4E32F7-FF5D-4A79-A1E1-5D15200B4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24100"/>
            <a:ext cx="3314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광물 외곽과 같은 형태로 확산 후 복귀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691DE1-3F6F-47BB-9DD5-9DCF2D43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43200"/>
            <a:ext cx="66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E2F689-BB22-4BF5-A00D-234CB23D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8130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F86DEF-123A-4C20-8491-8AA607C5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4320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04CEFC-A437-4537-AA10-CCD56835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781300"/>
            <a:ext cx="1504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 피격 피드백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53F885-E6F0-430B-B783-D4915189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43200"/>
            <a:ext cx="342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396D85-4F71-430C-A1AA-E064A70A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81300"/>
            <a:ext cx="3314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 타격 시 즉시 반응해 명중 여부 전달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3E40DB3-F902-4775-B661-973A026D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00400"/>
            <a:ext cx="66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A855868-5470-4F8A-B650-CA105DAE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3850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B0367CC-3FC0-4D1F-A1E4-8BF5C3FA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0040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9FFA8C9-3C54-419A-A65A-0CC9CC739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238500"/>
            <a:ext cx="1504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광물 피격 피드백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72391C1-9219-44CC-A2A5-A4FC6179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00400"/>
            <a:ext cx="342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7933880-2C44-46A8-AF3E-482A8DA9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38500"/>
            <a:ext cx="3314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광물 본체가 순간적으로 작아졌다 복귀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68704F5-6826-46E2-9A64-A2662C7B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095750"/>
            <a:ext cx="1123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020"/>
                </a:solidFill>
              </a:defRPr>
            </a:pPr>
            <a:r>
              <a:rPr sz="1350" b="1">
                <a:solidFill>
                  <a:srgbClr val="202020"/>
                </a:solidFill>
              </a:rPr>
              <a:t>8.1. UX 기준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033CDFD-A499-448B-A1E7-F844A2F6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438650"/>
            <a:ext cx="1028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약점이 등장했는지, 약점을 맞췄는지, 브레이크 상태인지 각각 다른 피드백으로 구분한다.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C775B43-7F99-423B-9886-AB6111782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714875"/>
            <a:ext cx="1028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브레이크 남은 시간은 하단 게이지가 아니라 광물 외곽선 연출로 표현한다.</a:t>
            </a:r>
          </a:p>
        </p:txBody>
      </p:sp>
    </p:spTree>
    <p:extLst>
      <p:ext uri="{BB962C8B-B14F-4D97-AF65-F5344CB8AC3E}">
        <p14:creationId xmlns:p14="http://schemas.microsoft.com/office/powerpoint/2010/main" val="8188566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2FDC39-5A87-49BE-B604-ECDB383621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0B2338-7F6C-4DE5-B499-7F6FFF309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14300"/>
            <a:ext cx="8572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9. 피드백 / 연출 규칙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BBD9ED-7DA9-40A6-84A1-D2DD8087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A5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86F3F7-A251-427E-AEF6-4325776E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91440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3ECF31-67A1-4B89-BCE0-D6F9C747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952500"/>
            <a:ext cx="1885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구분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62509E-1F2A-4B2F-A493-721B4E3E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91440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A20481-4428-4438-ACB9-925937318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952500"/>
            <a:ext cx="3028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발생 조건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7A24EE-6484-4C22-B672-1F7A3EAC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914400"/>
            <a:ext cx="628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E90573-E3D1-40E1-9E28-59480389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952500"/>
            <a:ext cx="6172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연출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9CFEF2-3F41-49E6-B7D1-1894C8E4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46685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E41601-D039-4264-80C1-DD86F40E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504950"/>
            <a:ext cx="1885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광물 피격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3FF6BE-D6E3-4EAF-A1FC-84D4F255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46685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B7D984-1F03-4BA2-909E-24AEEB73A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504950"/>
            <a:ext cx="3028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곡괭이가 광물에 접촉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00F560-C242-4D23-9B4E-97329E81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66850"/>
            <a:ext cx="628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1DDE8F-D9D3-4B51-9031-9848E87D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504950"/>
            <a:ext cx="6172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광물 본체가 순간적으로 작아졌다 복귀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E52D91-FD83-45B4-AB20-6E46AA367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01930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F5A051-0FC5-489D-B76C-F43F24F1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057400"/>
            <a:ext cx="1885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 피격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C65E30-B4A9-4084-8237-644A3955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1930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98CC73-0F5B-459D-B2C0-4D3966909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57400"/>
            <a:ext cx="3028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곡괭이가 약점 판정 반경 접촉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A41BF9-6F05-4F22-8864-9F5B6F8B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19300"/>
            <a:ext cx="628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5C252E-2676-4B86-9455-8B771430B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057400"/>
            <a:ext cx="6172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 마크가 순간적으로 반응하고 누적 크기 증가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3D7C1F-8D24-4517-83EB-3F400D95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57175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712FDF-A497-429F-9D9F-63CF8824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609850"/>
            <a:ext cx="1885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브레이크 진입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1081C2-A756-4553-8F84-88CE4A10D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57175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A7F845-07E4-4D23-A9C5-0A50EF19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609850"/>
            <a:ext cx="3028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 진행도 100%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1712E4-CF0B-4A44-BB60-AA1C0C5B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71750"/>
            <a:ext cx="628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4114CD-6019-4AFA-B6D9-0367CD96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609850"/>
            <a:ext cx="6172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광물 외곽선과 동일한 형태의 라인 확산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109D5E-A148-45FA-B36B-F5403321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12420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2748A9-4362-4DAB-88FC-D03FA930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3162300"/>
            <a:ext cx="1885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브레이크 잔여 시간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8EE654-1DC5-4B4C-AF49-43118E39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12420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2F1AAF-2624-4EAD-8732-257FB597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162300"/>
            <a:ext cx="3028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브레이크 유지 중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4411FD-CBB4-4A83-801A-676C8F66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24200"/>
            <a:ext cx="628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6DEA46-6203-4400-AA23-96BDB086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162300"/>
            <a:ext cx="6172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확산된 외곽선이 서서히 광물 테두리로 복귀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8B10C5-C414-44A5-A84A-8DA89A40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67665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51BD92-6CB7-4612-B12C-C1BB23D8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3714750"/>
            <a:ext cx="1885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브레이크 종료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0196C5D-556C-4FAC-A7A9-F7227FA2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67665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C07D7AA-C58B-4E9E-A283-97EF394CE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714750"/>
            <a:ext cx="3028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브레이크 지속 시간 종료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884D9C9-7E8B-46E6-A56B-90E3A259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76650"/>
            <a:ext cx="628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02C7149-35D9-42BD-B112-DF12AC8C5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714750"/>
            <a:ext cx="6172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 숨김 / 일반 상태 복귀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F4AE63B-B659-4796-8C10-BB69E4A7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819650"/>
            <a:ext cx="10953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C8A600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6579914-E855-4AD3-9565-D780B2C12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0101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2020"/>
                </a:solidFill>
              </a:defRPr>
            </a:pPr>
            <a:r>
              <a:rPr sz="1275" b="1">
                <a:solidFill>
                  <a:srgbClr val="202020"/>
                </a:solidFill>
              </a:rPr>
              <a:t>주의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709CFDE-B2C8-4030-A8E7-577723D9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10150"/>
            <a:ext cx="981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피격 스케일 연출 시 광선/이펙트 전체가 같이 흔들리지 않도록 광물 본체와 이펙트 스케일을 분리한다.</a:t>
            </a:r>
          </a:p>
        </p:txBody>
      </p:sp>
    </p:spTree>
    <p:extLst>
      <p:ext uri="{BB962C8B-B14F-4D97-AF65-F5344CB8AC3E}">
        <p14:creationId xmlns:p14="http://schemas.microsoft.com/office/powerpoint/2010/main" val="2659069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2FDC39-5A87-49BE-B604-ECDB383621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A9ACDF-5509-4DC3-9E31-A34637F3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14300"/>
            <a:ext cx="8572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10. 광물 배치 / 레벨 규칙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2B6A9C-68FD-45F5-A990-01295D72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A5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4D634A-90DE-45CF-AF6E-C403E06C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876300"/>
            <a:ext cx="1123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020"/>
                </a:solidFill>
              </a:defRPr>
            </a:pPr>
            <a:r>
              <a:rPr sz="1350" b="1">
                <a:solidFill>
                  <a:srgbClr val="202020"/>
                </a:solidFill>
              </a:rPr>
              <a:t>10.1. 배치 규칙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B0F30D-6C4B-4E64-BE03-18CDC7D5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219200"/>
            <a:ext cx="1028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광물 간 겹침을 방지하기 위해 생성 후 위치 보정 처리를 진행한다.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37FAF8-9D52-4B7B-AB67-DA7D20E1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495425"/>
            <a:ext cx="1028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대형 광물은 챕터의 메인 목표로 인식될 수 있도록 화면 중상단 주요 영역에 배치한다.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CE5BAE-E468-4365-893F-81EBB1F7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771650"/>
            <a:ext cx="1028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플레이어 시작 위치와 광물 사이에 최소 이동 공간을 확보한다.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64E907-277B-4BD9-8354-049252505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571750"/>
            <a:ext cx="1123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020"/>
                </a:solidFill>
              </a:defRPr>
            </a:pPr>
            <a:r>
              <a:rPr sz="1350" b="1">
                <a:solidFill>
                  <a:srgbClr val="202020"/>
                </a:solidFill>
              </a:rPr>
              <a:t>10.2. 광물 역할군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F03CD2-A065-479E-8A19-08A42BF3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95275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E221F3-C06D-499C-81D1-8768228E1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990850"/>
            <a:ext cx="1600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역할군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B34FC2-134F-4355-834E-8CC4D965B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9527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A8D10C-D698-4B2D-88FF-EB35A3459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90850"/>
            <a:ext cx="3314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역할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21D963-D9D0-41AC-81E2-873ADF17E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52750"/>
            <a:ext cx="590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406411-994C-457C-8E19-57C39082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990850"/>
            <a:ext cx="5791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설계 방향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71F606-3397-41CD-A773-049B20C2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46710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E35FEB-F255-472D-9879-487E927E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3505200"/>
            <a:ext cx="1600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단기 체류 광물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1A2DCE-103F-4D25-AA27-F7DA8F3D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4671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85B2C8-C398-454D-BCBD-C478ACAF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505200"/>
            <a:ext cx="3314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짧은 반복 채굴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9B1A80-1210-4767-BB53-0BCF55BA7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67100"/>
            <a:ext cx="590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222C55-F9F0-485C-A604-F8BF68D2E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505200"/>
            <a:ext cx="5791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빠른 수집 리듬 유지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9A930B-F6B3-4C63-9627-86CE6BF01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98145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8F17BA-49AF-4A92-9A87-DF80BF0E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4019550"/>
            <a:ext cx="1600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일반 광물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30016A-95D3-4DDD-BA71-084E58F38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9814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3EBEC2-70E9-4F5E-B8C6-FDBAD0DB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019550"/>
            <a:ext cx="3314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기본 채굴 대상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4F6B8E-7BF4-4F08-8958-C498A6093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81450"/>
            <a:ext cx="590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AE2A60-FE6B-4848-B11B-5AD6CF15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019550"/>
            <a:ext cx="5791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약점/브레이크 연출 미적용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2AE9EA-4702-47DA-BB43-10C8F22F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49580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B63FE2-569F-4795-B749-B6689B35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4533900"/>
            <a:ext cx="1600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장기 체류 광물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1A7E06-7297-4770-B2E2-2E6E7213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4958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35C3A5-85AB-4AB8-8D20-0BF91965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533900"/>
            <a:ext cx="3314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공략 대상 광물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30D31C-6C26-456F-8EAE-D14690A3C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495800"/>
            <a:ext cx="590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6C5B7A-9907-4490-9157-9A23A4B4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533900"/>
            <a:ext cx="5791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 노출과 브레이크 연출 적용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8F22CB-ED27-4ED2-9168-AECF4BAEC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01015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EE5F9F-1CB3-42A7-8B6C-57C9C19C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5048250"/>
            <a:ext cx="1600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특수 광물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BE735A8-B258-437C-8C2E-FC2FCFDE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101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1E7E4C0-E646-47CB-8D3E-E80F27B8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48250"/>
            <a:ext cx="3314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확장 대상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C221B46-8835-43B7-9034-93C2CA09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010150"/>
            <a:ext cx="590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D3A04A8-6E20-47C4-8CB7-2FD1B78A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048250"/>
            <a:ext cx="5791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필요 시 별도 규칙이나 연출 추가</a:t>
            </a:r>
          </a:p>
        </p:txBody>
      </p:sp>
    </p:spTree>
    <p:extLst>
      <p:ext uri="{BB962C8B-B14F-4D97-AF65-F5344CB8AC3E}">
        <p14:creationId xmlns:p14="http://schemas.microsoft.com/office/powerpoint/2010/main" val="15644607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2FDC39-5A87-49BE-B604-ECDB383621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21F15A-1F8E-4B8F-9AD0-1E3367E9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14300"/>
            <a:ext cx="8572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11. 데이터 테이블 초안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A73AE6-B378-4ADB-9582-52FAE438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A5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D93B44-CB3B-4A87-A4C8-4AA22FFE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895350"/>
            <a:ext cx="2952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9999B4-A8BD-48BD-952A-6A7A8F94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933450"/>
            <a:ext cx="2838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Table_BreakMiningConfig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EF06A5-A8E8-445E-92A5-BD7FBF6A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9535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2B50C5-BB35-4AD1-8643-9B374708B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933450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FA71BD-DEB9-493B-81FA-7E967AAC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89535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54AE42-CF5C-4E1D-A3D6-484A229D8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933450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0CE7D0-6386-4EBD-86D4-81F2AFB9D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895350"/>
            <a:ext cx="476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1C19BA-D1B0-42CC-BCAA-818278B8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933450"/>
            <a:ext cx="4648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9B5AD0-669C-4299-82D5-7FA2D0F0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257300"/>
            <a:ext cx="2952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BD0708-7550-469B-BEE8-A2F8518C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295400"/>
            <a:ext cx="2838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key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BF07D3-D8FA-4CA7-8A00-1D19C058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25730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C3FD6B-0235-4A10-9AAC-736B2BD0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295400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type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435128-1184-406A-B6CA-65D5937A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25730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442970-0BDD-4AA8-92A1-968C5061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295400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value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75ADFA-7F0F-4063-A8D4-D33D88D01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57300"/>
            <a:ext cx="476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406A62-2947-4E3E-9B15-7F2580EAC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295400"/>
            <a:ext cx="4648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description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427A58-C608-4C99-9169-0458AB50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619250"/>
            <a:ext cx="2952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332425-70B1-4BCC-A1DB-C85997E2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657350"/>
            <a:ext cx="2838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base_damage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333473-4065-49E6-831C-119BD8CF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1925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FE4A39-6AA1-46B8-9DE6-0A00BBC4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57350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Float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56FEC6-C79C-4E4D-847B-869C3EA9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1925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BDD5D4-B8E4-46A6-9AFF-E3CAA9E2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657350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9.2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2F6014-EA04-4CE3-B66B-A1B22896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476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F87EB4-1EDD-47AF-9A64-06BE60B4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657350"/>
            <a:ext cx="4648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곡괭이 기본 데미지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D41587-C151-4798-8074-B902D9D5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81200"/>
            <a:ext cx="2952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D49523-EBAF-42FA-B1F1-0FA6BF4F5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019300"/>
            <a:ext cx="2838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break_damage_multiplier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54E373-535B-41DC-8614-10196ED6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8120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E1DE29-BBCD-41F8-9D25-80F43EB6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019300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Float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6C79C7-9BF1-4CBD-8CBA-EB5ED8446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8120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8C604C-EB4D-4B8A-B427-F73D0B2E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019300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1.8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E99F22-5FF3-4686-8348-78BB53CB2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81200"/>
            <a:ext cx="476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894BBD-F1DF-48C6-8049-F098E496E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19300"/>
            <a:ext cx="4648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브레이크 중 데미지 배율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EA38856-6065-4B0E-A607-176F6A05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343150"/>
            <a:ext cx="2952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3EBCB3B-2176-45FD-9F8F-8763E8F03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381250"/>
            <a:ext cx="2838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weak_reveal_hits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742139D-3C34-4C91-ABBF-54E40DA5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4315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A7A375F-D70E-44AF-A748-12460717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381250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Int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19F843D-A6E6-4374-96DE-C586E46E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4315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3EB8CA8-72C2-4547-B0CD-DE484A61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381250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120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36BF607-B13F-4FD6-9DC9-0AF17CDFE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43150"/>
            <a:ext cx="476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192F89A-A58A-4855-A682-A438A67D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81250"/>
            <a:ext cx="4648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 노출까지 필요한 몸통 타격 수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6DA4A66-6519-4356-9C74-3A1024EB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705100"/>
            <a:ext cx="2952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173F2F5-EFE7-4D7A-B1A4-94FDAE35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743200"/>
            <a:ext cx="2838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weak_break_gain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6C58A2A-0F96-4DF3-AF67-9717760B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0510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C847F4F-35E1-4629-8123-6E39BF125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743200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Float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8C6A163-4456-4EB7-8D36-6C8426B7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0510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ED4CE1B-4726-41E8-9638-C906AC02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743200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1.25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ECB6A72-1201-4BCD-AE40-B7855280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05100"/>
            <a:ext cx="476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FE28C6D-FC07-4BE9-B310-17C34D5E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43200"/>
            <a:ext cx="4648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 1타당 진행도 증가율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4773947-88E6-4839-9DEC-99453D64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067050"/>
            <a:ext cx="2952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3D90B24-E79E-4AC2-B237-E794640E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3105150"/>
            <a:ext cx="2838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break_duration_frame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28EEA1F-2D98-4A9C-B0E9-69F945A8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6705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B6175CD-B8E8-4A4D-946C-CD6186F0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105150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Int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1EC5954-42DE-4144-BB9C-BD0DEDA06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6705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B8234CD-DB92-4B96-A708-1F42ED03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105150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300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A04B8ED-11EC-4387-BBDE-D4B8EDDF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67050"/>
            <a:ext cx="476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4889B40-1AB0-44F5-B132-042228224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05150"/>
            <a:ext cx="4648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브레이크 지속 프레임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36433EA-54B1-4814-955C-E89282599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905250"/>
            <a:ext cx="2952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BA01DDB-38AA-44C4-BA83-246EE6E9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3943350"/>
            <a:ext cx="2838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Table_MineralBreakGroup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B04F320-1697-4930-99DA-07BAB890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0525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334DFDA-8474-4937-8871-6D73F414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943350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E84C356-0E23-44D2-A24D-6DC12C33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90525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68BF63B-109A-45FB-A51B-6CBCAD28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943350"/>
            <a:ext cx="3028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945864A-A45D-4777-8853-2691D124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05250"/>
            <a:ext cx="3333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920A485-A7E6-45E7-B38E-0D648213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43350"/>
            <a:ext cx="3219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0384ED3-4A60-401C-BB2B-EEE1ECE9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267200"/>
            <a:ext cx="2952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850D11B-110B-4035-951C-228BFEAF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4305300"/>
            <a:ext cx="2838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group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DA1B56F-430B-40FA-939C-E3945D75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6720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1BBC12A-4E54-4465-8B43-778E1FF0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305300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type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57D1771-57FE-49E9-83AA-AC88550E9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26720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421FF02-DE1F-40BD-96FC-4DCDC666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305300"/>
            <a:ext cx="3028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description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C67DC4A-A65A-41CB-BE06-23E0FC987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67200"/>
            <a:ext cx="3333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8EA10F5-5432-4BF1-B4E8-2373B2F0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305300"/>
            <a:ext cx="3219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effect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D946CB9-2489-48C7-BCE3-4581E18E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629150"/>
            <a:ext cx="2952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326CEFC-A59F-4211-9F85-8774EC0A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4667250"/>
            <a:ext cx="2838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Normal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87D2B26-6E77-4174-B0BE-DCF2ABB3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2915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087480B-278E-47CE-B08D-10F7D163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667250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Int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54590BD-59C0-49B4-AC3A-B72C4EDF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2915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4109420-1E20-4728-9CD1-6970D3B2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667250"/>
            <a:ext cx="3028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브레이크 미적용 광물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9573BF5-BB6E-43CA-AF1E-43043F473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29150"/>
            <a:ext cx="3333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462966C-92DE-48A6-9F29-8C692D6E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667250"/>
            <a:ext cx="3219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기존 채굴 처리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14C4F86-BBA7-491A-BDBF-204A1E6B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991100"/>
            <a:ext cx="2952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6D7F461-F84B-4138-9751-C76A72D5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5029200"/>
            <a:ext cx="2838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Breakable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8E9E020-A77C-4364-B8AA-45D4A71A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9110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138AC25-7E87-4F99-8EC4-F9A9795B4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029200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Int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F4E2237-5688-48D2-81C3-7B623BF5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99110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7E1A891-5CD0-47DA-9591-EC359F2B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029200"/>
            <a:ext cx="3028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장기 체류로 인해 브레이크 규칙을 적용하는 광물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1C49D2F-3ABE-4AC8-8788-B5040099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991100"/>
            <a:ext cx="3333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15DC4DE-A593-45A7-9973-83453E910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029200"/>
            <a:ext cx="3219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 + 브레이크 외곽선 연출</a:t>
            </a:r>
          </a:p>
        </p:txBody>
      </p:sp>
    </p:spTree>
    <p:extLst>
      <p:ext uri="{BB962C8B-B14F-4D97-AF65-F5344CB8AC3E}">
        <p14:creationId xmlns:p14="http://schemas.microsoft.com/office/powerpoint/2010/main" val="56726525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2FDC39-5A87-49BE-B604-ECDB383621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C02695-52BF-4B5E-9029-51401DB1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14300"/>
            <a:ext cx="8572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12. 예외 처리 / QA 체크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401ED6-AB40-4621-80E0-527BC156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A5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B2DB12-A6B0-4C74-93EF-6F338FD8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91440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E61DBA-B5BC-44F0-AC98-0B02D51A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952500"/>
            <a:ext cx="1885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항목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2E9CCF-8E9A-4064-A576-940FD5D0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91440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EDEF72-CA10-4194-B44F-C75DF227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952500"/>
            <a:ext cx="3981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상황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819F85-1910-4A4C-A0A2-E9E6F840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914400"/>
            <a:ext cx="514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2493A7-77D5-48D6-A9E7-63FE71DC0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952500"/>
            <a:ext cx="5029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처리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92ACC8-EDF5-4A33-B51C-33BCEF0E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46685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B7C21B-DB6C-4D86-AA5E-15E8E94F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504950"/>
            <a:ext cx="1885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 접근 불가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26625E-8428-48FC-AB93-AA806454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4668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7965BC-8286-4137-A524-500ADC48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504950"/>
            <a:ext cx="3981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약점이 광물 안쪽 또는 캐릭터가 닿지 않는 위치에 생성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3FE41A-262D-47F2-915C-B235A7A3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66850"/>
            <a:ext cx="514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6CE3EB-9521-4DBD-88A6-5216B0E7C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04950"/>
            <a:ext cx="5029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외곽선 근처로 보정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4AFFDC-C392-42B9-91A2-F45E36BE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01930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130DC2-E812-4AB3-B523-619A4BAB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057400"/>
            <a:ext cx="1885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 과다 이동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8B828E-A2E7-4936-BB2B-D5489E3B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1930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1A44C7-88ED-4D57-91D8-C3A5AE8E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57400"/>
            <a:ext cx="3981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 위치가 너무 자주 바뀌어 피로함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C5CD4E-B428-4D55-BEE0-CE653878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19300"/>
            <a:ext cx="514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06246B-037A-4945-998A-73B565D63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57400"/>
            <a:ext cx="5029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6.5초 이동 주기 유지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E05C1E-C66F-4B0E-A847-001E4297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57175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3771DC-6A9C-419B-B762-65EC3C54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609850"/>
            <a:ext cx="1885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브레이크 중 약점 노출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9F4831-B59E-4C51-98F9-366168E8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5717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98A560-6D77-421E-9DDB-404CA0D2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609850"/>
            <a:ext cx="3981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브레이크 중에도 약점이 보임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118F27-544E-4C78-8693-259387950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71750"/>
            <a:ext cx="514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9856D4-89EA-4AF9-B2F5-A818C0EF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09850"/>
            <a:ext cx="5029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브레이크 중 약점 숨김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CA9484-1CFD-4F73-8E75-0AC3FC56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12420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89A1F3-3FEF-400D-9FC8-48D42B76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3162300"/>
            <a:ext cx="1885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비대상 광물 연출 발생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36820D-4450-4FC9-961F-24A515B0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12420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9A4DBD-47A4-484D-89DE-11D5960F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162300"/>
            <a:ext cx="3981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일반 광물에 약점/브레이크 연출이 표시됨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84EB34-BFF0-42CE-9B7E-AA13386C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24200"/>
            <a:ext cx="514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8E778A-500C-4C45-BA0F-2B46EAB7E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62300"/>
            <a:ext cx="5029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BreakGroup 데이터 확인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4192B74-E5F1-47BB-A633-2298BBF97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67665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5C80833-226B-492F-87E6-6BA6A248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3714750"/>
            <a:ext cx="1885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광물 겹침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AA776F-6365-4F16-96DD-C7BACEDC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6766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4E178FE-DC72-4FA0-81D0-8F49DBA7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714750"/>
            <a:ext cx="3981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스폰 시 광물이 서로 겹침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5DC5F22-7E01-47D8-A4E8-25227BC3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76650"/>
            <a:ext cx="514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FA12587-6236-4C1A-896D-8F8F86BD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14750"/>
            <a:ext cx="5029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스폰 후 배치 보정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507AD5F-9DC5-49C5-98AA-6C2D3977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22910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E49DAE4-7005-41C5-ACE5-6E2675CC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4267200"/>
            <a:ext cx="1885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연출 과다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A776031-4411-4D7C-ADDC-57334481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22910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E01AE70-C71F-497D-83D2-ED73765A2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267200"/>
            <a:ext cx="3981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피격 스케일/외곽선이 과하게 흔들림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DFC5F61-6335-4793-BDDB-A787F3C7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29100"/>
            <a:ext cx="514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D28F7BA-A8AC-44A2-A043-1DF623A30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67200"/>
            <a:ext cx="5029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피격 스케일과 브레이크 라인 스케일 분리</a:t>
            </a:r>
          </a:p>
        </p:txBody>
      </p:sp>
    </p:spTree>
    <p:extLst>
      <p:ext uri="{BB962C8B-B14F-4D97-AF65-F5344CB8AC3E}">
        <p14:creationId xmlns:p14="http://schemas.microsoft.com/office/powerpoint/2010/main" val="39668143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2FDC39-5A87-49BE-B604-ECDB383621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1EA714-F218-4C39-8049-DA16D64D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14300"/>
            <a:ext cx="8572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13. 원작 시점 적용 시 고려사항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A5B6CE-0B08-4F46-ADBB-C5FE7A44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A5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6C12CC-41C3-4ECF-BFE8-F181323C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876300"/>
            <a:ext cx="1123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020"/>
                </a:solidFill>
              </a:defRPr>
            </a:pPr>
            <a:r>
              <a:rPr sz="1350" b="1">
                <a:solidFill>
                  <a:srgbClr val="202020"/>
                </a:solidFill>
              </a:rPr>
              <a:t>13.1. 시점 차이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247817-DEBE-4418-9BCE-4072691B2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219200"/>
            <a:ext cx="1028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현재 프로토타입은 탑뷰 검증용이며, 실제 게임은 아이소메트릭 시점이다.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1485A6-95E5-4438-B44C-46409173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495425"/>
            <a:ext cx="1028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따라서 약점 마크와 브레이크 라인은 최종 적용 시 원작 시점에 맞게 재해석해야 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184A10-48A0-4E52-BDF4-21063CB9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305050"/>
            <a:ext cx="1123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020"/>
                </a:solidFill>
              </a:defRPr>
            </a:pPr>
            <a:r>
              <a:rPr sz="1350" b="1">
                <a:solidFill>
                  <a:srgbClr val="202020"/>
                </a:solidFill>
              </a:rPr>
              <a:t>13.2. V2 연출 방향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AC6888-2BAE-4957-A6E7-073B0930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68605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D160F2-69B6-49E3-87C3-D08066285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724150"/>
            <a:ext cx="1600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구분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5D38E1-6F43-4399-BF02-6248D9127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686050"/>
            <a:ext cx="381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D374ED-18BD-4321-B879-C5F01383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724150"/>
            <a:ext cx="3695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프로토타입 표현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256043-7969-4280-AA92-8A3FBE69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86050"/>
            <a:ext cx="571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DD42F0-F8E6-4B47-AE31-6C966CBA4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724150"/>
            <a:ext cx="5600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원작 적용 방향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F8AA45-272E-4043-B170-BE6C2AAD5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20040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9FD4AA-528E-4518-900C-C16BC6AA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3238500"/>
            <a:ext cx="1600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7E8C20-9E4D-4F44-A7FB-E76135F53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00400"/>
            <a:ext cx="381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1DA77F-D74B-4C4E-AB26-A01BB32E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238500"/>
            <a:ext cx="3695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X 마크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450BBA-DCD4-41CB-A876-A775A317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00400"/>
            <a:ext cx="571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664D62-7840-4381-930B-5C5833A96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238500"/>
            <a:ext cx="5600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광물 표면 균열 / 발광 / 파편으로 자연화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128E22-FB60-4F2A-9814-078ED211D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71475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E79033-2DC3-4B3D-9D11-4E8F2046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3752850"/>
            <a:ext cx="1600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브레이크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54C58C-8906-46B8-A248-B7E7201D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714750"/>
            <a:ext cx="381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0DA48B-A302-47C3-82BE-769227E3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752850"/>
            <a:ext cx="3695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외곽선 확산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A684DD-050A-4B85-9F55-C1D25148F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714750"/>
            <a:ext cx="571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C0CAA2-245D-41A0-B42D-79A2F072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752850"/>
            <a:ext cx="5600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표면 발광, 파편, 카메라/타격 피드백 중심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D97DE0-62A2-40C7-BBF0-F9E31B4B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22910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37DBE1-C650-450C-B897-4D655E07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4267200"/>
            <a:ext cx="1600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피격 반응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F2E6A4-FCDE-4BE4-80A2-D82E496C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29100"/>
            <a:ext cx="381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B303E5-D95B-426A-B50C-490AD8A8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267200"/>
            <a:ext cx="3695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본체 스케일 연출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EDBD7F-75E6-444F-8A73-3047FAF1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29100"/>
            <a:ext cx="571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D13619-F360-4591-98F9-7F5F39CD6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267200"/>
            <a:ext cx="5600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광물 표면 충격, 파편, 사운드와 연계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86ECA8-1ACA-45A8-BF9B-F5386B469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74345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E22B4E-932D-47AC-9526-4A94C032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4781550"/>
            <a:ext cx="1600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적용 분류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66CD14-3646-4036-9FC2-77AA4D4A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743450"/>
            <a:ext cx="381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7CEE0BC-91BC-4E7C-AE13-DD036512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781550"/>
            <a:ext cx="3695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프로토타입 조건 분기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FD12992-D0F1-47F0-BD79-1693897B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43450"/>
            <a:ext cx="571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444444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FEFDB9-FCD6-42B1-93D7-8645CCBC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781550"/>
            <a:ext cx="5600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광물 데이터의 적용 분류 값 기반으로 연출 대상 지정</a:t>
            </a:r>
          </a:p>
        </p:txBody>
      </p:sp>
    </p:spTree>
    <p:extLst>
      <p:ext uri="{BB962C8B-B14F-4D97-AF65-F5344CB8AC3E}">
        <p14:creationId xmlns:p14="http://schemas.microsoft.com/office/powerpoint/2010/main" val="65411408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2FDC39-5A87-49BE-B604-ECDB383621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40F246-8845-4FFF-8B74-0E33E2E8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14300"/>
            <a:ext cx="8572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14. 정리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C6EB37-7CF0-461E-BE04-F1F924CE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A5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5EA5E9-6723-4FF9-ACE3-1F7080A49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914400"/>
            <a:ext cx="1123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020"/>
                </a:solidFill>
              </a:defRPr>
            </a:pPr>
            <a:r>
              <a:rPr sz="1350" b="1">
                <a:solidFill>
                  <a:srgbClr val="202020"/>
                </a:solidFill>
              </a:rPr>
              <a:t>14.1. 핵심 설계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E855D7-AF9D-418D-9043-439D4DAC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257300"/>
            <a:ext cx="1028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장기 체류 광물 구간에 약점 노출 → 약점 공략 → 브레이크 → 보상 채굴의 단계 구조를 추가한다.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874113-A6C7-4F3D-9F64-78AC748C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533525"/>
            <a:ext cx="1028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기본 데미지는 곡괭이 성능으로 고정하고, 브레이크는 성공 보상 배율로만 처리한다.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BD01E4-6C80-4C34-A404-13F02292D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809750"/>
            <a:ext cx="1028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적용 대상은 광물 데이터의 분류 값으로 관리해 원작의 다른 규칙과 분리한다.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B4F8D2-9352-43BE-9929-5C9B6BF2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705100"/>
            <a:ext cx="1123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020"/>
                </a:solidFill>
              </a:defRPr>
            </a:pPr>
            <a:r>
              <a:rPr sz="1350" b="1">
                <a:solidFill>
                  <a:srgbClr val="202020"/>
                </a:solidFill>
              </a:rPr>
              <a:t>14.2. 포트폴리오 내 역할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811C9E-0776-4322-A4D8-05911BAE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048000"/>
            <a:ext cx="1028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라이브 게임 관찰 기반 시스템 제안 문서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C1D2A0-75CF-4381-9C4B-939964749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324225"/>
            <a:ext cx="1028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플레이 가능한 프로토타입을 통한 규칙/수치 검증 사례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C4D14E-83A9-4D5E-B2C8-D2D1EAC13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600450"/>
            <a:ext cx="1028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시스템, 콘텐츠, UIUX, 레벨 배치 관점의 작업 문서</a:t>
            </a:r>
          </a:p>
        </p:txBody>
      </p:sp>
    </p:spTree>
    <p:extLst>
      <p:ext uri="{BB962C8B-B14F-4D97-AF65-F5344CB8AC3E}">
        <p14:creationId xmlns:p14="http://schemas.microsoft.com/office/powerpoint/2010/main" val="16032934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2026-04-24T04:32:01.4750000Z</dcterms:created>
  <dcterms:modified xsi:type="dcterms:W3CDTF">2026-04-24T04:32:01.4760000Z</dcterms:modified>
</coreProperties>
</file>