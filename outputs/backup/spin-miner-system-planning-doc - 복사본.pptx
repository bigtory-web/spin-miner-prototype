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3BABBF-7812-48FF-AA91-A5ADB6E5E8B4}" v="2" dt="2026-04-24T03:21:28.8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대승 고" userId="8296c006db2f14ee" providerId="LiveId" clId="{F997F1B9-429E-4192-954F-F4CED232CDE9}"/>
    <pc:docChg chg="undo custSel modSld">
      <pc:chgData name="대승 고" userId="8296c006db2f14ee" providerId="LiveId" clId="{F997F1B9-429E-4192-954F-F4CED232CDE9}" dt="2026-04-24T03:25:11.186" v="101" actId="20577"/>
      <pc:docMkLst>
        <pc:docMk/>
      </pc:docMkLst>
      <pc:sldChg chg="delSp modSp mod">
        <pc:chgData name="대승 고" userId="8296c006db2f14ee" providerId="LiveId" clId="{F997F1B9-429E-4192-954F-F4CED232CDE9}" dt="2026-04-24T03:23:00.883" v="43" actId="478"/>
        <pc:sldMkLst>
          <pc:docMk/>
          <pc:sldMk cId="1563426214" sldId="256"/>
        </pc:sldMkLst>
        <pc:spChg chg="mod">
          <ac:chgData name="대승 고" userId="8296c006db2f14ee" providerId="LiveId" clId="{F997F1B9-429E-4192-954F-F4CED232CDE9}" dt="2026-04-24T03:20:46.514" v="5" actId="20577"/>
          <ac:spMkLst>
            <pc:docMk/>
            <pc:sldMk cId="1563426214" sldId="256"/>
            <ac:spMk id="2" creationId="{5EA7D5E7-958F-42E9-97CA-DC58A139B96B}"/>
          </ac:spMkLst>
        </pc:spChg>
        <pc:spChg chg="del">
          <ac:chgData name="대승 고" userId="8296c006db2f14ee" providerId="LiveId" clId="{F997F1B9-429E-4192-954F-F4CED232CDE9}" dt="2026-04-24T03:23:00.883" v="43" actId="478"/>
          <ac:spMkLst>
            <pc:docMk/>
            <pc:sldMk cId="1563426214" sldId="256"/>
            <ac:spMk id="4" creationId="{EA0399F6-E272-4692-8325-64EF3C6402E4}"/>
          </ac:spMkLst>
        </pc:spChg>
      </pc:sldChg>
      <pc:sldChg chg="delSp modSp mod">
        <pc:chgData name="대승 고" userId="8296c006db2f14ee" providerId="LiveId" clId="{F997F1B9-429E-4192-954F-F4CED232CDE9}" dt="2026-04-24T03:23:12.733" v="67" actId="1036"/>
        <pc:sldMkLst>
          <pc:docMk/>
          <pc:sldMk cId="1916177297" sldId="257"/>
        </pc:sldMkLst>
        <pc:spChg chg="mod">
          <ac:chgData name="대승 고" userId="8296c006db2f14ee" providerId="LiveId" clId="{F997F1B9-429E-4192-954F-F4CED232CDE9}" dt="2026-04-24T03:21:02.957" v="26" actId="20577"/>
          <ac:spMkLst>
            <pc:docMk/>
            <pc:sldMk cId="1916177297" sldId="257"/>
            <ac:spMk id="5" creationId="{38ABC2F7-6A2E-4D00-BF73-E09A58D560B5}"/>
          </ac:spMkLst>
        </pc:spChg>
        <pc:spChg chg="mod">
          <ac:chgData name="대승 고" userId="8296c006db2f14ee" providerId="LiveId" clId="{F997F1B9-429E-4192-954F-F4CED232CDE9}" dt="2026-04-24T03:21:28.846" v="31"/>
          <ac:spMkLst>
            <pc:docMk/>
            <pc:sldMk cId="1916177297" sldId="257"/>
            <ac:spMk id="6" creationId="{A2A5F85D-BDAE-4111-AE43-F3B55BB1DEAE}"/>
          </ac:spMkLst>
        </pc:spChg>
        <pc:spChg chg="mod">
          <ac:chgData name="대승 고" userId="8296c006db2f14ee" providerId="LiveId" clId="{F997F1B9-429E-4192-954F-F4CED232CDE9}" dt="2026-04-24T03:21:42.892" v="38" actId="6549"/>
          <ac:spMkLst>
            <pc:docMk/>
            <pc:sldMk cId="1916177297" sldId="257"/>
            <ac:spMk id="7" creationId="{D5B057A1-AFC8-4596-84C4-5A11AAEEE4EC}"/>
          </ac:spMkLst>
        </pc:spChg>
        <pc:spChg chg="mod">
          <ac:chgData name="대승 고" userId="8296c006db2f14ee" providerId="LiveId" clId="{F997F1B9-429E-4192-954F-F4CED232CDE9}" dt="2026-04-24T03:22:14.553" v="41" actId="20577"/>
          <ac:spMkLst>
            <pc:docMk/>
            <pc:sldMk cId="1916177297" sldId="257"/>
            <ac:spMk id="10" creationId="{F9713880-94B9-4EF3-B72A-1C57876CBA02}"/>
          </ac:spMkLst>
        </pc:spChg>
        <pc:spChg chg="mod">
          <ac:chgData name="대승 고" userId="8296c006db2f14ee" providerId="LiveId" clId="{F997F1B9-429E-4192-954F-F4CED232CDE9}" dt="2026-04-24T03:23:12.733" v="67" actId="1036"/>
          <ac:spMkLst>
            <pc:docMk/>
            <pc:sldMk cId="1916177297" sldId="257"/>
            <ac:spMk id="12" creationId="{9869D58A-C896-4E4A-97C3-99A7562BE7CB}"/>
          </ac:spMkLst>
        </pc:spChg>
        <pc:spChg chg="mod">
          <ac:chgData name="대승 고" userId="8296c006db2f14ee" providerId="LiveId" clId="{F997F1B9-429E-4192-954F-F4CED232CDE9}" dt="2026-04-24T03:23:12.733" v="67" actId="1036"/>
          <ac:spMkLst>
            <pc:docMk/>
            <pc:sldMk cId="1916177297" sldId="257"/>
            <ac:spMk id="13" creationId="{C849CA47-BB06-4129-959B-6A95B8A7635E}"/>
          </ac:spMkLst>
        </pc:spChg>
        <pc:spChg chg="mod">
          <ac:chgData name="대승 고" userId="8296c006db2f14ee" providerId="LiveId" clId="{F997F1B9-429E-4192-954F-F4CED232CDE9}" dt="2026-04-24T03:23:12.733" v="67" actId="1036"/>
          <ac:spMkLst>
            <pc:docMk/>
            <pc:sldMk cId="1916177297" sldId="257"/>
            <ac:spMk id="14" creationId="{CE428211-0368-4F19-A09A-68D855135D2C}"/>
          </ac:spMkLst>
        </pc:spChg>
        <pc:spChg chg="mod">
          <ac:chgData name="대승 고" userId="8296c006db2f14ee" providerId="LiveId" clId="{F997F1B9-429E-4192-954F-F4CED232CDE9}" dt="2026-04-24T03:23:12.733" v="67" actId="1036"/>
          <ac:spMkLst>
            <pc:docMk/>
            <pc:sldMk cId="1916177297" sldId="257"/>
            <ac:spMk id="15" creationId="{92CDDA3B-1EC5-4588-ACA6-320A39D50850}"/>
          </ac:spMkLst>
        </pc:spChg>
        <pc:spChg chg="mod">
          <ac:chgData name="대승 고" userId="8296c006db2f14ee" providerId="LiveId" clId="{F997F1B9-429E-4192-954F-F4CED232CDE9}" dt="2026-04-24T03:23:12.733" v="67" actId="1036"/>
          <ac:spMkLst>
            <pc:docMk/>
            <pc:sldMk cId="1916177297" sldId="257"/>
            <ac:spMk id="16" creationId="{293FCAA6-079B-4829-9411-FA542076C1F5}"/>
          </ac:spMkLst>
        </pc:spChg>
        <pc:spChg chg="mod">
          <ac:chgData name="대승 고" userId="8296c006db2f14ee" providerId="LiveId" clId="{F997F1B9-429E-4192-954F-F4CED232CDE9}" dt="2026-04-24T03:23:12.733" v="67" actId="1036"/>
          <ac:spMkLst>
            <pc:docMk/>
            <pc:sldMk cId="1916177297" sldId="257"/>
            <ac:spMk id="17" creationId="{249ED6DF-5AF2-4B09-A1BE-D466C2D445F3}"/>
          </ac:spMkLst>
        </pc:spChg>
        <pc:spChg chg="mod">
          <ac:chgData name="대승 고" userId="8296c006db2f14ee" providerId="LiveId" clId="{F997F1B9-429E-4192-954F-F4CED232CDE9}" dt="2026-04-24T03:23:12.733" v="67" actId="1036"/>
          <ac:spMkLst>
            <pc:docMk/>
            <pc:sldMk cId="1916177297" sldId="257"/>
            <ac:spMk id="18" creationId="{F3C650D7-42CA-41E9-9262-1E2E2F26CF54}"/>
          </ac:spMkLst>
        </pc:spChg>
        <pc:spChg chg="del">
          <ac:chgData name="대승 고" userId="8296c006db2f14ee" providerId="LiveId" clId="{F997F1B9-429E-4192-954F-F4CED232CDE9}" dt="2026-04-24T03:22:57.173" v="42" actId="478"/>
          <ac:spMkLst>
            <pc:docMk/>
            <pc:sldMk cId="1916177297" sldId="257"/>
            <ac:spMk id="19" creationId="{EA0399F6-E272-4692-8325-64EF3C6402E4}"/>
          </ac:spMkLst>
        </pc:spChg>
      </pc:sldChg>
      <pc:sldChg chg="modSp mod">
        <pc:chgData name="대승 고" userId="8296c006db2f14ee" providerId="LiveId" clId="{F997F1B9-429E-4192-954F-F4CED232CDE9}" dt="2026-04-24T03:25:11.186" v="101" actId="20577"/>
        <pc:sldMkLst>
          <pc:docMk/>
          <pc:sldMk cId="773120769" sldId="258"/>
        </pc:sldMkLst>
        <pc:spChg chg="mod">
          <ac:chgData name="대승 고" userId="8296c006db2f14ee" providerId="LiveId" clId="{F997F1B9-429E-4192-954F-F4CED232CDE9}" dt="2026-04-24T03:25:11.186" v="101" actId="20577"/>
          <ac:spMkLst>
            <pc:docMk/>
            <pc:sldMk cId="773120769" sldId="258"/>
            <ac:spMk id="19" creationId="{90F4FD5B-330F-4DC0-A506-FD58CE9FB8DA}"/>
          </ac:spMkLst>
        </pc:spChg>
        <pc:spChg chg="mod">
          <ac:chgData name="대승 고" userId="8296c006db2f14ee" providerId="LiveId" clId="{F997F1B9-429E-4192-954F-F4CED232CDE9}" dt="2026-04-24T03:24:38.160" v="69" actId="14100"/>
          <ac:spMkLst>
            <pc:docMk/>
            <pc:sldMk cId="773120769" sldId="258"/>
            <ac:spMk id="30" creationId="{2F132467-137F-4D37-A451-028BFCF32F87}"/>
          </ac:spMkLst>
        </pc:spChg>
      </pc:sldChg>
      <pc:sldChg chg="modSp mod">
        <pc:chgData name="대승 고" userId="8296c006db2f14ee" providerId="LiveId" clId="{F997F1B9-429E-4192-954F-F4CED232CDE9}" dt="2026-04-24T03:21:28.914" v="37" actId="27636"/>
        <pc:sldMkLst>
          <pc:docMk/>
          <pc:sldMk cId="1337999634" sldId="267"/>
        </pc:sldMkLst>
        <pc:spChg chg="mod">
          <ac:chgData name="대승 고" userId="8296c006db2f14ee" providerId="LiveId" clId="{F997F1B9-429E-4192-954F-F4CED232CDE9}" dt="2026-04-24T03:21:28.912" v="36" actId="27636"/>
          <ac:spMkLst>
            <pc:docMk/>
            <pc:sldMk cId="1337999634" sldId="267"/>
            <ac:spMk id="7" creationId="{B7F6D935-F44E-45C7-B38D-8BDE08AE1880}"/>
          </ac:spMkLst>
        </pc:spChg>
        <pc:spChg chg="mod">
          <ac:chgData name="대승 고" userId="8296c006db2f14ee" providerId="LiveId" clId="{F997F1B9-429E-4192-954F-F4CED232CDE9}" dt="2026-04-24T03:21:28.911" v="33" actId="27636"/>
          <ac:spMkLst>
            <pc:docMk/>
            <pc:sldMk cId="1337999634" sldId="267"/>
            <ac:spMk id="9" creationId="{F3DEBE71-B6B2-477E-BD75-506D6134997F}"/>
          </ac:spMkLst>
        </pc:spChg>
        <pc:spChg chg="mod">
          <ac:chgData name="대승 고" userId="8296c006db2f14ee" providerId="LiveId" clId="{F997F1B9-429E-4192-954F-F4CED232CDE9}" dt="2026-04-24T03:21:28.912" v="35" actId="27636"/>
          <ac:spMkLst>
            <pc:docMk/>
            <pc:sldMk cId="1337999634" sldId="267"/>
            <ac:spMk id="11" creationId="{EAF5EE5F-9EC1-43F8-B665-B7AB6CFC3A94}"/>
          </ac:spMkLst>
        </pc:spChg>
        <pc:spChg chg="mod">
          <ac:chgData name="대승 고" userId="8296c006db2f14ee" providerId="LiveId" clId="{F997F1B9-429E-4192-954F-F4CED232CDE9}" dt="2026-04-24T03:21:28.914" v="37" actId="27636"/>
          <ac:spMkLst>
            <pc:docMk/>
            <pc:sldMk cId="1337999634" sldId="267"/>
            <ac:spMk id="63" creationId="{70D25750-22EA-478B-A297-AA93E3C48C48}"/>
          </ac:spMkLst>
        </pc:spChg>
        <pc:spChg chg="mod">
          <ac:chgData name="대승 고" userId="8296c006db2f14ee" providerId="LiveId" clId="{F997F1B9-429E-4192-954F-F4CED232CDE9}" dt="2026-04-24T03:21:28.911" v="34" actId="27636"/>
          <ac:spMkLst>
            <pc:docMk/>
            <pc:sldMk cId="1337999634" sldId="267"/>
            <ac:spMk id="65" creationId="{8EE5485F-9CB9-4F02-A89D-92A75311F103}"/>
          </ac:spMkLst>
        </pc:spChg>
        <pc:spChg chg="mod">
          <ac:chgData name="대승 고" userId="8296c006db2f14ee" providerId="LiveId" clId="{F997F1B9-429E-4192-954F-F4CED232CDE9}" dt="2026-04-24T03:21:28.910" v="32" actId="27636"/>
          <ac:spMkLst>
            <pc:docMk/>
            <pc:sldMk cId="1337999634" sldId="267"/>
            <ac:spMk id="67" creationId="{22AD45DF-645B-477D-BEC4-179C11D8419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39A9214-3EFE-4E97-ADF6-A9E10420D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2ABDC1B-E7A2-4ECC-B55C-2AA8A191B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9911B07-CD35-4516-9AE5-F939189149E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007A2E2-EFE8-4427-A86A-D9CF45E354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0399F6-E272-4692-8325-64EF3C6402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9567CD0-F85C-4155-AFE6-E37C9387C21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EA7D5E7-958F-42E9-97CA-DC58A139B96B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3150" b="1">
                <a:solidFill>
                  <a:srgbClr val="1E2D4A"/>
                </a:solidFill>
              </a:defRPr>
            </a:pPr>
            <a:r>
              <a:rPr sz="3150" b="1" dirty="0">
                <a:solidFill>
                  <a:srgbClr val="1E2D4A"/>
                </a:solidFill>
              </a:rPr>
              <a:t>Spin Miner </a:t>
            </a:r>
            <a:r>
              <a:rPr sz="3150" b="1" dirty="0" err="1">
                <a:solidFill>
                  <a:srgbClr val="1E2D4A"/>
                </a:solidFill>
              </a:rPr>
              <a:t>브레이크</a:t>
            </a:r>
            <a:r>
              <a:rPr sz="3150" b="1" dirty="0">
                <a:solidFill>
                  <a:srgbClr val="1E2D4A"/>
                </a:solidFill>
              </a:rPr>
              <a:t> </a:t>
            </a:r>
            <a:r>
              <a:rPr sz="3150" b="1" dirty="0" err="1">
                <a:solidFill>
                  <a:srgbClr val="1E2D4A"/>
                </a:solidFill>
              </a:rPr>
              <a:t>시스템</a:t>
            </a:r>
            <a:endParaRPr sz="3150" b="1" dirty="0">
              <a:solidFill>
                <a:srgbClr val="1E2D4A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1D44520-6953-4A19-890A-B5FB74642290}"/>
              </a:ext>
            </a:extLst>
          </p:cNvPr>
          <p:cNvSpPr>
            <a:spLocks noGrp="1"/>
          </p:cNvSpPr>
          <p:nvPr/>
        </p:nvSpPr>
        <p:spPr>
          <a:xfrm>
            <a:off x="0" y="3524250"/>
            <a:ext cx="1219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시스템 / 콘텐츠 / UIUX 기획 작업 문서</a:t>
            </a:r>
          </a:p>
        </p:txBody>
      </p:sp>
    </p:spTree>
    <p:extLst>
      <p:ext uri="{BB962C8B-B14F-4D97-AF65-F5344CB8AC3E}">
        <p14:creationId xmlns:p14="http://schemas.microsoft.com/office/powerpoint/2010/main" val="156342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9CE8415-6460-448A-8CE5-224ACA340C67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1.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B4D233-0AA1-488B-846B-09FE67666855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8CA2FC-F879-4729-B1E2-9270F4D54048}"/>
              </a:ext>
            </a:extLst>
          </p:cNvPr>
          <p:cNvSpPr>
            <a:spLocks noGrp="1"/>
          </p:cNvSpPr>
          <p:nvPr/>
        </p:nvSpPr>
        <p:spPr>
          <a:xfrm>
            <a:off x="95250" y="7810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1.1. 시스템 정의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ABC2F7-6A2E-4D00-BF73-E09A58D560B5}"/>
              </a:ext>
            </a:extLst>
          </p:cNvPr>
          <p:cNvSpPr>
            <a:spLocks noGrp="1"/>
          </p:cNvSpPr>
          <p:nvPr/>
        </p:nvSpPr>
        <p:spPr>
          <a:xfrm>
            <a:off x="95250" y="11239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 dirty="0">
                <a:solidFill>
                  <a:srgbClr val="202020"/>
                </a:solidFill>
              </a:rPr>
              <a:t>- </a:t>
            </a:r>
            <a:r>
              <a:rPr lang="en-US" sz="1275" dirty="0">
                <a:solidFill>
                  <a:srgbClr val="202020"/>
                </a:solidFill>
              </a:rPr>
              <a:t>HP</a:t>
            </a:r>
            <a:r>
              <a:rPr lang="ko-KR" altLang="en-US" sz="1275" dirty="0">
                <a:solidFill>
                  <a:srgbClr val="202020"/>
                </a:solidFill>
              </a:rPr>
              <a:t>가 높은 </a:t>
            </a:r>
            <a:r>
              <a:rPr sz="1275" b="0" dirty="0" err="1">
                <a:solidFill>
                  <a:srgbClr val="202020"/>
                </a:solidFill>
              </a:rPr>
              <a:t>대형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광물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채굴</a:t>
            </a:r>
            <a:r>
              <a:rPr sz="1275" b="0" dirty="0">
                <a:solidFill>
                  <a:srgbClr val="202020"/>
                </a:solidFill>
              </a:rPr>
              <a:t> 중 </a:t>
            </a:r>
            <a:r>
              <a:rPr sz="1275" b="0" dirty="0" err="1">
                <a:solidFill>
                  <a:srgbClr val="202020"/>
                </a:solidFill>
              </a:rPr>
              <a:t>약점이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노출되고</a:t>
            </a:r>
            <a:r>
              <a:rPr sz="1275" b="0" dirty="0">
                <a:solidFill>
                  <a:srgbClr val="202020"/>
                </a:solidFill>
              </a:rPr>
              <a:t>, </a:t>
            </a:r>
            <a:r>
              <a:rPr sz="1275" b="0" dirty="0" err="1">
                <a:solidFill>
                  <a:srgbClr val="202020"/>
                </a:solidFill>
              </a:rPr>
              <a:t>약점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공략을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통해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일정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시간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브레이크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상태를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발생시키는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시스템</a:t>
            </a:r>
            <a:endParaRPr sz="1275" b="0" dirty="0">
              <a:solidFill>
                <a:srgbClr val="20202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A5F85D-BDAE-4111-AE43-F3B55BB1DEAE}"/>
              </a:ext>
            </a:extLst>
          </p:cNvPr>
          <p:cNvSpPr>
            <a:spLocks noGrp="1"/>
          </p:cNvSpPr>
          <p:nvPr/>
        </p:nvSpPr>
        <p:spPr>
          <a:xfrm>
            <a:off x="95250" y="14001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 dirty="0">
                <a:solidFill>
                  <a:srgbClr val="202020"/>
                </a:solidFill>
              </a:rPr>
              <a:t>- </a:t>
            </a:r>
            <a:r>
              <a:rPr sz="1275" b="0" dirty="0" err="1">
                <a:solidFill>
                  <a:srgbClr val="202020"/>
                </a:solidFill>
              </a:rPr>
              <a:t>브레이크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상태에서는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광물</a:t>
            </a:r>
            <a:r>
              <a:rPr lang="ko-KR" altLang="en-US" sz="1275" b="0" dirty="0">
                <a:solidFill>
                  <a:srgbClr val="202020"/>
                </a:solidFill>
              </a:rPr>
              <a:t>이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취약해져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채굴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효율이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상승한다</a:t>
            </a:r>
            <a:r>
              <a:rPr sz="1275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5B057A1-AFC8-4596-84C4-5A11AAEEE4EC}"/>
              </a:ext>
            </a:extLst>
          </p:cNvPr>
          <p:cNvSpPr>
            <a:spLocks noGrp="1"/>
          </p:cNvSpPr>
          <p:nvPr/>
        </p:nvSpPr>
        <p:spPr>
          <a:xfrm>
            <a:off x="95250" y="16764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 dirty="0">
                <a:solidFill>
                  <a:srgbClr val="202020"/>
                </a:solidFill>
              </a:rPr>
              <a:t>- </a:t>
            </a:r>
            <a:r>
              <a:rPr sz="1275" b="0" dirty="0" err="1">
                <a:solidFill>
                  <a:srgbClr val="202020"/>
                </a:solidFill>
              </a:rPr>
              <a:t>약점은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브레이크를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발생시키는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시동기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역할로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정의한다</a:t>
            </a:r>
            <a:r>
              <a:rPr sz="1275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40CF4A-C08A-4735-8A9A-5C27F6FCC599}"/>
              </a:ext>
            </a:extLst>
          </p:cNvPr>
          <p:cNvSpPr>
            <a:spLocks noGrp="1"/>
          </p:cNvSpPr>
          <p:nvPr/>
        </p:nvSpPr>
        <p:spPr>
          <a:xfrm>
            <a:off x="95250" y="22098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1.2. 적용 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44C9842-3D25-4A04-BC79-4C2E90773C8B}"/>
              </a:ext>
            </a:extLst>
          </p:cNvPr>
          <p:cNvSpPr>
            <a:spLocks noGrp="1"/>
          </p:cNvSpPr>
          <p:nvPr/>
        </p:nvSpPr>
        <p:spPr>
          <a:xfrm>
            <a:off x="95250" y="25527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대형 광물 앞에서 단순 대기성 타격이 반복되는 구간에 조작 목적을 부여한다.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9713880-94B9-4EF3-B72A-1C57876CBA02}"/>
              </a:ext>
            </a:extLst>
          </p:cNvPr>
          <p:cNvSpPr>
            <a:spLocks noGrp="1"/>
          </p:cNvSpPr>
          <p:nvPr/>
        </p:nvSpPr>
        <p:spPr>
          <a:xfrm>
            <a:off x="95250" y="28289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 dirty="0">
                <a:solidFill>
                  <a:srgbClr val="202020"/>
                </a:solidFill>
              </a:rPr>
              <a:t>- </a:t>
            </a:r>
            <a:r>
              <a:rPr sz="1275" b="0" dirty="0" err="1">
                <a:solidFill>
                  <a:srgbClr val="202020"/>
                </a:solidFill>
              </a:rPr>
              <a:t>약점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노출</a:t>
            </a:r>
            <a:r>
              <a:rPr sz="1275" b="0" dirty="0">
                <a:solidFill>
                  <a:srgbClr val="202020"/>
                </a:solidFill>
              </a:rPr>
              <a:t>, </a:t>
            </a:r>
            <a:r>
              <a:rPr sz="1275" b="0" dirty="0" err="1">
                <a:solidFill>
                  <a:srgbClr val="202020"/>
                </a:solidFill>
              </a:rPr>
              <a:t>약점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공략</a:t>
            </a:r>
            <a:r>
              <a:rPr sz="1275" b="0" dirty="0">
                <a:solidFill>
                  <a:srgbClr val="202020"/>
                </a:solidFill>
              </a:rPr>
              <a:t>, </a:t>
            </a:r>
            <a:r>
              <a:rPr sz="1275" b="0" dirty="0" err="1">
                <a:solidFill>
                  <a:srgbClr val="202020"/>
                </a:solidFill>
              </a:rPr>
              <a:t>브레이크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구간을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분리해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플레이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리듬을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만든다</a:t>
            </a:r>
            <a:r>
              <a:rPr sz="1275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8871B33-9B3C-48E9-9744-16E2191371C0}"/>
              </a:ext>
            </a:extLst>
          </p:cNvPr>
          <p:cNvSpPr>
            <a:spLocks noGrp="1"/>
          </p:cNvSpPr>
          <p:nvPr/>
        </p:nvSpPr>
        <p:spPr>
          <a:xfrm>
            <a:off x="95250" y="31051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대형 광물 앞에서 플레이어가 위치와 타격 대상을 의식하도록 만든다.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869D58A-C896-4E4A-97C3-99A7562BE7CB}"/>
              </a:ext>
            </a:extLst>
          </p:cNvPr>
          <p:cNvSpPr>
            <a:spLocks noGrp="1"/>
          </p:cNvSpPr>
          <p:nvPr/>
        </p:nvSpPr>
        <p:spPr>
          <a:xfrm>
            <a:off x="95250" y="3552825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1.3. 기대 효과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849CA47-BB06-4129-959B-6A95B8A7635E}"/>
              </a:ext>
            </a:extLst>
          </p:cNvPr>
          <p:cNvSpPr>
            <a:spLocks noGrp="1"/>
          </p:cNvSpPr>
          <p:nvPr/>
        </p:nvSpPr>
        <p:spPr>
          <a:xfrm>
            <a:off x="95250" y="38957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대형 광물을 오래 때리는 대상이 아니라 공략 대상처럼 인식하게 한다.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E428211-0368-4F19-A09A-68D855135D2C}"/>
              </a:ext>
            </a:extLst>
          </p:cNvPr>
          <p:cNvSpPr>
            <a:spLocks noGrp="1"/>
          </p:cNvSpPr>
          <p:nvPr/>
        </p:nvSpPr>
        <p:spPr>
          <a:xfrm>
            <a:off x="95250" y="41719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브레이크 타이밍을 통해 짧은 보상 구간을 제공한다.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2CDDA3B-1EC5-4588-ACA6-320A39D50850}"/>
              </a:ext>
            </a:extLst>
          </p:cNvPr>
          <p:cNvSpPr>
            <a:spLocks noGrp="1"/>
          </p:cNvSpPr>
          <p:nvPr/>
        </p:nvSpPr>
        <p:spPr>
          <a:xfrm>
            <a:off x="95250" y="44481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대형 광물의 긴 체류 시간을 공략 단계로 분해한다.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93FCAA6-079B-4829-9411-FA542076C1F5}"/>
              </a:ext>
            </a:extLst>
          </p:cNvPr>
          <p:cNvSpPr>
            <a:spLocks noGrp="1"/>
          </p:cNvSpPr>
          <p:nvPr/>
        </p:nvSpPr>
        <p:spPr>
          <a:xfrm>
            <a:off x="95250" y="4924425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1.4. 참고 링크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49ED6DF-5AF2-4B09-A1BE-D466C2D445F3}"/>
              </a:ext>
            </a:extLst>
          </p:cNvPr>
          <p:cNvSpPr>
            <a:spLocks noGrp="1"/>
          </p:cNvSpPr>
          <p:nvPr/>
        </p:nvSpPr>
        <p:spPr>
          <a:xfrm>
            <a:off x="95250" y="52673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125" b="0">
                <a:solidFill>
                  <a:srgbClr val="202020"/>
                </a:solidFill>
              </a:defRPr>
            </a:pPr>
            <a:r>
              <a:rPr sz="1125" b="0">
                <a:solidFill>
                  <a:srgbClr val="202020"/>
                </a:solidFill>
              </a:rPr>
              <a:t>- GitHub 저장소: https://github.com/bigtory-web/spin-miner-prototype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3C650D7-42CA-41E9-9262-1E2E2F26CF54}"/>
              </a:ext>
            </a:extLst>
          </p:cNvPr>
          <p:cNvSpPr>
            <a:spLocks noGrp="1"/>
          </p:cNvSpPr>
          <p:nvPr/>
        </p:nvSpPr>
        <p:spPr>
          <a:xfrm>
            <a:off x="95250" y="55054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125" b="0">
                <a:solidFill>
                  <a:srgbClr val="202020"/>
                </a:solidFill>
              </a:defRPr>
            </a:pPr>
            <a:r>
              <a:rPr sz="1125" b="0" dirty="0">
                <a:solidFill>
                  <a:srgbClr val="202020"/>
                </a:solidFill>
              </a:rPr>
              <a:t>- </a:t>
            </a:r>
            <a:r>
              <a:rPr sz="1125" b="0" dirty="0" err="1">
                <a:solidFill>
                  <a:srgbClr val="202020"/>
                </a:solidFill>
              </a:rPr>
              <a:t>플레이</a:t>
            </a:r>
            <a:r>
              <a:rPr sz="1125" b="0" dirty="0">
                <a:solidFill>
                  <a:srgbClr val="202020"/>
                </a:solidFill>
              </a:rPr>
              <a:t> </a:t>
            </a:r>
            <a:r>
              <a:rPr sz="1125" b="0" dirty="0" err="1">
                <a:solidFill>
                  <a:srgbClr val="202020"/>
                </a:solidFill>
              </a:rPr>
              <a:t>링크</a:t>
            </a:r>
            <a:r>
              <a:rPr sz="1125" b="0" dirty="0">
                <a:solidFill>
                  <a:srgbClr val="202020"/>
                </a:solidFill>
              </a:rPr>
              <a:t>: https://bigtory-web.github.io/spin-miner-prototype/</a:t>
            </a:r>
          </a:p>
        </p:txBody>
      </p:sp>
    </p:spTree>
    <p:extLst>
      <p:ext uri="{BB962C8B-B14F-4D97-AF65-F5344CB8AC3E}">
        <p14:creationId xmlns:p14="http://schemas.microsoft.com/office/powerpoint/2010/main" val="1916177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EA0399F6-E272-4692-8325-64EF3C6402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BBC1A78-5AB3-4DD0-AA75-F0CB3700B669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2. 용어 정의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B0893D2-A783-4F3C-9928-7E3759907D3F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B86B7A-C703-4BD2-96D1-827DAEB4C797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809750" cy="5905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12705C-AEAD-4388-9A17-02F9974C3388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용어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EEF5FD0-4DEF-4570-AA57-29F4106E746D}"/>
              </a:ext>
            </a:extLst>
          </p:cNvPr>
          <p:cNvSpPr>
            <a:spLocks noGrp="1"/>
          </p:cNvSpPr>
          <p:nvPr/>
        </p:nvSpPr>
        <p:spPr>
          <a:xfrm>
            <a:off x="2000250" y="914400"/>
            <a:ext cx="5334000" cy="5905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543985-E903-4550-BC36-ED23E15F5FA7}"/>
              </a:ext>
            </a:extLst>
          </p:cNvPr>
          <p:cNvSpPr>
            <a:spLocks noGrp="1"/>
          </p:cNvSpPr>
          <p:nvPr/>
        </p:nvSpPr>
        <p:spPr>
          <a:xfrm>
            <a:off x="2057400" y="95250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23B046F-99A7-4C44-ABCB-2E65D7A4BF11}"/>
              </a:ext>
            </a:extLst>
          </p:cNvPr>
          <p:cNvSpPr>
            <a:spLocks noGrp="1"/>
          </p:cNvSpPr>
          <p:nvPr/>
        </p:nvSpPr>
        <p:spPr>
          <a:xfrm>
            <a:off x="7334250" y="914400"/>
            <a:ext cx="4476750" cy="5905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4B4A4E8-017B-4580-94F6-36BF8E348199}"/>
              </a:ext>
            </a:extLst>
          </p:cNvPr>
          <p:cNvSpPr>
            <a:spLocks noGrp="1"/>
          </p:cNvSpPr>
          <p:nvPr/>
        </p:nvSpPr>
        <p:spPr>
          <a:xfrm>
            <a:off x="7391400" y="95250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기획상 역할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1B231DA-43CA-464F-BF9B-7D5CE5C77803}"/>
              </a:ext>
            </a:extLst>
          </p:cNvPr>
          <p:cNvSpPr>
            <a:spLocks noGrp="1"/>
          </p:cNvSpPr>
          <p:nvPr/>
        </p:nvSpPr>
        <p:spPr>
          <a:xfrm>
            <a:off x="190500" y="1504950"/>
            <a:ext cx="180975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E8AC9FD-9725-42BF-A3C0-C56957F4B64D}"/>
              </a:ext>
            </a:extLst>
          </p:cNvPr>
          <p:cNvSpPr>
            <a:spLocks noGrp="1"/>
          </p:cNvSpPr>
          <p:nvPr/>
        </p:nvSpPr>
        <p:spPr>
          <a:xfrm>
            <a:off x="247650" y="154305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B3BB7D-8F4E-400C-9A94-2F28B3C55266}"/>
              </a:ext>
            </a:extLst>
          </p:cNvPr>
          <p:cNvSpPr>
            <a:spLocks noGrp="1"/>
          </p:cNvSpPr>
          <p:nvPr/>
        </p:nvSpPr>
        <p:spPr>
          <a:xfrm>
            <a:off x="2000250" y="1504950"/>
            <a:ext cx="533400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C8D6A8D-7CD9-43BF-9008-62E34F34E51E}"/>
              </a:ext>
            </a:extLst>
          </p:cNvPr>
          <p:cNvSpPr>
            <a:spLocks noGrp="1"/>
          </p:cNvSpPr>
          <p:nvPr/>
        </p:nvSpPr>
        <p:spPr>
          <a:xfrm>
            <a:off x="2057400" y="154305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대형 광물 타격 누적 후 외곽선 근처에 등장하는 공략 포인트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C99F33-4F4E-4214-B67B-42830541853E}"/>
              </a:ext>
            </a:extLst>
          </p:cNvPr>
          <p:cNvSpPr>
            <a:spLocks noGrp="1"/>
          </p:cNvSpPr>
          <p:nvPr/>
        </p:nvSpPr>
        <p:spPr>
          <a:xfrm>
            <a:off x="7334250" y="1504950"/>
            <a:ext cx="447675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ED72C96-8DFD-4FB5-80AC-149E70368B82}"/>
              </a:ext>
            </a:extLst>
          </p:cNvPr>
          <p:cNvSpPr>
            <a:spLocks noGrp="1"/>
          </p:cNvSpPr>
          <p:nvPr/>
        </p:nvSpPr>
        <p:spPr>
          <a:xfrm>
            <a:off x="7391400" y="154305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브레이크를 발생시키기 위한 시동기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8CF2EBF-0302-4B10-92F7-9B7028DB2D9D}"/>
              </a:ext>
            </a:extLst>
          </p:cNvPr>
          <p:cNvSpPr>
            <a:spLocks noGrp="1"/>
          </p:cNvSpPr>
          <p:nvPr/>
        </p:nvSpPr>
        <p:spPr>
          <a:xfrm>
            <a:off x="190500" y="2095500"/>
            <a:ext cx="1809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A6332D-E008-4D6D-B12B-B94436F1FD74}"/>
              </a:ext>
            </a:extLst>
          </p:cNvPr>
          <p:cNvSpPr>
            <a:spLocks noGrp="1"/>
          </p:cNvSpPr>
          <p:nvPr/>
        </p:nvSpPr>
        <p:spPr>
          <a:xfrm>
            <a:off x="247650" y="213360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B809F1A-EDD7-45C3-9250-61EB18D11DC8}"/>
              </a:ext>
            </a:extLst>
          </p:cNvPr>
          <p:cNvSpPr>
            <a:spLocks noGrp="1"/>
          </p:cNvSpPr>
          <p:nvPr/>
        </p:nvSpPr>
        <p:spPr>
          <a:xfrm>
            <a:off x="2000250" y="2095500"/>
            <a:ext cx="533400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0F4FD5B-330F-4DC0-A506-FD58CE9FB8DA}"/>
              </a:ext>
            </a:extLst>
          </p:cNvPr>
          <p:cNvSpPr>
            <a:spLocks noGrp="1"/>
          </p:cNvSpPr>
          <p:nvPr/>
        </p:nvSpPr>
        <p:spPr>
          <a:xfrm>
            <a:off x="2057400" y="213360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 dirty="0" err="1">
                <a:solidFill>
                  <a:srgbClr val="202020"/>
                </a:solidFill>
              </a:rPr>
              <a:t>약점</a:t>
            </a:r>
            <a:r>
              <a:rPr lang="ko-KR" altLang="en-US" sz="975" b="0" dirty="0">
                <a:solidFill>
                  <a:srgbClr val="202020"/>
                </a:solidFill>
              </a:rPr>
              <a:t>을 </a:t>
            </a:r>
            <a:r>
              <a:rPr lang="ko-KR" altLang="en-US" sz="975" b="0" dirty="0" err="1">
                <a:solidFill>
                  <a:srgbClr val="202020"/>
                </a:solidFill>
              </a:rPr>
              <a:t>타격ㅎ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공략이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완료되면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일정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시간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발생하는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광물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취약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상태</a:t>
            </a:r>
            <a:endParaRPr sz="975" b="0" dirty="0">
              <a:solidFill>
                <a:srgbClr val="202020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392483D-2C47-4C32-8B84-32145C3390BC}"/>
              </a:ext>
            </a:extLst>
          </p:cNvPr>
          <p:cNvSpPr>
            <a:spLocks noGrp="1"/>
          </p:cNvSpPr>
          <p:nvPr/>
        </p:nvSpPr>
        <p:spPr>
          <a:xfrm>
            <a:off x="7334250" y="2095500"/>
            <a:ext cx="4476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0B8DFAF-A8AB-40A0-9E22-95715006073A}"/>
              </a:ext>
            </a:extLst>
          </p:cNvPr>
          <p:cNvSpPr>
            <a:spLocks noGrp="1"/>
          </p:cNvSpPr>
          <p:nvPr/>
        </p:nvSpPr>
        <p:spPr>
          <a:xfrm>
            <a:off x="7391400" y="213360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공략 성공에 대한 채굴 효율 보상 구간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3BF153E-8B4F-4B00-9F00-97B2E0EBFF07}"/>
              </a:ext>
            </a:extLst>
          </p:cNvPr>
          <p:cNvSpPr>
            <a:spLocks noGrp="1"/>
          </p:cNvSpPr>
          <p:nvPr/>
        </p:nvSpPr>
        <p:spPr>
          <a:xfrm>
            <a:off x="190500" y="2686050"/>
            <a:ext cx="180975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15FA2DF-3E9C-4843-A0A0-FA688B998471}"/>
              </a:ext>
            </a:extLst>
          </p:cNvPr>
          <p:cNvSpPr>
            <a:spLocks noGrp="1"/>
          </p:cNvSpPr>
          <p:nvPr/>
        </p:nvSpPr>
        <p:spPr>
          <a:xfrm>
            <a:off x="247650" y="272415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균열 진행도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136B5FC-9A92-441D-BEA4-1475D40307BB}"/>
              </a:ext>
            </a:extLst>
          </p:cNvPr>
          <p:cNvSpPr>
            <a:spLocks noGrp="1"/>
          </p:cNvSpPr>
          <p:nvPr/>
        </p:nvSpPr>
        <p:spPr>
          <a:xfrm>
            <a:off x="2000250" y="2686050"/>
            <a:ext cx="533400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369FE60-0540-4031-A106-C63A2E1CD94B}"/>
              </a:ext>
            </a:extLst>
          </p:cNvPr>
          <p:cNvSpPr>
            <a:spLocks noGrp="1"/>
          </p:cNvSpPr>
          <p:nvPr/>
        </p:nvSpPr>
        <p:spPr>
          <a:xfrm>
            <a:off x="2057400" y="272415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타격으로 누적되는 브레이크 발생 진행값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1F0FEB8-D767-4F5C-AC8E-0EA7F05FFABE}"/>
              </a:ext>
            </a:extLst>
          </p:cNvPr>
          <p:cNvSpPr>
            <a:spLocks noGrp="1"/>
          </p:cNvSpPr>
          <p:nvPr/>
        </p:nvSpPr>
        <p:spPr>
          <a:xfrm>
            <a:off x="7334250" y="2686050"/>
            <a:ext cx="447675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7681C4D-D419-456D-8E5E-1DF61FCD48BD}"/>
              </a:ext>
            </a:extLst>
          </p:cNvPr>
          <p:cNvSpPr>
            <a:spLocks noGrp="1"/>
          </p:cNvSpPr>
          <p:nvPr/>
        </p:nvSpPr>
        <p:spPr>
          <a:xfrm>
            <a:off x="7391400" y="272415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공략의 누적 피드백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BB159F2-966D-489A-A9CC-CAB46E5C5F9A}"/>
              </a:ext>
            </a:extLst>
          </p:cNvPr>
          <p:cNvSpPr>
            <a:spLocks noGrp="1"/>
          </p:cNvSpPr>
          <p:nvPr/>
        </p:nvSpPr>
        <p:spPr>
          <a:xfrm>
            <a:off x="190500" y="3276600"/>
            <a:ext cx="1809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C2F4A34-FE65-453D-B538-EE89FEED6ABF}"/>
              </a:ext>
            </a:extLst>
          </p:cNvPr>
          <p:cNvSpPr>
            <a:spLocks noGrp="1"/>
          </p:cNvSpPr>
          <p:nvPr/>
        </p:nvSpPr>
        <p:spPr>
          <a:xfrm>
            <a:off x="247650" y="331470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대상 광물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F132467-137F-4D37-A451-028BFCF32F87}"/>
              </a:ext>
            </a:extLst>
          </p:cNvPr>
          <p:cNvSpPr>
            <a:spLocks noGrp="1"/>
          </p:cNvSpPr>
          <p:nvPr/>
        </p:nvSpPr>
        <p:spPr>
          <a:xfrm>
            <a:off x="2000250" y="3276600"/>
            <a:ext cx="533400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0BC5789-63C9-484F-8283-8588664E6DC6}"/>
              </a:ext>
            </a:extLst>
          </p:cNvPr>
          <p:cNvSpPr>
            <a:spLocks noGrp="1"/>
          </p:cNvSpPr>
          <p:nvPr/>
        </p:nvSpPr>
        <p:spPr>
          <a:xfrm>
            <a:off x="2057400" y="331470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 dirty="0" err="1">
                <a:solidFill>
                  <a:srgbClr val="202020"/>
                </a:solidFill>
              </a:rPr>
              <a:t>일반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광물이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아닌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브레이크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연출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대상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타입으로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지정된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광물</a:t>
            </a:r>
            <a:endParaRPr sz="975" b="0" dirty="0">
              <a:solidFill>
                <a:srgbClr val="202020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67596B9-5B0D-4622-9B7C-C729F35F0FD1}"/>
              </a:ext>
            </a:extLst>
          </p:cNvPr>
          <p:cNvSpPr>
            <a:spLocks noGrp="1"/>
          </p:cNvSpPr>
          <p:nvPr/>
        </p:nvSpPr>
        <p:spPr>
          <a:xfrm>
            <a:off x="7334250" y="3276600"/>
            <a:ext cx="4476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94323D0-7D23-45A0-AB11-2FA2D05C1449}"/>
              </a:ext>
            </a:extLst>
          </p:cNvPr>
          <p:cNvSpPr>
            <a:spLocks noGrp="1"/>
          </p:cNvSpPr>
          <p:nvPr/>
        </p:nvSpPr>
        <p:spPr>
          <a:xfrm>
            <a:off x="7391400" y="331470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타입 enum으로 연출/규칙 적용 여부 결정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D83896C-4E41-452E-8318-EAE5E139B6D3}"/>
              </a:ext>
            </a:extLst>
          </p:cNvPr>
          <p:cNvSpPr>
            <a:spLocks noGrp="1"/>
          </p:cNvSpPr>
          <p:nvPr/>
        </p:nvSpPr>
        <p:spPr>
          <a:xfrm>
            <a:off x="190500" y="4991100"/>
            <a:ext cx="10858500" cy="723900"/>
          </a:xfrm>
          <a:prstGeom prst="rect">
            <a:avLst/>
          </a:prstGeom>
          <a:solidFill>
            <a:srgbClr val="FFF2CC"/>
          </a:solidFill>
          <a:ln w="9525">
            <a:solidFill>
              <a:srgbClr val="C8A60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B6942BF-6E3F-45EB-AB0C-F45ECFDD3DFB}"/>
              </a:ext>
            </a:extLst>
          </p:cNvPr>
          <p:cNvSpPr>
            <a:spLocks noGrp="1"/>
          </p:cNvSpPr>
          <p:nvPr/>
        </p:nvSpPr>
        <p:spPr>
          <a:xfrm>
            <a:off x="342900" y="518160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1">
                <a:solidFill>
                  <a:srgbClr val="202020"/>
                </a:solidFill>
              </a:defRPr>
            </a:pPr>
            <a:r>
              <a:rPr sz="1275" b="1">
                <a:solidFill>
                  <a:srgbClr val="202020"/>
                </a:solidFill>
              </a:rPr>
              <a:t>작성 기준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8B6EF29-FC7D-461F-A0CA-8AFE3203C857}"/>
              </a:ext>
            </a:extLst>
          </p:cNvPr>
          <p:cNvSpPr>
            <a:spLocks noGrp="1"/>
          </p:cNvSpPr>
          <p:nvPr/>
        </p:nvSpPr>
        <p:spPr>
          <a:xfrm>
            <a:off x="1428750" y="5181600"/>
            <a:ext cx="933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00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본 문서는 프로토타입 전체 규칙이 아니라 대형 광물 브레이크 시스템의 적용 조건, 상태, 연출 피드백을 정의하는 문서다.</a:t>
            </a:r>
          </a:p>
        </p:txBody>
      </p:sp>
    </p:spTree>
    <p:extLst>
      <p:ext uri="{BB962C8B-B14F-4D97-AF65-F5344CB8AC3E}">
        <p14:creationId xmlns:p14="http://schemas.microsoft.com/office/powerpoint/2010/main" val="773120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EA0399F6-E272-4692-8325-64EF3C6402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D5721F4-E514-4FF0-BBAB-66A006A1CC6A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3. 기존 플레이 관찰 및 설계 방향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516AFCE-A3D6-4FC8-916F-0256E452C17C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D9B842F-E382-43FA-810B-02272F3409B6}"/>
              </a:ext>
            </a:extLst>
          </p:cNvPr>
          <p:cNvSpPr>
            <a:spLocks noGrp="1"/>
          </p:cNvSpPr>
          <p:nvPr/>
        </p:nvSpPr>
        <p:spPr>
          <a:xfrm>
            <a:off x="95250" y="8001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3.1. 관찰 내용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528E02-67C3-4DDC-9505-8C0BEE3E7C18}"/>
              </a:ext>
            </a:extLst>
          </p:cNvPr>
          <p:cNvSpPr>
            <a:spLocks noGrp="1"/>
          </p:cNvSpPr>
          <p:nvPr/>
        </p:nvSpPr>
        <p:spPr>
          <a:xfrm>
            <a:off x="95250" y="1162050"/>
            <a:ext cx="152400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056B6D-DCE5-4953-AC18-1AF22DF874C7}"/>
              </a:ext>
            </a:extLst>
          </p:cNvPr>
          <p:cNvSpPr>
            <a:spLocks noGrp="1"/>
          </p:cNvSpPr>
          <p:nvPr/>
        </p:nvSpPr>
        <p:spPr>
          <a:xfrm>
            <a:off x="152400" y="12001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구분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3A5A26-E0A9-462B-AA18-A39F8AE19556}"/>
              </a:ext>
            </a:extLst>
          </p:cNvPr>
          <p:cNvSpPr>
            <a:spLocks noGrp="1"/>
          </p:cNvSpPr>
          <p:nvPr/>
        </p:nvSpPr>
        <p:spPr>
          <a:xfrm>
            <a:off x="1619250" y="1162050"/>
            <a:ext cx="42862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E7D7170-4D93-4392-B475-E66F8625CEDB}"/>
              </a:ext>
            </a:extLst>
          </p:cNvPr>
          <p:cNvSpPr>
            <a:spLocks noGrp="1"/>
          </p:cNvSpPr>
          <p:nvPr/>
        </p:nvSpPr>
        <p:spPr>
          <a:xfrm>
            <a:off x="1676400" y="1200150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관찰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E30D665-3A0B-4F9D-81B1-F8F2470C9B7B}"/>
              </a:ext>
            </a:extLst>
          </p:cNvPr>
          <p:cNvSpPr>
            <a:spLocks noGrp="1"/>
          </p:cNvSpPr>
          <p:nvPr/>
        </p:nvSpPr>
        <p:spPr>
          <a:xfrm>
            <a:off x="5905500" y="1162050"/>
            <a:ext cx="58102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DA524B5-EFF5-40CA-B0C1-67ED87B1584F}"/>
              </a:ext>
            </a:extLst>
          </p:cNvPr>
          <p:cNvSpPr>
            <a:spLocks noGrp="1"/>
          </p:cNvSpPr>
          <p:nvPr/>
        </p:nvSpPr>
        <p:spPr>
          <a:xfrm>
            <a:off x="5962650" y="1200150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기획 해석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5A8C0D0-1304-452F-A2F5-9A7553B4AAEB}"/>
              </a:ext>
            </a:extLst>
          </p:cNvPr>
          <p:cNvSpPr>
            <a:spLocks noGrp="1"/>
          </p:cNvSpPr>
          <p:nvPr/>
        </p:nvSpPr>
        <p:spPr>
          <a:xfrm>
            <a:off x="95250" y="1619250"/>
            <a:ext cx="1524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890BF6-B6EB-4754-954C-7459908AB86E}"/>
              </a:ext>
            </a:extLst>
          </p:cNvPr>
          <p:cNvSpPr>
            <a:spLocks noGrp="1"/>
          </p:cNvSpPr>
          <p:nvPr/>
        </p:nvSpPr>
        <p:spPr>
          <a:xfrm>
            <a:off x="152400" y="16573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소형 광물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E7A40AE-611C-4CFA-92D3-EFFC59F467B5}"/>
              </a:ext>
            </a:extLst>
          </p:cNvPr>
          <p:cNvSpPr>
            <a:spLocks noGrp="1"/>
          </p:cNvSpPr>
          <p:nvPr/>
        </p:nvSpPr>
        <p:spPr>
          <a:xfrm>
            <a:off x="1619250" y="1619250"/>
            <a:ext cx="4286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4DA7DB1-E7CD-4790-824B-40AFF14F5AEC}"/>
              </a:ext>
            </a:extLst>
          </p:cNvPr>
          <p:cNvSpPr>
            <a:spLocks noGrp="1"/>
          </p:cNvSpPr>
          <p:nvPr/>
        </p:nvSpPr>
        <p:spPr>
          <a:xfrm>
            <a:off x="1676400" y="1657350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이동-타격-수집 주기가 짧음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4AC3B6D-4E83-449C-8F19-373DF128091B}"/>
              </a:ext>
            </a:extLst>
          </p:cNvPr>
          <p:cNvSpPr>
            <a:spLocks noGrp="1"/>
          </p:cNvSpPr>
          <p:nvPr/>
        </p:nvSpPr>
        <p:spPr>
          <a:xfrm>
            <a:off x="5905500" y="1619250"/>
            <a:ext cx="5810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E808B7C-DE2C-4582-B322-F7CC20DB726C}"/>
              </a:ext>
            </a:extLst>
          </p:cNvPr>
          <p:cNvSpPr>
            <a:spLocks noGrp="1"/>
          </p:cNvSpPr>
          <p:nvPr/>
        </p:nvSpPr>
        <p:spPr>
          <a:xfrm>
            <a:off x="5962650" y="1657350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짧은 반복으로 플레이 리듬이 빠르게 유지됨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7599417-1B1D-4A2B-A09E-68D91CBA477A}"/>
              </a:ext>
            </a:extLst>
          </p:cNvPr>
          <p:cNvSpPr>
            <a:spLocks noGrp="1"/>
          </p:cNvSpPr>
          <p:nvPr/>
        </p:nvSpPr>
        <p:spPr>
          <a:xfrm>
            <a:off x="95250" y="2076450"/>
            <a:ext cx="1524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AC10BD-92FB-477A-9D3F-FDEED562BAB1}"/>
              </a:ext>
            </a:extLst>
          </p:cNvPr>
          <p:cNvSpPr>
            <a:spLocks noGrp="1"/>
          </p:cNvSpPr>
          <p:nvPr/>
        </p:nvSpPr>
        <p:spPr>
          <a:xfrm>
            <a:off x="152400" y="21145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대형 광물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C391A33-092A-42C8-BBDA-2378FC0BBB24}"/>
              </a:ext>
            </a:extLst>
          </p:cNvPr>
          <p:cNvSpPr>
            <a:spLocks noGrp="1"/>
          </p:cNvSpPr>
          <p:nvPr/>
        </p:nvSpPr>
        <p:spPr>
          <a:xfrm>
            <a:off x="1619250" y="2076450"/>
            <a:ext cx="4286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E7C153D-1518-4EA5-8BC9-03E1649C653C}"/>
              </a:ext>
            </a:extLst>
          </p:cNvPr>
          <p:cNvSpPr>
            <a:spLocks noGrp="1"/>
          </p:cNvSpPr>
          <p:nvPr/>
        </p:nvSpPr>
        <p:spPr>
          <a:xfrm>
            <a:off x="1676400" y="2114550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HP가 높아 같은 타격이 오래 반복됨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C4FE302-1B2C-4602-B2AA-8FF865583A04}"/>
              </a:ext>
            </a:extLst>
          </p:cNvPr>
          <p:cNvSpPr>
            <a:spLocks noGrp="1"/>
          </p:cNvSpPr>
          <p:nvPr/>
        </p:nvSpPr>
        <p:spPr>
          <a:xfrm>
            <a:off x="5905500" y="2076450"/>
            <a:ext cx="5810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14162C2-E05F-4AA0-A561-99CED031968F}"/>
              </a:ext>
            </a:extLst>
          </p:cNvPr>
          <p:cNvSpPr>
            <a:spLocks noGrp="1"/>
          </p:cNvSpPr>
          <p:nvPr/>
        </p:nvSpPr>
        <p:spPr>
          <a:xfrm>
            <a:off x="5962650" y="2114550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목표감은 있으나 조작 선택지가 부족할 수 있음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986476D-BE78-4C17-A3C2-2DFB24A30B80}"/>
              </a:ext>
            </a:extLst>
          </p:cNvPr>
          <p:cNvSpPr>
            <a:spLocks noGrp="1"/>
          </p:cNvSpPr>
          <p:nvPr/>
        </p:nvSpPr>
        <p:spPr>
          <a:xfrm>
            <a:off x="95250" y="2533650"/>
            <a:ext cx="1524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6290B70-7C99-4E7E-A7D0-B534B2C98E8D}"/>
              </a:ext>
            </a:extLst>
          </p:cNvPr>
          <p:cNvSpPr>
            <a:spLocks noGrp="1"/>
          </p:cNvSpPr>
          <p:nvPr/>
        </p:nvSpPr>
        <p:spPr>
          <a:xfrm>
            <a:off x="152400" y="25717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후보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1705F90-61AA-4B94-B39C-DC54AE1BCF3C}"/>
              </a:ext>
            </a:extLst>
          </p:cNvPr>
          <p:cNvSpPr>
            <a:spLocks noGrp="1"/>
          </p:cNvSpPr>
          <p:nvPr/>
        </p:nvSpPr>
        <p:spPr>
          <a:xfrm>
            <a:off x="1619250" y="2533650"/>
            <a:ext cx="4286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2D8416D-F174-479A-B8EB-67AD2C81A156}"/>
              </a:ext>
            </a:extLst>
          </p:cNvPr>
          <p:cNvSpPr>
            <a:spLocks noGrp="1"/>
          </p:cNvSpPr>
          <p:nvPr/>
        </p:nvSpPr>
        <p:spPr>
          <a:xfrm>
            <a:off x="1676400" y="2571750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특정 광물만 별도 공략 대상으로 지정 가능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D19C8C3-9B6D-421B-8DD0-77E2BB5F8FFC}"/>
              </a:ext>
            </a:extLst>
          </p:cNvPr>
          <p:cNvSpPr>
            <a:spLocks noGrp="1"/>
          </p:cNvSpPr>
          <p:nvPr/>
        </p:nvSpPr>
        <p:spPr>
          <a:xfrm>
            <a:off x="5905500" y="2533650"/>
            <a:ext cx="5810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A9C287-885C-4CA3-9564-69A0A3733856}"/>
              </a:ext>
            </a:extLst>
          </p:cNvPr>
          <p:cNvSpPr>
            <a:spLocks noGrp="1"/>
          </p:cNvSpPr>
          <p:nvPr/>
        </p:nvSpPr>
        <p:spPr>
          <a:xfrm>
            <a:off x="5962650" y="2571750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타입 enum으로 연출 적용 대상을 구분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4D3F960-9238-4AEC-96A3-B6A288EDEF75}"/>
              </a:ext>
            </a:extLst>
          </p:cNvPr>
          <p:cNvSpPr>
            <a:spLocks noGrp="1"/>
          </p:cNvSpPr>
          <p:nvPr/>
        </p:nvSpPr>
        <p:spPr>
          <a:xfrm>
            <a:off x="95250" y="30670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3.2. 설계 방향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28DADD9-B9CB-4DD4-8072-9939DBB19310}"/>
              </a:ext>
            </a:extLst>
          </p:cNvPr>
          <p:cNvSpPr>
            <a:spLocks noGrp="1"/>
          </p:cNvSpPr>
          <p:nvPr/>
        </p:nvSpPr>
        <p:spPr>
          <a:xfrm>
            <a:off x="95250" y="34290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대형 광물의 긴 채굴 시간을 단순 HP 증가가 아닌 단계형 공략 구조로 전환한다.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5C5A34D-7694-43B5-A99F-7C6D2A66A1BB}"/>
              </a:ext>
            </a:extLst>
          </p:cNvPr>
          <p:cNvSpPr>
            <a:spLocks noGrp="1"/>
          </p:cNvSpPr>
          <p:nvPr/>
        </p:nvSpPr>
        <p:spPr>
          <a:xfrm>
            <a:off x="95250" y="37052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약점 노출 전후, 브레이크 전후의 피드백을 명확히 분리한다.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6F1BE2B-F48B-4744-A19F-FE3C27B97768}"/>
              </a:ext>
            </a:extLst>
          </p:cNvPr>
          <p:cNvSpPr>
            <a:spLocks noGrp="1"/>
          </p:cNvSpPr>
          <p:nvPr/>
        </p:nvSpPr>
        <p:spPr>
          <a:xfrm>
            <a:off x="95250" y="39814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데미지는 곡괭이 기본 성능을 기준으로 고정하고, 브레이크는 보상 배율로만 처리한다.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1F32916-093C-41F5-A54B-0A4BBAA3BC46}"/>
              </a:ext>
            </a:extLst>
          </p:cNvPr>
          <p:cNvSpPr>
            <a:spLocks noGrp="1"/>
          </p:cNvSpPr>
          <p:nvPr/>
        </p:nvSpPr>
        <p:spPr>
          <a:xfrm>
            <a:off x="95250" y="4762500"/>
            <a:ext cx="11239500" cy="876300"/>
          </a:xfrm>
          <a:prstGeom prst="rect">
            <a:avLst/>
          </a:prstGeom>
          <a:solidFill>
            <a:srgbClr val="FFF2CC"/>
          </a:solidFill>
          <a:ln w="9525">
            <a:solidFill>
              <a:srgbClr val="C8A60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46E14BE-7FD8-4C8F-9710-7ADF93AD5B55}"/>
              </a:ext>
            </a:extLst>
          </p:cNvPr>
          <p:cNvSpPr>
            <a:spLocks noGrp="1"/>
          </p:cNvSpPr>
          <p:nvPr/>
        </p:nvSpPr>
        <p:spPr>
          <a:xfrm>
            <a:off x="247650" y="49530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1">
                <a:solidFill>
                  <a:srgbClr val="202020"/>
                </a:solidFill>
              </a:defRPr>
            </a:pPr>
            <a:r>
              <a:rPr sz="1275" b="1">
                <a:solidFill>
                  <a:srgbClr val="202020"/>
                </a:solidFill>
              </a:rPr>
              <a:t>문서 표현 기준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106F661-EE4B-4C03-B424-C642513F6B32}"/>
              </a:ext>
            </a:extLst>
          </p:cNvPr>
          <p:cNvSpPr>
            <a:spLocks noGrp="1"/>
          </p:cNvSpPr>
          <p:nvPr/>
        </p:nvSpPr>
        <p:spPr>
          <a:xfrm>
            <a:off x="247650" y="5257800"/>
            <a:ext cx="1066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본 문서는 원작 개선 완료 보고가 아니라, 라이브 게임 관찰을 기반으로 한 시스템 제안 및 프로토타입 검증 문서로 작성한다.</a:t>
            </a:r>
          </a:p>
        </p:txBody>
      </p:sp>
    </p:spTree>
    <p:extLst>
      <p:ext uri="{BB962C8B-B14F-4D97-AF65-F5344CB8AC3E}">
        <p14:creationId xmlns:p14="http://schemas.microsoft.com/office/powerpoint/2010/main" val="1186324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EA0399F6-E272-4692-8325-64EF3C6402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C5C0B45-AE9F-45F3-ACCA-A1AC1F3D2DE7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4. 브레이크 시스템 기본 플로우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B3A9A6B-6E19-4F8E-8A82-FFCD2FAC7741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7A5DBBB-2151-4268-A485-8E66612F53FB}"/>
              </a:ext>
            </a:extLst>
          </p:cNvPr>
          <p:cNvSpPr>
            <a:spLocks noGrp="1"/>
          </p:cNvSpPr>
          <p:nvPr/>
        </p:nvSpPr>
        <p:spPr>
          <a:xfrm>
            <a:off x="228600" y="990600"/>
            <a:ext cx="1778000" cy="66675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56A75C2-9DBA-48EE-B668-FAE6247B987E}"/>
              </a:ext>
            </a:extLst>
          </p:cNvPr>
          <p:cNvSpPr>
            <a:spLocks noGrp="1"/>
          </p:cNvSpPr>
          <p:nvPr/>
        </p:nvSpPr>
        <p:spPr>
          <a:xfrm>
            <a:off x="28575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브레이크 대상 광물 접근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0DB9E4-2403-4CB4-AB87-221D5B29CCE8}"/>
              </a:ext>
            </a:extLst>
          </p:cNvPr>
          <p:cNvSpPr>
            <a:spLocks noGrp="1"/>
          </p:cNvSpPr>
          <p:nvPr/>
        </p:nvSpPr>
        <p:spPr>
          <a:xfrm>
            <a:off x="202565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703649-6F95-45AC-B725-A9D797F4AFF7}"/>
              </a:ext>
            </a:extLst>
          </p:cNvPr>
          <p:cNvSpPr>
            <a:spLocks noGrp="1"/>
          </p:cNvSpPr>
          <p:nvPr/>
        </p:nvSpPr>
        <p:spPr>
          <a:xfrm>
            <a:off x="2178050" y="990600"/>
            <a:ext cx="1778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EA56CC-63AC-431F-8AEC-6D240AEC233B}"/>
              </a:ext>
            </a:extLst>
          </p:cNvPr>
          <p:cNvSpPr>
            <a:spLocks noGrp="1"/>
          </p:cNvSpPr>
          <p:nvPr/>
        </p:nvSpPr>
        <p:spPr>
          <a:xfrm>
            <a:off x="223520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몸통 타격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C8B1C92-1C68-4640-ABBB-7FB0BFDCB315}"/>
              </a:ext>
            </a:extLst>
          </p:cNvPr>
          <p:cNvSpPr>
            <a:spLocks noGrp="1"/>
          </p:cNvSpPr>
          <p:nvPr/>
        </p:nvSpPr>
        <p:spPr>
          <a:xfrm>
            <a:off x="397510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F672A50-7C92-4A50-98E2-D71A61B64886}"/>
              </a:ext>
            </a:extLst>
          </p:cNvPr>
          <p:cNvSpPr>
            <a:spLocks noGrp="1"/>
          </p:cNvSpPr>
          <p:nvPr/>
        </p:nvSpPr>
        <p:spPr>
          <a:xfrm>
            <a:off x="4127500" y="990600"/>
            <a:ext cx="1778000" cy="66675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5C52C4E-1587-4768-BD02-85CA0889D6A8}"/>
              </a:ext>
            </a:extLst>
          </p:cNvPr>
          <p:cNvSpPr>
            <a:spLocks noGrp="1"/>
          </p:cNvSpPr>
          <p:nvPr/>
        </p:nvSpPr>
        <p:spPr>
          <a:xfrm>
            <a:off x="418465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노출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D41382-FC5E-4EB0-A440-E70364F22418}"/>
              </a:ext>
            </a:extLst>
          </p:cNvPr>
          <p:cNvSpPr>
            <a:spLocks noGrp="1"/>
          </p:cNvSpPr>
          <p:nvPr/>
        </p:nvSpPr>
        <p:spPr>
          <a:xfrm>
            <a:off x="592455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1DEB16D-F78B-41C6-B0B7-1AC6E8677448}"/>
              </a:ext>
            </a:extLst>
          </p:cNvPr>
          <p:cNvSpPr>
            <a:spLocks noGrp="1"/>
          </p:cNvSpPr>
          <p:nvPr/>
        </p:nvSpPr>
        <p:spPr>
          <a:xfrm>
            <a:off x="6076950" y="990600"/>
            <a:ext cx="1778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D16F245-A37E-434C-BD26-49E1A67F8F5E}"/>
              </a:ext>
            </a:extLst>
          </p:cNvPr>
          <p:cNvSpPr>
            <a:spLocks noGrp="1"/>
          </p:cNvSpPr>
          <p:nvPr/>
        </p:nvSpPr>
        <p:spPr>
          <a:xfrm>
            <a:off x="613410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공략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1782544-4D30-4276-BA36-E48913D83C78}"/>
              </a:ext>
            </a:extLst>
          </p:cNvPr>
          <p:cNvSpPr>
            <a:spLocks noGrp="1"/>
          </p:cNvSpPr>
          <p:nvPr/>
        </p:nvSpPr>
        <p:spPr>
          <a:xfrm>
            <a:off x="787400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9536C34-173C-4D64-9FC6-F93C34E83861}"/>
              </a:ext>
            </a:extLst>
          </p:cNvPr>
          <p:cNvSpPr>
            <a:spLocks noGrp="1"/>
          </p:cNvSpPr>
          <p:nvPr/>
        </p:nvSpPr>
        <p:spPr>
          <a:xfrm>
            <a:off x="8026400" y="990600"/>
            <a:ext cx="1778000" cy="66675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90888F-C26F-45B7-988A-78FBBE7F0804}"/>
              </a:ext>
            </a:extLst>
          </p:cNvPr>
          <p:cNvSpPr>
            <a:spLocks noGrp="1"/>
          </p:cNvSpPr>
          <p:nvPr/>
        </p:nvSpPr>
        <p:spPr>
          <a:xfrm>
            <a:off x="808355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132D66E-F8B7-4E24-8E95-228648BB1298}"/>
              </a:ext>
            </a:extLst>
          </p:cNvPr>
          <p:cNvSpPr>
            <a:spLocks noGrp="1"/>
          </p:cNvSpPr>
          <p:nvPr/>
        </p:nvSpPr>
        <p:spPr>
          <a:xfrm>
            <a:off x="982345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7D7FD8C-C275-4825-81E0-B03927A97327}"/>
              </a:ext>
            </a:extLst>
          </p:cNvPr>
          <p:cNvSpPr>
            <a:spLocks noGrp="1"/>
          </p:cNvSpPr>
          <p:nvPr/>
        </p:nvSpPr>
        <p:spPr>
          <a:xfrm>
            <a:off x="9975850" y="990600"/>
            <a:ext cx="1778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89F5A06-9F28-4B94-8BE0-41DB36279E43}"/>
              </a:ext>
            </a:extLst>
          </p:cNvPr>
          <p:cNvSpPr>
            <a:spLocks noGrp="1"/>
          </p:cNvSpPr>
          <p:nvPr/>
        </p:nvSpPr>
        <p:spPr>
          <a:xfrm>
            <a:off x="1003300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일반 상태 복귀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A2CB9FF-3E8D-49D8-A1F7-D1CC2B667D16}"/>
              </a:ext>
            </a:extLst>
          </p:cNvPr>
          <p:cNvSpPr>
            <a:spLocks noGrp="1"/>
          </p:cNvSpPr>
          <p:nvPr/>
        </p:nvSpPr>
        <p:spPr>
          <a:xfrm>
            <a:off x="95250" y="21145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4.1. 기본 플로우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AEE97BE-1F9B-4CE9-A9D4-EC9CAE620D6C}"/>
              </a:ext>
            </a:extLst>
          </p:cNvPr>
          <p:cNvSpPr>
            <a:spLocks noGrp="1"/>
          </p:cNvSpPr>
          <p:nvPr/>
        </p:nvSpPr>
        <p:spPr>
          <a:xfrm>
            <a:off x="95250" y="24574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플레이어는 WASD 또는 드래그로 이동하며, 회전 곡괭이가 광물과 접촉하면 타격한다.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CA81DCD-B6B2-4845-9EF4-E7131DA7B41E}"/>
              </a:ext>
            </a:extLst>
          </p:cNvPr>
          <p:cNvSpPr>
            <a:spLocks noGrp="1"/>
          </p:cNvSpPr>
          <p:nvPr/>
        </p:nvSpPr>
        <p:spPr>
          <a:xfrm>
            <a:off x="95250" y="27432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브레이크 대상 enum으로 지정된 광물은 타격 누적 후 약점이 등장한다.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FD177E3-037B-4F0B-BD07-72B3AEA41B95}"/>
              </a:ext>
            </a:extLst>
          </p:cNvPr>
          <p:cNvSpPr>
            <a:spLocks noGrp="1"/>
          </p:cNvSpPr>
          <p:nvPr/>
        </p:nvSpPr>
        <p:spPr>
          <a:xfrm>
            <a:off x="95250" y="30289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약점 타격 누적으로 브레이크 상태에 진입한다.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28564D3-F42E-49D1-A1B8-E47F8C792240}"/>
              </a:ext>
            </a:extLst>
          </p:cNvPr>
          <p:cNvSpPr>
            <a:spLocks noGrp="1"/>
          </p:cNvSpPr>
          <p:nvPr/>
        </p:nvSpPr>
        <p:spPr>
          <a:xfrm>
            <a:off x="95250" y="33147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브레이크 시간이 종료되면 약점은 숨겨지고 일반 타격 상태로 복귀한다.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E57BE5F-68A2-4FD1-A6A2-A5C89E36B571}"/>
              </a:ext>
            </a:extLst>
          </p:cNvPr>
          <p:cNvSpPr>
            <a:spLocks noGrp="1"/>
          </p:cNvSpPr>
          <p:nvPr/>
        </p:nvSpPr>
        <p:spPr>
          <a:xfrm>
            <a:off x="95250" y="36004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프로토타입 전체 진행 조건은 본 문서의 설명 범위에서 제외한다.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79DCE5E-7990-4207-8F12-E2C073202DF8}"/>
              </a:ext>
            </a:extLst>
          </p:cNvPr>
          <p:cNvSpPr>
            <a:spLocks noGrp="1"/>
          </p:cNvSpPr>
          <p:nvPr/>
        </p:nvSpPr>
        <p:spPr>
          <a:xfrm>
            <a:off x="95250" y="42672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4.2. 적용 범위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0865BA4-6F70-48CE-809F-D26D4FB0B1B4}"/>
              </a:ext>
            </a:extLst>
          </p:cNvPr>
          <p:cNvSpPr>
            <a:spLocks noGrp="1"/>
          </p:cNvSpPr>
          <p:nvPr/>
        </p:nvSpPr>
        <p:spPr>
          <a:xfrm>
            <a:off x="95250" y="46101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광물 타입 데이터에서 브레이크 연출 적용 여부를 제어한다.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304B9A6-7669-4875-9EA4-065E6F7F1096}"/>
              </a:ext>
            </a:extLst>
          </p:cNvPr>
          <p:cNvSpPr>
            <a:spLocks noGrp="1"/>
          </p:cNvSpPr>
          <p:nvPr/>
        </p:nvSpPr>
        <p:spPr>
          <a:xfrm>
            <a:off x="95250" y="48863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브레이크 대상이 아닌 광물은 기존 채굴 처리만 유지한다.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5D4EC00-0B09-4AFE-911D-90985C4BCD84}"/>
              </a:ext>
            </a:extLst>
          </p:cNvPr>
          <p:cNvSpPr>
            <a:spLocks noGrp="1"/>
          </p:cNvSpPr>
          <p:nvPr/>
        </p:nvSpPr>
        <p:spPr>
          <a:xfrm>
            <a:off x="95250" y="51625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원작의 실제 진행/보상 규칙과는 분리해 작성한다.</a:t>
            </a:r>
          </a:p>
        </p:txBody>
      </p:sp>
    </p:spTree>
    <p:extLst>
      <p:ext uri="{BB962C8B-B14F-4D97-AF65-F5344CB8AC3E}">
        <p14:creationId xmlns:p14="http://schemas.microsoft.com/office/powerpoint/2010/main" val="2134275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EA0399F6-E272-4692-8325-64EF3C6402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C9639FF-F09F-41D7-953C-A19D8848BBE7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5. 브레이크 시스템 상세 플로우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A7773D5-B8FC-411B-B930-AC58BC1CF99D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357398E-132C-40F9-BEAA-84FD5C3CBCA3}"/>
              </a:ext>
            </a:extLst>
          </p:cNvPr>
          <p:cNvSpPr>
            <a:spLocks noGrp="1"/>
          </p:cNvSpPr>
          <p:nvPr/>
        </p:nvSpPr>
        <p:spPr>
          <a:xfrm>
            <a:off x="285750" y="990600"/>
            <a:ext cx="1730375" cy="72390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A4BA09-1418-45D7-A85E-BF1F23BB1728}"/>
              </a:ext>
            </a:extLst>
          </p:cNvPr>
          <p:cNvSpPr>
            <a:spLocks noGrp="1"/>
          </p:cNvSpPr>
          <p:nvPr/>
        </p:nvSpPr>
        <p:spPr>
          <a:xfrm>
            <a:off x="342900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일반 타격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F65B0C-D9E2-4C14-9712-7AFACE5846DC}"/>
              </a:ext>
            </a:extLst>
          </p:cNvPr>
          <p:cNvSpPr>
            <a:spLocks noGrp="1"/>
          </p:cNvSpPr>
          <p:nvPr/>
        </p:nvSpPr>
        <p:spPr>
          <a:xfrm>
            <a:off x="2035175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27DB85C-587A-4C69-9898-46638D3A128C}"/>
              </a:ext>
            </a:extLst>
          </p:cNvPr>
          <p:cNvSpPr>
            <a:spLocks noGrp="1"/>
          </p:cNvSpPr>
          <p:nvPr/>
        </p:nvSpPr>
        <p:spPr>
          <a:xfrm>
            <a:off x="2187575" y="990600"/>
            <a:ext cx="17303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63D987-A2AF-4B67-82AA-B0F324267A4C}"/>
              </a:ext>
            </a:extLst>
          </p:cNvPr>
          <p:cNvSpPr>
            <a:spLocks noGrp="1"/>
          </p:cNvSpPr>
          <p:nvPr/>
        </p:nvSpPr>
        <p:spPr>
          <a:xfrm>
            <a:off x="2244725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등장 조건 충족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AFCC4F8-287A-4153-812B-A92C0EF1872A}"/>
              </a:ext>
            </a:extLst>
          </p:cNvPr>
          <p:cNvSpPr>
            <a:spLocks noGrp="1"/>
          </p:cNvSpPr>
          <p:nvPr/>
        </p:nvSpPr>
        <p:spPr>
          <a:xfrm>
            <a:off x="3937000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E85AA2-03A9-4DAE-9411-01C850AA56EF}"/>
              </a:ext>
            </a:extLst>
          </p:cNvPr>
          <p:cNvSpPr>
            <a:spLocks noGrp="1"/>
          </p:cNvSpPr>
          <p:nvPr/>
        </p:nvSpPr>
        <p:spPr>
          <a:xfrm>
            <a:off x="4089400" y="990600"/>
            <a:ext cx="1730375" cy="72390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C22C786-EA35-4E19-B9A0-484706D86147}"/>
              </a:ext>
            </a:extLst>
          </p:cNvPr>
          <p:cNvSpPr>
            <a:spLocks noGrp="1"/>
          </p:cNvSpPr>
          <p:nvPr/>
        </p:nvSpPr>
        <p:spPr>
          <a:xfrm>
            <a:off x="4146550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즉시 등장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8E3B8E5-8E0C-4A7C-850F-0DF1AA4AFD93}"/>
              </a:ext>
            </a:extLst>
          </p:cNvPr>
          <p:cNvSpPr>
            <a:spLocks noGrp="1"/>
          </p:cNvSpPr>
          <p:nvPr/>
        </p:nvSpPr>
        <p:spPr>
          <a:xfrm>
            <a:off x="5838825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4EDCDE-BBA9-4649-B3F8-B61FC6DE48D6}"/>
              </a:ext>
            </a:extLst>
          </p:cNvPr>
          <p:cNvSpPr>
            <a:spLocks noGrp="1"/>
          </p:cNvSpPr>
          <p:nvPr/>
        </p:nvSpPr>
        <p:spPr>
          <a:xfrm>
            <a:off x="5991225" y="990600"/>
            <a:ext cx="17303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B944DDA-CE07-4890-86AC-D2A83B814B4D}"/>
              </a:ext>
            </a:extLst>
          </p:cNvPr>
          <p:cNvSpPr>
            <a:spLocks noGrp="1"/>
          </p:cNvSpPr>
          <p:nvPr/>
        </p:nvSpPr>
        <p:spPr>
          <a:xfrm>
            <a:off x="6048375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반복 타격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DDBFF5B-F5C0-411C-B8F8-E4F8B0E8ED6F}"/>
              </a:ext>
            </a:extLst>
          </p:cNvPr>
          <p:cNvSpPr>
            <a:spLocks noGrp="1"/>
          </p:cNvSpPr>
          <p:nvPr/>
        </p:nvSpPr>
        <p:spPr>
          <a:xfrm>
            <a:off x="7740650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A49753A-B6DA-4A93-9F91-EA8F616FCCD0}"/>
              </a:ext>
            </a:extLst>
          </p:cNvPr>
          <p:cNvSpPr>
            <a:spLocks noGrp="1"/>
          </p:cNvSpPr>
          <p:nvPr/>
        </p:nvSpPr>
        <p:spPr>
          <a:xfrm>
            <a:off x="7893050" y="990600"/>
            <a:ext cx="1730375" cy="72390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7C259C8-A0B2-4ECB-B980-11B7BCA3F6ED}"/>
              </a:ext>
            </a:extLst>
          </p:cNvPr>
          <p:cNvSpPr>
            <a:spLocks noGrp="1"/>
          </p:cNvSpPr>
          <p:nvPr/>
        </p:nvSpPr>
        <p:spPr>
          <a:xfrm>
            <a:off x="7950200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브레이크 발생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9BDBCA6-0BCF-48F7-B147-7FEE7597DB8A}"/>
              </a:ext>
            </a:extLst>
          </p:cNvPr>
          <p:cNvSpPr>
            <a:spLocks noGrp="1"/>
          </p:cNvSpPr>
          <p:nvPr/>
        </p:nvSpPr>
        <p:spPr>
          <a:xfrm>
            <a:off x="9642475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C018BC1-0778-4220-BE48-957B4E7D9427}"/>
              </a:ext>
            </a:extLst>
          </p:cNvPr>
          <p:cNvSpPr>
            <a:spLocks noGrp="1"/>
          </p:cNvSpPr>
          <p:nvPr/>
        </p:nvSpPr>
        <p:spPr>
          <a:xfrm>
            <a:off x="9794875" y="990600"/>
            <a:ext cx="17303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CB17FE2-DB0F-4E96-9D58-79DDF188D7C8}"/>
              </a:ext>
            </a:extLst>
          </p:cNvPr>
          <p:cNvSpPr>
            <a:spLocks noGrp="1"/>
          </p:cNvSpPr>
          <p:nvPr/>
        </p:nvSpPr>
        <p:spPr>
          <a:xfrm>
            <a:off x="9852025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일반 상태 복귀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EB3E5FF-4A59-4E14-9209-C214A8E85993}"/>
              </a:ext>
            </a:extLst>
          </p:cNvPr>
          <p:cNvSpPr>
            <a:spLocks noGrp="1"/>
          </p:cNvSpPr>
          <p:nvPr/>
        </p:nvSpPr>
        <p:spPr>
          <a:xfrm>
            <a:off x="190500" y="2190750"/>
            <a:ext cx="1381125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CE39F9A-8AB3-4C97-B4F0-DEC8CD78D6D1}"/>
              </a:ext>
            </a:extLst>
          </p:cNvPr>
          <p:cNvSpPr>
            <a:spLocks noGrp="1"/>
          </p:cNvSpPr>
          <p:nvPr/>
        </p:nvSpPr>
        <p:spPr>
          <a:xfrm>
            <a:off x="247650" y="222885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단계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1A82BA6-8F16-4176-9FD3-784A6AD87E73}"/>
              </a:ext>
            </a:extLst>
          </p:cNvPr>
          <p:cNvSpPr>
            <a:spLocks noGrp="1"/>
          </p:cNvSpPr>
          <p:nvPr/>
        </p:nvSpPr>
        <p:spPr>
          <a:xfrm>
            <a:off x="1571625" y="2190750"/>
            <a:ext cx="2905125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FB58FB2-C0F1-47EC-8D90-DA65610425B2}"/>
              </a:ext>
            </a:extLst>
          </p:cNvPr>
          <p:cNvSpPr>
            <a:spLocks noGrp="1"/>
          </p:cNvSpPr>
          <p:nvPr/>
        </p:nvSpPr>
        <p:spPr>
          <a:xfrm>
            <a:off x="1628775" y="222885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조건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5B2F3DF-18B3-4661-B5A9-5C4D68DFB028}"/>
              </a:ext>
            </a:extLst>
          </p:cNvPr>
          <p:cNvSpPr>
            <a:spLocks noGrp="1"/>
          </p:cNvSpPr>
          <p:nvPr/>
        </p:nvSpPr>
        <p:spPr>
          <a:xfrm>
            <a:off x="4476750" y="2190750"/>
            <a:ext cx="3857625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CB464A9-F929-4E8F-94AD-11F172E1647E}"/>
              </a:ext>
            </a:extLst>
          </p:cNvPr>
          <p:cNvSpPr>
            <a:spLocks noGrp="1"/>
          </p:cNvSpPr>
          <p:nvPr/>
        </p:nvSpPr>
        <p:spPr>
          <a:xfrm>
            <a:off x="4533900" y="222885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표현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162302E-2123-4321-9AAC-60F4B4400BE4}"/>
              </a:ext>
            </a:extLst>
          </p:cNvPr>
          <p:cNvSpPr>
            <a:spLocks noGrp="1"/>
          </p:cNvSpPr>
          <p:nvPr/>
        </p:nvSpPr>
        <p:spPr>
          <a:xfrm>
            <a:off x="8334375" y="2190750"/>
            <a:ext cx="3143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E46BB0C-DBA7-45E1-9995-2AFBFB5A9FD9}"/>
              </a:ext>
            </a:extLst>
          </p:cNvPr>
          <p:cNvSpPr>
            <a:spLocks noGrp="1"/>
          </p:cNvSpPr>
          <p:nvPr/>
        </p:nvSpPr>
        <p:spPr>
          <a:xfrm>
            <a:off x="8391525" y="22288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결과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5571CC1-28F6-4FEC-9117-8FBD49D8D4E4}"/>
              </a:ext>
            </a:extLst>
          </p:cNvPr>
          <p:cNvSpPr>
            <a:spLocks noGrp="1"/>
          </p:cNvSpPr>
          <p:nvPr/>
        </p:nvSpPr>
        <p:spPr>
          <a:xfrm>
            <a:off x="190500" y="2743200"/>
            <a:ext cx="1381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FD85D57-1CAB-4A22-ADFC-2604E6BEFA9B}"/>
              </a:ext>
            </a:extLst>
          </p:cNvPr>
          <p:cNvSpPr>
            <a:spLocks noGrp="1"/>
          </p:cNvSpPr>
          <p:nvPr/>
        </p:nvSpPr>
        <p:spPr>
          <a:xfrm>
            <a:off x="247650" y="278130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일반 타격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1313400-0056-4B5D-8E5E-F4937490FD34}"/>
              </a:ext>
            </a:extLst>
          </p:cNvPr>
          <p:cNvSpPr>
            <a:spLocks noGrp="1"/>
          </p:cNvSpPr>
          <p:nvPr/>
        </p:nvSpPr>
        <p:spPr>
          <a:xfrm>
            <a:off x="1571625" y="2743200"/>
            <a:ext cx="2905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FACE48B-EAFD-4765-A53B-A94EFA9BC313}"/>
              </a:ext>
            </a:extLst>
          </p:cNvPr>
          <p:cNvSpPr>
            <a:spLocks noGrp="1"/>
          </p:cNvSpPr>
          <p:nvPr/>
        </p:nvSpPr>
        <p:spPr>
          <a:xfrm>
            <a:off x="1628775" y="278130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몸통에 곡괭이 접촉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6583DA8-A299-4577-99AB-583FE4AF2FE4}"/>
              </a:ext>
            </a:extLst>
          </p:cNvPr>
          <p:cNvSpPr>
            <a:spLocks noGrp="1"/>
          </p:cNvSpPr>
          <p:nvPr/>
        </p:nvSpPr>
        <p:spPr>
          <a:xfrm>
            <a:off x="4476750" y="2743200"/>
            <a:ext cx="3857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6530934-E3C2-4DBD-A7B5-81ABE408F921}"/>
              </a:ext>
            </a:extLst>
          </p:cNvPr>
          <p:cNvSpPr>
            <a:spLocks noGrp="1"/>
          </p:cNvSpPr>
          <p:nvPr/>
        </p:nvSpPr>
        <p:spPr>
          <a:xfrm>
            <a:off x="4533900" y="278130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피격 스케일 연출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D5F5533-F270-4461-9C07-72B76502E008}"/>
              </a:ext>
            </a:extLst>
          </p:cNvPr>
          <p:cNvSpPr>
            <a:spLocks noGrp="1"/>
          </p:cNvSpPr>
          <p:nvPr/>
        </p:nvSpPr>
        <p:spPr>
          <a:xfrm>
            <a:off x="8334375" y="27432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2382A4F-04F1-42EE-95AC-4A6E1E962B80}"/>
              </a:ext>
            </a:extLst>
          </p:cNvPr>
          <p:cNvSpPr>
            <a:spLocks noGrp="1"/>
          </p:cNvSpPr>
          <p:nvPr/>
        </p:nvSpPr>
        <p:spPr>
          <a:xfrm>
            <a:off x="8391525" y="27813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HP 감소 / 약점 노출 카운트 증가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A33A5E6-71B7-4FF8-BADB-3E867F905D1C}"/>
              </a:ext>
            </a:extLst>
          </p:cNvPr>
          <p:cNvSpPr>
            <a:spLocks noGrp="1"/>
          </p:cNvSpPr>
          <p:nvPr/>
        </p:nvSpPr>
        <p:spPr>
          <a:xfrm>
            <a:off x="190500" y="3295650"/>
            <a:ext cx="1381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850BED1-75F7-4C94-845A-FABA9D492E3C}"/>
              </a:ext>
            </a:extLst>
          </p:cNvPr>
          <p:cNvSpPr>
            <a:spLocks noGrp="1"/>
          </p:cNvSpPr>
          <p:nvPr/>
        </p:nvSpPr>
        <p:spPr>
          <a:xfrm>
            <a:off x="247650" y="333375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노출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34AE404-5804-49DF-9B57-64CA03B768B5}"/>
              </a:ext>
            </a:extLst>
          </p:cNvPr>
          <p:cNvSpPr>
            <a:spLocks noGrp="1"/>
          </p:cNvSpPr>
          <p:nvPr/>
        </p:nvSpPr>
        <p:spPr>
          <a:xfrm>
            <a:off x="1571625" y="3295650"/>
            <a:ext cx="2905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CE5FA12-B683-4731-B8F7-7DB03316270B}"/>
              </a:ext>
            </a:extLst>
          </p:cNvPr>
          <p:cNvSpPr>
            <a:spLocks noGrp="1"/>
          </p:cNvSpPr>
          <p:nvPr/>
        </p:nvSpPr>
        <p:spPr>
          <a:xfrm>
            <a:off x="1628775" y="333375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노출 조건 충족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779D1D1-C241-4E94-B18D-D65F123B1153}"/>
              </a:ext>
            </a:extLst>
          </p:cNvPr>
          <p:cNvSpPr>
            <a:spLocks noGrp="1"/>
          </p:cNvSpPr>
          <p:nvPr/>
        </p:nvSpPr>
        <p:spPr>
          <a:xfrm>
            <a:off x="4476750" y="3295650"/>
            <a:ext cx="38576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E250525-8AA1-4F47-9A33-17E5AE26D2E5}"/>
              </a:ext>
            </a:extLst>
          </p:cNvPr>
          <p:cNvSpPr>
            <a:spLocks noGrp="1"/>
          </p:cNvSpPr>
          <p:nvPr/>
        </p:nvSpPr>
        <p:spPr>
          <a:xfrm>
            <a:off x="4533900" y="333375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외곽선 근처에 X 마크 즉시 등장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D1148F5-C6FE-4F9C-B91B-551EE352C95F}"/>
              </a:ext>
            </a:extLst>
          </p:cNvPr>
          <p:cNvSpPr>
            <a:spLocks noGrp="1"/>
          </p:cNvSpPr>
          <p:nvPr/>
        </p:nvSpPr>
        <p:spPr>
          <a:xfrm>
            <a:off x="8334375" y="329565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061573C-2F92-4BFB-90F9-1D3D350E3D96}"/>
              </a:ext>
            </a:extLst>
          </p:cNvPr>
          <p:cNvSpPr>
            <a:spLocks noGrp="1"/>
          </p:cNvSpPr>
          <p:nvPr/>
        </p:nvSpPr>
        <p:spPr>
          <a:xfrm>
            <a:off x="8391525" y="33337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타격 가능 상태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1F0B1A0-E6AB-4F94-99AE-2D2A7B0E02CD}"/>
              </a:ext>
            </a:extLst>
          </p:cNvPr>
          <p:cNvSpPr>
            <a:spLocks noGrp="1"/>
          </p:cNvSpPr>
          <p:nvPr/>
        </p:nvSpPr>
        <p:spPr>
          <a:xfrm>
            <a:off x="190500" y="3848100"/>
            <a:ext cx="1381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A794BFB-77C5-44FC-B750-6DC7B3025E19}"/>
              </a:ext>
            </a:extLst>
          </p:cNvPr>
          <p:cNvSpPr>
            <a:spLocks noGrp="1"/>
          </p:cNvSpPr>
          <p:nvPr/>
        </p:nvSpPr>
        <p:spPr>
          <a:xfrm>
            <a:off x="247650" y="388620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공략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A9777E8-BE90-44CC-A383-63D08DCEC278}"/>
              </a:ext>
            </a:extLst>
          </p:cNvPr>
          <p:cNvSpPr>
            <a:spLocks noGrp="1"/>
          </p:cNvSpPr>
          <p:nvPr/>
        </p:nvSpPr>
        <p:spPr>
          <a:xfrm>
            <a:off x="1571625" y="3848100"/>
            <a:ext cx="2905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585CA14-6291-420B-809B-85CCC980E19B}"/>
              </a:ext>
            </a:extLst>
          </p:cNvPr>
          <p:cNvSpPr>
            <a:spLocks noGrp="1"/>
          </p:cNvSpPr>
          <p:nvPr/>
        </p:nvSpPr>
        <p:spPr>
          <a:xfrm>
            <a:off x="1628775" y="388620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곡괭이가 약점 판정 반경 접촉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44FA5C4-8ECC-4C91-ABAE-36CFF1AB748A}"/>
              </a:ext>
            </a:extLst>
          </p:cNvPr>
          <p:cNvSpPr>
            <a:spLocks noGrp="1"/>
          </p:cNvSpPr>
          <p:nvPr/>
        </p:nvSpPr>
        <p:spPr>
          <a:xfrm>
            <a:off x="4476750" y="3848100"/>
            <a:ext cx="3857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B20951E-97AF-403A-959D-AAD1B044AF67}"/>
              </a:ext>
            </a:extLst>
          </p:cNvPr>
          <p:cNvSpPr>
            <a:spLocks noGrp="1"/>
          </p:cNvSpPr>
          <p:nvPr/>
        </p:nvSpPr>
        <p:spPr>
          <a:xfrm>
            <a:off x="4533900" y="388620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마크 피격 연출 / 크기 증가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E0F318A-05E4-4F84-BED9-0CF36584A874}"/>
              </a:ext>
            </a:extLst>
          </p:cNvPr>
          <p:cNvSpPr>
            <a:spLocks noGrp="1"/>
          </p:cNvSpPr>
          <p:nvPr/>
        </p:nvSpPr>
        <p:spPr>
          <a:xfrm>
            <a:off x="8334375" y="38481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FFC8188-E4E1-4EB7-84D5-DCB789E7F892}"/>
              </a:ext>
            </a:extLst>
          </p:cNvPr>
          <p:cNvSpPr>
            <a:spLocks noGrp="1"/>
          </p:cNvSpPr>
          <p:nvPr/>
        </p:nvSpPr>
        <p:spPr>
          <a:xfrm>
            <a:off x="8391525" y="38862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균열 진행도 증가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9DDFEF0-0AC9-4646-89CE-6BE228CB8F56}"/>
              </a:ext>
            </a:extLst>
          </p:cNvPr>
          <p:cNvSpPr>
            <a:spLocks noGrp="1"/>
          </p:cNvSpPr>
          <p:nvPr/>
        </p:nvSpPr>
        <p:spPr>
          <a:xfrm>
            <a:off x="190500" y="4400550"/>
            <a:ext cx="1381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A87FAC72-9322-441D-A992-B3C89279C0A9}"/>
              </a:ext>
            </a:extLst>
          </p:cNvPr>
          <p:cNvSpPr>
            <a:spLocks noGrp="1"/>
          </p:cNvSpPr>
          <p:nvPr/>
        </p:nvSpPr>
        <p:spPr>
          <a:xfrm>
            <a:off x="247650" y="443865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2610B21-2856-4A71-BBAC-0DEEFB6BC3DD}"/>
              </a:ext>
            </a:extLst>
          </p:cNvPr>
          <p:cNvSpPr>
            <a:spLocks noGrp="1"/>
          </p:cNvSpPr>
          <p:nvPr/>
        </p:nvSpPr>
        <p:spPr>
          <a:xfrm>
            <a:off x="1571625" y="4400550"/>
            <a:ext cx="2905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A48B183-A9F7-41A5-A7E8-CD6A8F29BD27}"/>
              </a:ext>
            </a:extLst>
          </p:cNvPr>
          <p:cNvSpPr>
            <a:spLocks noGrp="1"/>
          </p:cNvSpPr>
          <p:nvPr/>
        </p:nvSpPr>
        <p:spPr>
          <a:xfrm>
            <a:off x="1628775" y="443865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균열 100%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68ED2A5-51A6-47DD-8EF0-7D8122084489}"/>
              </a:ext>
            </a:extLst>
          </p:cNvPr>
          <p:cNvSpPr>
            <a:spLocks noGrp="1"/>
          </p:cNvSpPr>
          <p:nvPr/>
        </p:nvSpPr>
        <p:spPr>
          <a:xfrm>
            <a:off x="4476750" y="4400550"/>
            <a:ext cx="38576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E5790C6-AE08-4793-9653-0AA9E1A3D642}"/>
              </a:ext>
            </a:extLst>
          </p:cNvPr>
          <p:cNvSpPr>
            <a:spLocks noGrp="1"/>
          </p:cNvSpPr>
          <p:nvPr/>
        </p:nvSpPr>
        <p:spPr>
          <a:xfrm>
            <a:off x="4533900" y="443865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외곽 라인 확산 후 복귀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3F10CD9-1D4D-4779-97B4-196DBE798338}"/>
              </a:ext>
            </a:extLst>
          </p:cNvPr>
          <p:cNvSpPr>
            <a:spLocks noGrp="1"/>
          </p:cNvSpPr>
          <p:nvPr/>
        </p:nvSpPr>
        <p:spPr>
          <a:xfrm>
            <a:off x="8334375" y="440055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B195E82-9E4B-4CA4-B0D9-6056228E8EDA}"/>
              </a:ext>
            </a:extLst>
          </p:cNvPr>
          <p:cNvSpPr>
            <a:spLocks noGrp="1"/>
          </p:cNvSpPr>
          <p:nvPr/>
        </p:nvSpPr>
        <p:spPr>
          <a:xfrm>
            <a:off x="8391525" y="44386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일정 시간 피해 배율 적용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46FEB2D-683A-437F-8ACF-545D02FD77FE}"/>
              </a:ext>
            </a:extLst>
          </p:cNvPr>
          <p:cNvSpPr>
            <a:spLocks noGrp="1"/>
          </p:cNvSpPr>
          <p:nvPr/>
        </p:nvSpPr>
        <p:spPr>
          <a:xfrm>
            <a:off x="190500" y="4953000"/>
            <a:ext cx="1381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699015C-04D2-497A-95DC-AC5DAF675807}"/>
              </a:ext>
            </a:extLst>
          </p:cNvPr>
          <p:cNvSpPr>
            <a:spLocks noGrp="1"/>
          </p:cNvSpPr>
          <p:nvPr/>
        </p:nvSpPr>
        <p:spPr>
          <a:xfrm>
            <a:off x="247650" y="499110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복귀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349E417-4570-44F0-BE8C-DE97829B20C0}"/>
              </a:ext>
            </a:extLst>
          </p:cNvPr>
          <p:cNvSpPr>
            <a:spLocks noGrp="1"/>
          </p:cNvSpPr>
          <p:nvPr/>
        </p:nvSpPr>
        <p:spPr>
          <a:xfrm>
            <a:off x="1571625" y="4953000"/>
            <a:ext cx="2905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B1BD98D-85EE-42FC-B28A-0EC37B3C7850}"/>
              </a:ext>
            </a:extLst>
          </p:cNvPr>
          <p:cNvSpPr>
            <a:spLocks noGrp="1"/>
          </p:cNvSpPr>
          <p:nvPr/>
        </p:nvSpPr>
        <p:spPr>
          <a:xfrm>
            <a:off x="1628775" y="499110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시간 종료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A7DB59A-1112-41D7-A631-8C2C8E0B0036}"/>
              </a:ext>
            </a:extLst>
          </p:cNvPr>
          <p:cNvSpPr>
            <a:spLocks noGrp="1"/>
          </p:cNvSpPr>
          <p:nvPr/>
        </p:nvSpPr>
        <p:spPr>
          <a:xfrm>
            <a:off x="4476750" y="4953000"/>
            <a:ext cx="3857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13DC6E7-E2F4-4F0E-9A90-B392BD951248}"/>
              </a:ext>
            </a:extLst>
          </p:cNvPr>
          <p:cNvSpPr>
            <a:spLocks noGrp="1"/>
          </p:cNvSpPr>
          <p:nvPr/>
        </p:nvSpPr>
        <p:spPr>
          <a:xfrm>
            <a:off x="4533900" y="499110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숨김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D8F662E-D533-413C-8AD9-925348160203}"/>
              </a:ext>
            </a:extLst>
          </p:cNvPr>
          <p:cNvSpPr>
            <a:spLocks noGrp="1"/>
          </p:cNvSpPr>
          <p:nvPr/>
        </p:nvSpPr>
        <p:spPr>
          <a:xfrm>
            <a:off x="8334375" y="49530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4067A168-34E1-40CB-B8C0-E89DC1C1D861}"/>
              </a:ext>
            </a:extLst>
          </p:cNvPr>
          <p:cNvSpPr>
            <a:spLocks noGrp="1"/>
          </p:cNvSpPr>
          <p:nvPr/>
        </p:nvSpPr>
        <p:spPr>
          <a:xfrm>
            <a:off x="8391525" y="49911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일반 상태로 복귀</a:t>
            </a:r>
          </a:p>
        </p:txBody>
      </p:sp>
    </p:spTree>
    <p:extLst>
      <p:ext uri="{BB962C8B-B14F-4D97-AF65-F5344CB8AC3E}">
        <p14:creationId xmlns:p14="http://schemas.microsoft.com/office/powerpoint/2010/main" val="2025540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EA0399F6-E272-4692-8325-64EF3C6402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2277B1-F01D-4F1F-B8D7-979134D66992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6. 약점 규칙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6927834-2B79-4C5F-B78D-AA43B1D2F428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E7520E-5BAC-4166-86FB-E6DE86D9FBA1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219075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6C4533-6E0F-4771-BA0D-762E5AB46388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항목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3C664E-9B01-4256-BE89-DC0D8D53DD5D}"/>
              </a:ext>
            </a:extLst>
          </p:cNvPr>
          <p:cNvSpPr>
            <a:spLocks noGrp="1"/>
          </p:cNvSpPr>
          <p:nvPr/>
        </p:nvSpPr>
        <p:spPr>
          <a:xfrm>
            <a:off x="2381250" y="914400"/>
            <a:ext cx="24765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F88EA11-8099-48FD-B966-CD12AE704507}"/>
              </a:ext>
            </a:extLst>
          </p:cNvPr>
          <p:cNvSpPr>
            <a:spLocks noGrp="1"/>
          </p:cNvSpPr>
          <p:nvPr/>
        </p:nvSpPr>
        <p:spPr>
          <a:xfrm>
            <a:off x="2438400" y="95250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값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03892F-4DE2-41B0-A361-030C2474BD3E}"/>
              </a:ext>
            </a:extLst>
          </p:cNvPr>
          <p:cNvSpPr>
            <a:spLocks noGrp="1"/>
          </p:cNvSpPr>
          <p:nvPr/>
        </p:nvSpPr>
        <p:spPr>
          <a:xfrm>
            <a:off x="4857750" y="914400"/>
            <a:ext cx="68580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4B89B0C-6CE3-41D6-B7A2-6F46B37177F6}"/>
              </a:ext>
            </a:extLst>
          </p:cNvPr>
          <p:cNvSpPr>
            <a:spLocks noGrp="1"/>
          </p:cNvSpPr>
          <p:nvPr/>
        </p:nvSpPr>
        <p:spPr>
          <a:xfrm>
            <a:off x="4914900" y="95250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설명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E98D98E-D7B4-45B8-95F7-5DB1F03A3900}"/>
              </a:ext>
            </a:extLst>
          </p:cNvPr>
          <p:cNvSpPr>
            <a:spLocks noGrp="1"/>
          </p:cNvSpPr>
          <p:nvPr/>
        </p:nvSpPr>
        <p:spPr>
          <a:xfrm>
            <a:off x="190500" y="1428750"/>
            <a:ext cx="21907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BBFA51C-DAF6-4701-96E4-DE25F70899B5}"/>
              </a:ext>
            </a:extLst>
          </p:cNvPr>
          <p:cNvSpPr>
            <a:spLocks noGrp="1"/>
          </p:cNvSpPr>
          <p:nvPr/>
        </p:nvSpPr>
        <p:spPr>
          <a:xfrm>
            <a:off x="247650" y="146685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노출 조건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55D923-93B5-4D49-9B1E-3A8FCFCD4AFA}"/>
              </a:ext>
            </a:extLst>
          </p:cNvPr>
          <p:cNvSpPr>
            <a:spLocks noGrp="1"/>
          </p:cNvSpPr>
          <p:nvPr/>
        </p:nvSpPr>
        <p:spPr>
          <a:xfrm>
            <a:off x="2381250" y="1428750"/>
            <a:ext cx="2476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3DF12DD-EB18-456F-9285-FB300C320149}"/>
              </a:ext>
            </a:extLst>
          </p:cNvPr>
          <p:cNvSpPr>
            <a:spLocks noGrp="1"/>
          </p:cNvSpPr>
          <p:nvPr/>
        </p:nvSpPr>
        <p:spPr>
          <a:xfrm>
            <a:off x="2438400" y="146685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몸통 타격 120회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52606E8-9A6A-4BFD-A8AB-C747C4FF24AF}"/>
              </a:ext>
            </a:extLst>
          </p:cNvPr>
          <p:cNvSpPr>
            <a:spLocks noGrp="1"/>
          </p:cNvSpPr>
          <p:nvPr/>
        </p:nvSpPr>
        <p:spPr>
          <a:xfrm>
            <a:off x="4857750" y="1428750"/>
            <a:ext cx="6858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EE2E8BB-8486-4C06-820B-6B8A7A07F34E}"/>
              </a:ext>
            </a:extLst>
          </p:cNvPr>
          <p:cNvSpPr>
            <a:spLocks noGrp="1"/>
          </p:cNvSpPr>
          <p:nvPr/>
        </p:nvSpPr>
        <p:spPr>
          <a:xfrm>
            <a:off x="4914900" y="146685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 2초 내외. 프레임이 아니라 실제 타격 횟수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5DA10DB-F7FE-4C5F-8131-01F09A8A4E97}"/>
              </a:ext>
            </a:extLst>
          </p:cNvPr>
          <p:cNvSpPr>
            <a:spLocks noGrp="1"/>
          </p:cNvSpPr>
          <p:nvPr/>
        </p:nvSpPr>
        <p:spPr>
          <a:xfrm>
            <a:off x="190500" y="1943100"/>
            <a:ext cx="219075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9043C9D-17F9-42EF-9741-EE308F99D595}"/>
              </a:ext>
            </a:extLst>
          </p:cNvPr>
          <p:cNvSpPr>
            <a:spLocks noGrp="1"/>
          </p:cNvSpPr>
          <p:nvPr/>
        </p:nvSpPr>
        <p:spPr>
          <a:xfrm>
            <a:off x="247650" y="198120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판정 반경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2F5C77E-B83A-43F2-87A5-CFF6A424737D}"/>
              </a:ext>
            </a:extLst>
          </p:cNvPr>
          <p:cNvSpPr>
            <a:spLocks noGrp="1"/>
          </p:cNvSpPr>
          <p:nvPr/>
        </p:nvSpPr>
        <p:spPr>
          <a:xfrm>
            <a:off x="2381250" y="1943100"/>
            <a:ext cx="24765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8452D32-507A-407B-90F2-E6862F8637D2}"/>
              </a:ext>
            </a:extLst>
          </p:cNvPr>
          <p:cNvSpPr>
            <a:spLocks noGrp="1"/>
          </p:cNvSpPr>
          <p:nvPr/>
        </p:nvSpPr>
        <p:spPr>
          <a:xfrm>
            <a:off x="2438400" y="198120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17px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2ED1CD4-2DA6-43F3-A6DA-B3E5B990BAE5}"/>
              </a:ext>
            </a:extLst>
          </p:cNvPr>
          <p:cNvSpPr>
            <a:spLocks noGrp="1"/>
          </p:cNvSpPr>
          <p:nvPr/>
        </p:nvSpPr>
        <p:spPr>
          <a:xfrm>
            <a:off x="4857750" y="1943100"/>
            <a:ext cx="6858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CDA21C4-2E46-45E4-8AE7-2FDD5840533F}"/>
              </a:ext>
            </a:extLst>
          </p:cNvPr>
          <p:cNvSpPr>
            <a:spLocks noGrp="1"/>
          </p:cNvSpPr>
          <p:nvPr/>
        </p:nvSpPr>
        <p:spPr>
          <a:xfrm>
            <a:off x="4914900" y="198120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곡괭이가 약점에 닿았는지 판단하는 반경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934FEF2-D648-4389-A150-B898CC276329}"/>
              </a:ext>
            </a:extLst>
          </p:cNvPr>
          <p:cNvSpPr>
            <a:spLocks noGrp="1"/>
          </p:cNvSpPr>
          <p:nvPr/>
        </p:nvSpPr>
        <p:spPr>
          <a:xfrm>
            <a:off x="190500" y="2457450"/>
            <a:ext cx="21907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BFB871D-4E52-48DF-8059-C3C859800370}"/>
              </a:ext>
            </a:extLst>
          </p:cNvPr>
          <p:cNvSpPr>
            <a:spLocks noGrp="1"/>
          </p:cNvSpPr>
          <p:nvPr/>
        </p:nvSpPr>
        <p:spPr>
          <a:xfrm>
            <a:off x="247650" y="249555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진행 증가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46881D1-C337-4FF6-87A6-294134E6AA33}"/>
              </a:ext>
            </a:extLst>
          </p:cNvPr>
          <p:cNvSpPr>
            <a:spLocks noGrp="1"/>
          </p:cNvSpPr>
          <p:nvPr/>
        </p:nvSpPr>
        <p:spPr>
          <a:xfrm>
            <a:off x="2381250" y="2457450"/>
            <a:ext cx="2476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8027679-543E-4C10-9E87-5E0455FC6C3A}"/>
              </a:ext>
            </a:extLst>
          </p:cNvPr>
          <p:cNvSpPr>
            <a:spLocks noGrp="1"/>
          </p:cNvSpPr>
          <p:nvPr/>
        </p:nvSpPr>
        <p:spPr>
          <a:xfrm>
            <a:off x="2438400" y="249555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1타당 +1.25%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404A81B-9463-4260-AE2D-6EFAC2E428ED}"/>
              </a:ext>
            </a:extLst>
          </p:cNvPr>
          <p:cNvSpPr>
            <a:spLocks noGrp="1"/>
          </p:cNvSpPr>
          <p:nvPr/>
        </p:nvSpPr>
        <p:spPr>
          <a:xfrm>
            <a:off x="4857750" y="2457450"/>
            <a:ext cx="6858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8324731-C93C-41D2-AE32-BCDD7F046C63}"/>
              </a:ext>
            </a:extLst>
          </p:cNvPr>
          <p:cNvSpPr>
            <a:spLocks noGrp="1"/>
          </p:cNvSpPr>
          <p:nvPr/>
        </p:nvSpPr>
        <p:spPr>
          <a:xfrm>
            <a:off x="4914900" y="249555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80회 약점 타격 시 브레이크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DAA12E9-60EB-4B13-AE70-9D3C6524FD9E}"/>
              </a:ext>
            </a:extLst>
          </p:cNvPr>
          <p:cNvSpPr>
            <a:spLocks noGrp="1"/>
          </p:cNvSpPr>
          <p:nvPr/>
        </p:nvSpPr>
        <p:spPr>
          <a:xfrm>
            <a:off x="190500" y="2971800"/>
            <a:ext cx="219075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D49B410-341D-4FC9-82FC-6778593E8458}"/>
              </a:ext>
            </a:extLst>
          </p:cNvPr>
          <p:cNvSpPr>
            <a:spLocks noGrp="1"/>
          </p:cNvSpPr>
          <p:nvPr/>
        </p:nvSpPr>
        <p:spPr>
          <a:xfrm>
            <a:off x="247650" y="300990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이동 주기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0496235-DBCA-4931-A1A3-D21AE4C15A83}"/>
              </a:ext>
            </a:extLst>
          </p:cNvPr>
          <p:cNvSpPr>
            <a:spLocks noGrp="1"/>
          </p:cNvSpPr>
          <p:nvPr/>
        </p:nvSpPr>
        <p:spPr>
          <a:xfrm>
            <a:off x="2381250" y="2971800"/>
            <a:ext cx="24765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D7F8306-311E-44BA-86B2-8E0E32A21798}"/>
              </a:ext>
            </a:extLst>
          </p:cNvPr>
          <p:cNvSpPr>
            <a:spLocks noGrp="1"/>
          </p:cNvSpPr>
          <p:nvPr/>
        </p:nvSpPr>
        <p:spPr>
          <a:xfrm>
            <a:off x="2438400" y="300990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6.5초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BCFE022-CA33-4B1A-B926-9EF9D93A8E06}"/>
              </a:ext>
            </a:extLst>
          </p:cNvPr>
          <p:cNvSpPr>
            <a:spLocks noGrp="1"/>
          </p:cNvSpPr>
          <p:nvPr/>
        </p:nvSpPr>
        <p:spPr>
          <a:xfrm>
            <a:off x="4857750" y="2971800"/>
            <a:ext cx="6858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58D479F-FA4C-431D-8135-A6B144D0E416}"/>
              </a:ext>
            </a:extLst>
          </p:cNvPr>
          <p:cNvSpPr>
            <a:spLocks noGrp="1"/>
          </p:cNvSpPr>
          <p:nvPr/>
        </p:nvSpPr>
        <p:spPr>
          <a:xfrm>
            <a:off x="4914900" y="300990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같은 위치 고정 피로도를 줄이기 위한 이동 주기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6B07F04-7AF2-4D0E-9FD1-2D4E5386F42B}"/>
              </a:ext>
            </a:extLst>
          </p:cNvPr>
          <p:cNvSpPr>
            <a:spLocks noGrp="1"/>
          </p:cNvSpPr>
          <p:nvPr/>
        </p:nvSpPr>
        <p:spPr>
          <a:xfrm>
            <a:off x="190500" y="3486150"/>
            <a:ext cx="21907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D82257C-2DBC-4D99-A21A-62F141CA14E5}"/>
              </a:ext>
            </a:extLst>
          </p:cNvPr>
          <p:cNvSpPr>
            <a:spLocks noGrp="1"/>
          </p:cNvSpPr>
          <p:nvPr/>
        </p:nvSpPr>
        <p:spPr>
          <a:xfrm>
            <a:off x="247650" y="352425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중 약점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D41B608-3B75-40B6-8DE0-12148A259C4E}"/>
              </a:ext>
            </a:extLst>
          </p:cNvPr>
          <p:cNvSpPr>
            <a:spLocks noGrp="1"/>
          </p:cNvSpPr>
          <p:nvPr/>
        </p:nvSpPr>
        <p:spPr>
          <a:xfrm>
            <a:off x="2381250" y="3486150"/>
            <a:ext cx="2476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C899428-DCA1-433D-92C6-BA57E7E48A84}"/>
              </a:ext>
            </a:extLst>
          </p:cNvPr>
          <p:cNvSpPr>
            <a:spLocks noGrp="1"/>
          </p:cNvSpPr>
          <p:nvPr/>
        </p:nvSpPr>
        <p:spPr>
          <a:xfrm>
            <a:off x="2438400" y="352425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비노출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7DB75A8-D0AF-4B37-8115-061612E2E606}"/>
              </a:ext>
            </a:extLst>
          </p:cNvPr>
          <p:cNvSpPr>
            <a:spLocks noGrp="1"/>
          </p:cNvSpPr>
          <p:nvPr/>
        </p:nvSpPr>
        <p:spPr>
          <a:xfrm>
            <a:off x="4857750" y="3486150"/>
            <a:ext cx="6858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DDF85A9-0701-4D02-B76A-D072B48403A0}"/>
              </a:ext>
            </a:extLst>
          </p:cNvPr>
          <p:cNvSpPr>
            <a:spLocks noGrp="1"/>
          </p:cNvSpPr>
          <p:nvPr/>
        </p:nvSpPr>
        <p:spPr>
          <a:xfrm>
            <a:off x="4914900" y="352425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약점은 브레이크 시동기이므로 브레이크 중에는 숨김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BBE341F-C666-4491-BA01-C03F90F3887E}"/>
              </a:ext>
            </a:extLst>
          </p:cNvPr>
          <p:cNvSpPr>
            <a:spLocks noGrp="1"/>
          </p:cNvSpPr>
          <p:nvPr/>
        </p:nvSpPr>
        <p:spPr>
          <a:xfrm>
            <a:off x="190500" y="40957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6.1. 약점 위치 규칙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9DB6749-486E-4319-9010-849297ADA6B6}"/>
              </a:ext>
            </a:extLst>
          </p:cNvPr>
          <p:cNvSpPr>
            <a:spLocks noGrp="1"/>
          </p:cNvSpPr>
          <p:nvPr/>
        </p:nvSpPr>
        <p:spPr>
          <a:xfrm>
            <a:off x="190500" y="44386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약점은 광물 외곽선 근처에 생성한다.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D71D392-2402-4D7D-8CC5-14311874B4F9}"/>
              </a:ext>
            </a:extLst>
          </p:cNvPr>
          <p:cNvSpPr>
            <a:spLocks noGrp="1"/>
          </p:cNvSpPr>
          <p:nvPr/>
        </p:nvSpPr>
        <p:spPr>
          <a:xfrm>
            <a:off x="190500" y="47148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플레이어가 타격한 방향 주변에 생성하되, 정확히 같은 위치에는 생성하지 않는다.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E013773-2CFE-4251-9B97-C530F44897DC}"/>
              </a:ext>
            </a:extLst>
          </p:cNvPr>
          <p:cNvSpPr>
            <a:spLocks noGrp="1"/>
          </p:cNvSpPr>
          <p:nvPr/>
        </p:nvSpPr>
        <p:spPr>
          <a:xfrm>
            <a:off x="190500" y="49911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캐릭터가 접근 불가능한 중심부나 광물 안쪽 깊은 위치에는 생성하지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198131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5">
            <a:extLst>
              <a:ext uri="{FF2B5EF4-FFF2-40B4-BE49-F238E27FC236}">
                <a16:creationId xmlns:a16="http://schemas.microsoft.com/office/drawing/2014/main" id="{EA0399F6-E272-4692-8325-64EF3C6402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6EB844F-1BAB-4156-A40F-4FFCAC37A2DF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7. 데미지 / 적용 대상 기준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1A520B6-98CF-459D-9204-BAAC26430DC5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E5AC09-B034-4277-88A3-9248CD16B924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2190750" cy="4953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7EC3E1-B7A7-4BC3-929C-216ABB44F492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20764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항목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9CF2F0-4A9F-4CA9-9440-4DFC6B343731}"/>
              </a:ext>
            </a:extLst>
          </p:cNvPr>
          <p:cNvSpPr>
            <a:spLocks noGrp="1"/>
          </p:cNvSpPr>
          <p:nvPr/>
        </p:nvSpPr>
        <p:spPr>
          <a:xfrm>
            <a:off x="2381250" y="914400"/>
            <a:ext cx="2952750" cy="4953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7DD641-5BB9-4322-9460-86E314AF199F}"/>
              </a:ext>
            </a:extLst>
          </p:cNvPr>
          <p:cNvSpPr>
            <a:spLocks noGrp="1"/>
          </p:cNvSpPr>
          <p:nvPr/>
        </p:nvSpPr>
        <p:spPr>
          <a:xfrm>
            <a:off x="2438400" y="952500"/>
            <a:ext cx="28384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값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54D96E-F926-4158-BDD8-B7E09AC17079}"/>
              </a:ext>
            </a:extLst>
          </p:cNvPr>
          <p:cNvSpPr>
            <a:spLocks noGrp="1"/>
          </p:cNvSpPr>
          <p:nvPr/>
        </p:nvSpPr>
        <p:spPr>
          <a:xfrm>
            <a:off x="5334000" y="914400"/>
            <a:ext cx="6477000" cy="4953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2B6995C-ABF6-4327-8085-26B1EB0D456C}"/>
              </a:ext>
            </a:extLst>
          </p:cNvPr>
          <p:cNvSpPr>
            <a:spLocks noGrp="1"/>
          </p:cNvSpPr>
          <p:nvPr/>
        </p:nvSpPr>
        <p:spPr>
          <a:xfrm>
            <a:off x="5391150" y="952500"/>
            <a:ext cx="6362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의도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A25B9DA-B926-4693-86E9-188F28F10CCE}"/>
              </a:ext>
            </a:extLst>
          </p:cNvPr>
          <p:cNvSpPr>
            <a:spLocks noGrp="1"/>
          </p:cNvSpPr>
          <p:nvPr/>
        </p:nvSpPr>
        <p:spPr>
          <a:xfrm>
            <a:off x="190500" y="1409700"/>
            <a:ext cx="2190750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2A6B9CC-14C0-4F40-99A3-011F07985295}"/>
              </a:ext>
            </a:extLst>
          </p:cNvPr>
          <p:cNvSpPr>
            <a:spLocks noGrp="1"/>
          </p:cNvSpPr>
          <p:nvPr/>
        </p:nvSpPr>
        <p:spPr>
          <a:xfrm>
            <a:off x="247650" y="1447800"/>
            <a:ext cx="20764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기본 타격 데미지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112E1B-79A3-4D61-9F2F-C93254B8EEF4}"/>
              </a:ext>
            </a:extLst>
          </p:cNvPr>
          <p:cNvSpPr>
            <a:spLocks noGrp="1"/>
          </p:cNvSpPr>
          <p:nvPr/>
        </p:nvSpPr>
        <p:spPr>
          <a:xfrm>
            <a:off x="2381250" y="1409700"/>
            <a:ext cx="2952750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C406FEF-B2AC-4CC6-8E24-FD85061F0E73}"/>
              </a:ext>
            </a:extLst>
          </p:cNvPr>
          <p:cNvSpPr>
            <a:spLocks noGrp="1"/>
          </p:cNvSpPr>
          <p:nvPr/>
        </p:nvSpPr>
        <p:spPr>
          <a:xfrm>
            <a:off x="2438400" y="1447800"/>
            <a:ext cx="28384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9.2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9646AEE-8A58-4691-BDA9-F76BCDD422B2}"/>
              </a:ext>
            </a:extLst>
          </p:cNvPr>
          <p:cNvSpPr>
            <a:spLocks noGrp="1"/>
          </p:cNvSpPr>
          <p:nvPr/>
        </p:nvSpPr>
        <p:spPr>
          <a:xfrm>
            <a:off x="5334000" y="1409700"/>
            <a:ext cx="6477000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C45CF15-EFF7-47EA-83FB-9FD6B49E58A2}"/>
              </a:ext>
            </a:extLst>
          </p:cNvPr>
          <p:cNvSpPr>
            <a:spLocks noGrp="1"/>
          </p:cNvSpPr>
          <p:nvPr/>
        </p:nvSpPr>
        <p:spPr>
          <a:xfrm>
            <a:off x="5391150" y="1447800"/>
            <a:ext cx="6362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곡괭이 자체 데미지. 광물 크기와 무관하게 동일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7413B3E-7A5B-4ABD-BA47-C49735ED674B}"/>
              </a:ext>
            </a:extLst>
          </p:cNvPr>
          <p:cNvSpPr>
            <a:spLocks noGrp="1"/>
          </p:cNvSpPr>
          <p:nvPr/>
        </p:nvSpPr>
        <p:spPr>
          <a:xfrm>
            <a:off x="190500" y="1905000"/>
            <a:ext cx="2190750" cy="4953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2B01791-52BC-4C10-967B-2F4EFB42E592}"/>
              </a:ext>
            </a:extLst>
          </p:cNvPr>
          <p:cNvSpPr>
            <a:spLocks noGrp="1"/>
          </p:cNvSpPr>
          <p:nvPr/>
        </p:nvSpPr>
        <p:spPr>
          <a:xfrm>
            <a:off x="247650" y="1943100"/>
            <a:ext cx="20764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데미지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CC4627E-92B4-42DC-A560-6F8DF1F0C1CC}"/>
              </a:ext>
            </a:extLst>
          </p:cNvPr>
          <p:cNvSpPr>
            <a:spLocks noGrp="1"/>
          </p:cNvSpPr>
          <p:nvPr/>
        </p:nvSpPr>
        <p:spPr>
          <a:xfrm>
            <a:off x="2381250" y="1905000"/>
            <a:ext cx="2952750" cy="4953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C1ED42-2E8B-4078-A226-7EBF4C5D75D5}"/>
              </a:ext>
            </a:extLst>
          </p:cNvPr>
          <p:cNvSpPr>
            <a:spLocks noGrp="1"/>
          </p:cNvSpPr>
          <p:nvPr/>
        </p:nvSpPr>
        <p:spPr>
          <a:xfrm>
            <a:off x="2438400" y="1943100"/>
            <a:ext cx="28384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9.2 x 1.8 = 16.56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9010F68-FD5B-4BB9-9421-0D7428452737}"/>
              </a:ext>
            </a:extLst>
          </p:cNvPr>
          <p:cNvSpPr>
            <a:spLocks noGrp="1"/>
          </p:cNvSpPr>
          <p:nvPr/>
        </p:nvSpPr>
        <p:spPr>
          <a:xfrm>
            <a:off x="5334000" y="1905000"/>
            <a:ext cx="6477000" cy="4953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158AC5D-DAEE-4130-AAFE-C08B0F79C568}"/>
              </a:ext>
            </a:extLst>
          </p:cNvPr>
          <p:cNvSpPr>
            <a:spLocks noGrp="1"/>
          </p:cNvSpPr>
          <p:nvPr/>
        </p:nvSpPr>
        <p:spPr>
          <a:xfrm>
            <a:off x="5391150" y="1943100"/>
            <a:ext cx="6362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공략 성공 후 보상 구간 체감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4300892-D944-4062-B5B5-673B4DCCA5B2}"/>
              </a:ext>
            </a:extLst>
          </p:cNvPr>
          <p:cNvSpPr>
            <a:spLocks noGrp="1"/>
          </p:cNvSpPr>
          <p:nvPr/>
        </p:nvSpPr>
        <p:spPr>
          <a:xfrm>
            <a:off x="190500" y="2400300"/>
            <a:ext cx="2190750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8AC6F16-00EA-46E7-A488-33B33E7F4B85}"/>
              </a:ext>
            </a:extLst>
          </p:cNvPr>
          <p:cNvSpPr>
            <a:spLocks noGrp="1"/>
          </p:cNvSpPr>
          <p:nvPr/>
        </p:nvSpPr>
        <p:spPr>
          <a:xfrm>
            <a:off x="247650" y="2438400"/>
            <a:ext cx="20764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적용 대상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C7A851E-780B-4BF1-83CD-51DEFBEC514D}"/>
              </a:ext>
            </a:extLst>
          </p:cNvPr>
          <p:cNvSpPr>
            <a:spLocks noGrp="1"/>
          </p:cNvSpPr>
          <p:nvPr/>
        </p:nvSpPr>
        <p:spPr>
          <a:xfrm>
            <a:off x="2381250" y="2400300"/>
            <a:ext cx="2952750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2C008CB-787B-44D9-B9B1-426A5F88865B}"/>
              </a:ext>
            </a:extLst>
          </p:cNvPr>
          <p:cNvSpPr>
            <a:spLocks noGrp="1"/>
          </p:cNvSpPr>
          <p:nvPr/>
        </p:nvSpPr>
        <p:spPr>
          <a:xfrm>
            <a:off x="2438400" y="2438400"/>
            <a:ext cx="28384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MineralBreakType enum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0462FEC-15A7-4171-ABE1-93B2327D4E88}"/>
              </a:ext>
            </a:extLst>
          </p:cNvPr>
          <p:cNvSpPr>
            <a:spLocks noGrp="1"/>
          </p:cNvSpPr>
          <p:nvPr/>
        </p:nvSpPr>
        <p:spPr>
          <a:xfrm>
            <a:off x="5334000" y="2400300"/>
            <a:ext cx="6477000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EA7F049-21CE-4B56-AC2D-62A43B1CD1B6}"/>
              </a:ext>
            </a:extLst>
          </p:cNvPr>
          <p:cNvSpPr>
            <a:spLocks noGrp="1"/>
          </p:cNvSpPr>
          <p:nvPr/>
        </p:nvSpPr>
        <p:spPr>
          <a:xfrm>
            <a:off x="5391150" y="2438400"/>
            <a:ext cx="6362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지정된 광물 타입에만 약점/브레이크 연출 적용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5BF1E9-2623-4A88-8970-25D09FBED208}"/>
              </a:ext>
            </a:extLst>
          </p:cNvPr>
          <p:cNvSpPr>
            <a:spLocks noGrp="1"/>
          </p:cNvSpPr>
          <p:nvPr/>
        </p:nvSpPr>
        <p:spPr>
          <a:xfrm>
            <a:off x="190500" y="2895600"/>
            <a:ext cx="2190750" cy="4953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ACA7E22-3A34-4378-B02D-7A320A3D1237}"/>
              </a:ext>
            </a:extLst>
          </p:cNvPr>
          <p:cNvSpPr>
            <a:spLocks noGrp="1"/>
          </p:cNvSpPr>
          <p:nvPr/>
        </p:nvSpPr>
        <p:spPr>
          <a:xfrm>
            <a:off x="247650" y="2933700"/>
            <a:ext cx="20764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미적용 대상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13982EF-6C7F-4B79-AD1F-3FFD0EA6A8A8}"/>
              </a:ext>
            </a:extLst>
          </p:cNvPr>
          <p:cNvSpPr>
            <a:spLocks noGrp="1"/>
          </p:cNvSpPr>
          <p:nvPr/>
        </p:nvSpPr>
        <p:spPr>
          <a:xfrm>
            <a:off x="2381250" y="2895600"/>
            <a:ext cx="2952750" cy="4953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6173F82-2BBD-4A3D-9A59-A25AF87550BD}"/>
              </a:ext>
            </a:extLst>
          </p:cNvPr>
          <p:cNvSpPr>
            <a:spLocks noGrp="1"/>
          </p:cNvSpPr>
          <p:nvPr/>
        </p:nvSpPr>
        <p:spPr>
          <a:xfrm>
            <a:off x="2438400" y="2933700"/>
            <a:ext cx="28384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None 또는 일반 타입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DD2AAD7-9DD5-48DC-95BC-F55912B941EE}"/>
              </a:ext>
            </a:extLst>
          </p:cNvPr>
          <p:cNvSpPr>
            <a:spLocks noGrp="1"/>
          </p:cNvSpPr>
          <p:nvPr/>
        </p:nvSpPr>
        <p:spPr>
          <a:xfrm>
            <a:off x="5334000" y="2895600"/>
            <a:ext cx="6477000" cy="4953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D20358C-F7C4-424A-82F1-8CD7E225171A}"/>
              </a:ext>
            </a:extLst>
          </p:cNvPr>
          <p:cNvSpPr>
            <a:spLocks noGrp="1"/>
          </p:cNvSpPr>
          <p:nvPr/>
        </p:nvSpPr>
        <p:spPr>
          <a:xfrm>
            <a:off x="5391150" y="2933700"/>
            <a:ext cx="6362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기존 채굴 처리만 유지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649008B-433F-47F1-AE54-55B6E431CBFA}"/>
              </a:ext>
            </a:extLst>
          </p:cNvPr>
          <p:cNvSpPr>
            <a:spLocks noGrp="1"/>
          </p:cNvSpPr>
          <p:nvPr/>
        </p:nvSpPr>
        <p:spPr>
          <a:xfrm>
            <a:off x="190500" y="3390900"/>
            <a:ext cx="2190750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EFC63DB-3DF6-458A-8D09-492B97A315B2}"/>
              </a:ext>
            </a:extLst>
          </p:cNvPr>
          <p:cNvSpPr>
            <a:spLocks noGrp="1"/>
          </p:cNvSpPr>
          <p:nvPr/>
        </p:nvSpPr>
        <p:spPr>
          <a:xfrm>
            <a:off x="247650" y="3429000"/>
            <a:ext cx="20764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HP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77707E7-7252-4B48-8ACA-15005F3233E2}"/>
              </a:ext>
            </a:extLst>
          </p:cNvPr>
          <p:cNvSpPr>
            <a:spLocks noGrp="1"/>
          </p:cNvSpPr>
          <p:nvPr/>
        </p:nvSpPr>
        <p:spPr>
          <a:xfrm>
            <a:off x="2381250" y="3390900"/>
            <a:ext cx="2952750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322E32D-3158-4DAF-8404-98801802C135}"/>
              </a:ext>
            </a:extLst>
          </p:cNvPr>
          <p:cNvSpPr>
            <a:spLocks noGrp="1"/>
          </p:cNvSpPr>
          <p:nvPr/>
        </p:nvSpPr>
        <p:spPr>
          <a:xfrm>
            <a:off x="2438400" y="3429000"/>
            <a:ext cx="28384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별도 광물 데이터 사용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4B8963E-5575-4C23-B0D1-1AD80038085B}"/>
              </a:ext>
            </a:extLst>
          </p:cNvPr>
          <p:cNvSpPr>
            <a:spLocks noGrp="1"/>
          </p:cNvSpPr>
          <p:nvPr/>
        </p:nvSpPr>
        <p:spPr>
          <a:xfrm>
            <a:off x="5334000" y="3390900"/>
            <a:ext cx="6477000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BD8FA91-CC9C-4ADF-82FE-BE6220BD5710}"/>
              </a:ext>
            </a:extLst>
          </p:cNvPr>
          <p:cNvSpPr>
            <a:spLocks noGrp="1"/>
          </p:cNvSpPr>
          <p:nvPr/>
        </p:nvSpPr>
        <p:spPr>
          <a:xfrm>
            <a:off x="5391150" y="3429000"/>
            <a:ext cx="6362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프로토타입 검증 수치는 문서 기준값에서 제외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F819160-9B26-4ED8-B7AC-E9052307A23D}"/>
              </a:ext>
            </a:extLst>
          </p:cNvPr>
          <p:cNvSpPr>
            <a:spLocks noGrp="1"/>
          </p:cNvSpPr>
          <p:nvPr/>
        </p:nvSpPr>
        <p:spPr>
          <a:xfrm>
            <a:off x="190500" y="3886200"/>
            <a:ext cx="2190750" cy="4953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72120ED-921A-40B2-A1BB-2316324C83CF}"/>
              </a:ext>
            </a:extLst>
          </p:cNvPr>
          <p:cNvSpPr>
            <a:spLocks noGrp="1"/>
          </p:cNvSpPr>
          <p:nvPr/>
        </p:nvSpPr>
        <p:spPr>
          <a:xfrm>
            <a:off x="247650" y="3924300"/>
            <a:ext cx="20764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표시 우선순위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83CA206-9F7D-45BA-90B7-5205A0221031}"/>
              </a:ext>
            </a:extLst>
          </p:cNvPr>
          <p:cNvSpPr>
            <a:spLocks noGrp="1"/>
          </p:cNvSpPr>
          <p:nvPr/>
        </p:nvSpPr>
        <p:spPr>
          <a:xfrm>
            <a:off x="2381250" y="3886200"/>
            <a:ext cx="2952750" cy="4953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AD956A9-83B2-46C6-BEE1-1092679FB543}"/>
              </a:ext>
            </a:extLst>
          </p:cNvPr>
          <p:cNvSpPr>
            <a:spLocks noGrp="1"/>
          </p:cNvSpPr>
          <p:nvPr/>
        </p:nvSpPr>
        <p:spPr>
          <a:xfrm>
            <a:off x="2438400" y="3924300"/>
            <a:ext cx="28384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대형/특수 광물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36633CA-140B-43F5-8284-CE0A528D1D85}"/>
              </a:ext>
            </a:extLst>
          </p:cNvPr>
          <p:cNvSpPr>
            <a:spLocks noGrp="1"/>
          </p:cNvSpPr>
          <p:nvPr/>
        </p:nvSpPr>
        <p:spPr>
          <a:xfrm>
            <a:off x="5334000" y="3886200"/>
            <a:ext cx="6477000" cy="4953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6F5611E-14A8-4CBB-AC83-38079A9D186B}"/>
              </a:ext>
            </a:extLst>
          </p:cNvPr>
          <p:cNvSpPr>
            <a:spLocks noGrp="1"/>
          </p:cNvSpPr>
          <p:nvPr/>
        </p:nvSpPr>
        <p:spPr>
          <a:xfrm>
            <a:off x="5391150" y="3924300"/>
            <a:ext cx="6362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대상일 때 약점/외곽선 피드백 노출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0A2B1F8-25F0-44F8-9B97-B35975D59DBC}"/>
              </a:ext>
            </a:extLst>
          </p:cNvPr>
          <p:cNvSpPr>
            <a:spLocks noGrp="1"/>
          </p:cNvSpPr>
          <p:nvPr/>
        </p:nvSpPr>
        <p:spPr>
          <a:xfrm>
            <a:off x="190500" y="4762500"/>
            <a:ext cx="10953750" cy="762000"/>
          </a:xfrm>
          <a:prstGeom prst="rect">
            <a:avLst/>
          </a:prstGeom>
          <a:solidFill>
            <a:srgbClr val="FFF2CC"/>
          </a:solidFill>
          <a:ln w="9525">
            <a:solidFill>
              <a:srgbClr val="C8A60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76B443A-6938-4B2B-83E0-0810D7EE8D64}"/>
              </a:ext>
            </a:extLst>
          </p:cNvPr>
          <p:cNvSpPr>
            <a:spLocks noGrp="1"/>
          </p:cNvSpPr>
          <p:nvPr/>
        </p:nvSpPr>
        <p:spPr>
          <a:xfrm>
            <a:off x="342900" y="49530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1">
                <a:solidFill>
                  <a:srgbClr val="202020"/>
                </a:solidFill>
              </a:defRPr>
            </a:pPr>
            <a:r>
              <a:rPr sz="1275" b="1">
                <a:solidFill>
                  <a:srgbClr val="202020"/>
                </a:solidFill>
              </a:rPr>
              <a:t>밸런스 기준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A423D10-2F08-4E9D-825B-C7827F190377}"/>
              </a:ext>
            </a:extLst>
          </p:cNvPr>
          <p:cNvSpPr>
            <a:spLocks noGrp="1"/>
          </p:cNvSpPr>
          <p:nvPr/>
        </p:nvSpPr>
        <p:spPr>
          <a:xfrm>
            <a:off x="342900" y="52387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00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광물 크기에 따라 기본 데미지를 퍼센트로 바꾸지 않는다. 곡괭이의 기본 성능은 항상 9.2이며, 브레이크만 별도 보상 배율로 처리한다.</a:t>
            </a:r>
          </a:p>
        </p:txBody>
      </p:sp>
    </p:spTree>
    <p:extLst>
      <p:ext uri="{BB962C8B-B14F-4D97-AF65-F5344CB8AC3E}">
        <p14:creationId xmlns:p14="http://schemas.microsoft.com/office/powerpoint/2010/main" val="1518742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 Placeholder 5">
            <a:extLst>
              <a:ext uri="{FF2B5EF4-FFF2-40B4-BE49-F238E27FC236}">
                <a16:creationId xmlns:a16="http://schemas.microsoft.com/office/drawing/2014/main" id="{EA0399F6-E272-4692-8325-64EF3C6402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C471E63-829A-4FF1-8A87-B7B7C729592E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8. UI / UX 상태 정의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CFF45E4-829B-43CE-AAD1-087A8B69357B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009076-AF09-42D3-A327-34A8B8EAAC60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56197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442BAF-C305-4971-AD60-01DDDCE4C495}"/>
              </a:ext>
            </a:extLst>
          </p:cNvPr>
          <p:cNvSpPr>
            <a:spLocks noGrp="1"/>
          </p:cNvSpPr>
          <p:nvPr/>
        </p:nvSpPr>
        <p:spPr>
          <a:xfrm>
            <a:off x="247650" y="2219325"/>
            <a:ext cx="550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게임 화면 캡처 교체 영역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459F5C-1AB4-4818-B30A-3557BE273F3B}"/>
              </a:ext>
            </a:extLst>
          </p:cNvPr>
          <p:cNvSpPr>
            <a:spLocks noGrp="1"/>
          </p:cNvSpPr>
          <p:nvPr/>
        </p:nvSpPr>
        <p:spPr>
          <a:xfrm>
            <a:off x="6191250" y="914400"/>
            <a:ext cx="6667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5073DF2-38F0-4125-AC89-2E3540999888}"/>
              </a:ext>
            </a:extLst>
          </p:cNvPr>
          <p:cNvSpPr>
            <a:spLocks noGrp="1"/>
          </p:cNvSpPr>
          <p:nvPr/>
        </p:nvSpPr>
        <p:spPr>
          <a:xfrm>
            <a:off x="6248400" y="9525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No.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12E0FE-7B1A-4BF9-BD30-54E74765E2DB}"/>
              </a:ext>
            </a:extLst>
          </p:cNvPr>
          <p:cNvSpPr>
            <a:spLocks noGrp="1"/>
          </p:cNvSpPr>
          <p:nvPr/>
        </p:nvSpPr>
        <p:spPr>
          <a:xfrm>
            <a:off x="6858000" y="914400"/>
            <a:ext cx="16192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CFA58DE-DD28-4803-8066-9E9647337726}"/>
              </a:ext>
            </a:extLst>
          </p:cNvPr>
          <p:cNvSpPr>
            <a:spLocks noGrp="1"/>
          </p:cNvSpPr>
          <p:nvPr/>
        </p:nvSpPr>
        <p:spPr>
          <a:xfrm>
            <a:off x="6915150" y="9525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요소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FED581B-A84B-4396-8D2F-1F91BD960DCE}"/>
              </a:ext>
            </a:extLst>
          </p:cNvPr>
          <p:cNvSpPr>
            <a:spLocks noGrp="1"/>
          </p:cNvSpPr>
          <p:nvPr/>
        </p:nvSpPr>
        <p:spPr>
          <a:xfrm>
            <a:off x="8477250" y="914400"/>
            <a:ext cx="342900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7F2402-0C5B-4B2A-B250-2BF8BD65A7DD}"/>
              </a:ext>
            </a:extLst>
          </p:cNvPr>
          <p:cNvSpPr>
            <a:spLocks noGrp="1"/>
          </p:cNvSpPr>
          <p:nvPr/>
        </p:nvSpPr>
        <p:spPr>
          <a:xfrm>
            <a:off x="8534400" y="9525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설명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375850-89E1-4C57-94E3-213247FAA9E7}"/>
              </a:ext>
            </a:extLst>
          </p:cNvPr>
          <p:cNvSpPr>
            <a:spLocks noGrp="1"/>
          </p:cNvSpPr>
          <p:nvPr/>
        </p:nvSpPr>
        <p:spPr>
          <a:xfrm>
            <a:off x="6191250" y="1371600"/>
            <a:ext cx="6667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F222EE3-2612-44A8-9BEF-D194C0AE8FD3}"/>
              </a:ext>
            </a:extLst>
          </p:cNvPr>
          <p:cNvSpPr>
            <a:spLocks noGrp="1"/>
          </p:cNvSpPr>
          <p:nvPr/>
        </p:nvSpPr>
        <p:spPr>
          <a:xfrm>
            <a:off x="6248400" y="14097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E4AB34-B1F4-41BE-826F-575C79D2AB48}"/>
              </a:ext>
            </a:extLst>
          </p:cNvPr>
          <p:cNvSpPr>
            <a:spLocks noGrp="1"/>
          </p:cNvSpPr>
          <p:nvPr/>
        </p:nvSpPr>
        <p:spPr>
          <a:xfrm>
            <a:off x="6858000" y="1371600"/>
            <a:ext cx="1619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F8D52A3-31ED-4554-A678-C7DEC546DD06}"/>
              </a:ext>
            </a:extLst>
          </p:cNvPr>
          <p:cNvSpPr>
            <a:spLocks noGrp="1"/>
          </p:cNvSpPr>
          <p:nvPr/>
        </p:nvSpPr>
        <p:spPr>
          <a:xfrm>
            <a:off x="6915150" y="14097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HP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CA6E713-D99C-4E31-AEA3-1D6B549ED6A1}"/>
              </a:ext>
            </a:extLst>
          </p:cNvPr>
          <p:cNvSpPr>
            <a:spLocks noGrp="1"/>
          </p:cNvSpPr>
          <p:nvPr/>
        </p:nvSpPr>
        <p:spPr>
          <a:xfrm>
            <a:off x="8477250" y="1371600"/>
            <a:ext cx="3429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A50FB9-C3F0-4933-B682-C92284B15CB0}"/>
              </a:ext>
            </a:extLst>
          </p:cNvPr>
          <p:cNvSpPr>
            <a:spLocks noGrp="1"/>
          </p:cNvSpPr>
          <p:nvPr/>
        </p:nvSpPr>
        <p:spPr>
          <a:xfrm>
            <a:off x="8534400" y="14097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대형 광물은 HP 텍스트를 크게 표시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AFB05EB-52D7-4195-9D9C-10FEB624340A}"/>
              </a:ext>
            </a:extLst>
          </p:cNvPr>
          <p:cNvSpPr>
            <a:spLocks noGrp="1"/>
          </p:cNvSpPr>
          <p:nvPr/>
        </p:nvSpPr>
        <p:spPr>
          <a:xfrm>
            <a:off x="6191250" y="1828800"/>
            <a:ext cx="6667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BA46905-637B-4ABA-8282-FFA7C493697F}"/>
              </a:ext>
            </a:extLst>
          </p:cNvPr>
          <p:cNvSpPr>
            <a:spLocks noGrp="1"/>
          </p:cNvSpPr>
          <p:nvPr/>
        </p:nvSpPr>
        <p:spPr>
          <a:xfrm>
            <a:off x="6248400" y="18669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2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824D5D5-6B1D-4DB9-A27E-79F6062AF572}"/>
              </a:ext>
            </a:extLst>
          </p:cNvPr>
          <p:cNvSpPr>
            <a:spLocks noGrp="1"/>
          </p:cNvSpPr>
          <p:nvPr/>
        </p:nvSpPr>
        <p:spPr>
          <a:xfrm>
            <a:off x="6858000" y="1828800"/>
            <a:ext cx="1619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84CE10D-7338-425F-836A-D29742B2012C}"/>
              </a:ext>
            </a:extLst>
          </p:cNvPr>
          <p:cNvSpPr>
            <a:spLocks noGrp="1"/>
          </p:cNvSpPr>
          <p:nvPr/>
        </p:nvSpPr>
        <p:spPr>
          <a:xfrm>
            <a:off x="6915150" y="18669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마크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C986D08-F707-4D29-BCD0-DC9F4FC5731F}"/>
              </a:ext>
            </a:extLst>
          </p:cNvPr>
          <p:cNvSpPr>
            <a:spLocks noGrp="1"/>
          </p:cNvSpPr>
          <p:nvPr/>
        </p:nvSpPr>
        <p:spPr>
          <a:xfrm>
            <a:off x="8477250" y="1828800"/>
            <a:ext cx="3429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68BC584-DFCD-46D6-BE48-4DBC59D3F90F}"/>
              </a:ext>
            </a:extLst>
          </p:cNvPr>
          <p:cNvSpPr>
            <a:spLocks noGrp="1"/>
          </p:cNvSpPr>
          <p:nvPr/>
        </p:nvSpPr>
        <p:spPr>
          <a:xfrm>
            <a:off x="8534400" y="18669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조건 충족 시 즉시 등장. 서서히 페이드인 금지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36FCFA5-F7E5-4303-B92F-DCD56FCDDF6F}"/>
              </a:ext>
            </a:extLst>
          </p:cNvPr>
          <p:cNvSpPr>
            <a:spLocks noGrp="1"/>
          </p:cNvSpPr>
          <p:nvPr/>
        </p:nvSpPr>
        <p:spPr>
          <a:xfrm>
            <a:off x="6191250" y="2286000"/>
            <a:ext cx="6667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0097A31-8B2D-4E91-AF71-9BB13993CDDC}"/>
              </a:ext>
            </a:extLst>
          </p:cNvPr>
          <p:cNvSpPr>
            <a:spLocks noGrp="1"/>
          </p:cNvSpPr>
          <p:nvPr/>
        </p:nvSpPr>
        <p:spPr>
          <a:xfrm>
            <a:off x="6248400" y="23241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A6A6836-A0A3-48CA-BA74-7523C9B0C62A}"/>
              </a:ext>
            </a:extLst>
          </p:cNvPr>
          <p:cNvSpPr>
            <a:spLocks noGrp="1"/>
          </p:cNvSpPr>
          <p:nvPr/>
        </p:nvSpPr>
        <p:spPr>
          <a:xfrm>
            <a:off x="6858000" y="2286000"/>
            <a:ext cx="1619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D9F1349-4AE8-4A97-8ED1-DBB5AD149CAB}"/>
              </a:ext>
            </a:extLst>
          </p:cNvPr>
          <p:cNvSpPr>
            <a:spLocks noGrp="1"/>
          </p:cNvSpPr>
          <p:nvPr/>
        </p:nvSpPr>
        <p:spPr>
          <a:xfrm>
            <a:off x="6915150" y="23241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외곽선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DC4D7BE-648B-4907-94BB-DA543D291ED3}"/>
              </a:ext>
            </a:extLst>
          </p:cNvPr>
          <p:cNvSpPr>
            <a:spLocks noGrp="1"/>
          </p:cNvSpPr>
          <p:nvPr/>
        </p:nvSpPr>
        <p:spPr>
          <a:xfrm>
            <a:off x="8477250" y="2286000"/>
            <a:ext cx="3429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284C83A-4901-41C8-B460-60F5E7CED6C6}"/>
              </a:ext>
            </a:extLst>
          </p:cNvPr>
          <p:cNvSpPr>
            <a:spLocks noGrp="1"/>
          </p:cNvSpPr>
          <p:nvPr/>
        </p:nvSpPr>
        <p:spPr>
          <a:xfrm>
            <a:off x="8534400" y="23241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외곽과 같은 형태로 확산 후 복귀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C5513D2-FB38-42DD-A34C-D871980657B5}"/>
              </a:ext>
            </a:extLst>
          </p:cNvPr>
          <p:cNvSpPr>
            <a:spLocks noGrp="1"/>
          </p:cNvSpPr>
          <p:nvPr/>
        </p:nvSpPr>
        <p:spPr>
          <a:xfrm>
            <a:off x="6191250" y="2743200"/>
            <a:ext cx="6667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FCF1312-47F5-4B9C-8B83-A49C2A5D9498}"/>
              </a:ext>
            </a:extLst>
          </p:cNvPr>
          <p:cNvSpPr>
            <a:spLocks noGrp="1"/>
          </p:cNvSpPr>
          <p:nvPr/>
        </p:nvSpPr>
        <p:spPr>
          <a:xfrm>
            <a:off x="6248400" y="27813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4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19EAB34-59A2-49E2-80A7-EC583DEAA6A0}"/>
              </a:ext>
            </a:extLst>
          </p:cNvPr>
          <p:cNvSpPr>
            <a:spLocks noGrp="1"/>
          </p:cNvSpPr>
          <p:nvPr/>
        </p:nvSpPr>
        <p:spPr>
          <a:xfrm>
            <a:off x="6858000" y="2743200"/>
            <a:ext cx="1619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375A8A1-CE2E-4054-939A-008B2E350E5E}"/>
              </a:ext>
            </a:extLst>
          </p:cNvPr>
          <p:cNvSpPr>
            <a:spLocks noGrp="1"/>
          </p:cNvSpPr>
          <p:nvPr/>
        </p:nvSpPr>
        <p:spPr>
          <a:xfrm>
            <a:off x="6915150" y="27813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피격 피드백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66AA3C5-CF11-41B3-BAD2-28F8F2F402EE}"/>
              </a:ext>
            </a:extLst>
          </p:cNvPr>
          <p:cNvSpPr>
            <a:spLocks noGrp="1"/>
          </p:cNvSpPr>
          <p:nvPr/>
        </p:nvSpPr>
        <p:spPr>
          <a:xfrm>
            <a:off x="8477250" y="2743200"/>
            <a:ext cx="3429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663C4B9-688D-4C3C-9A71-AD2DF321D19B}"/>
              </a:ext>
            </a:extLst>
          </p:cNvPr>
          <p:cNvSpPr>
            <a:spLocks noGrp="1"/>
          </p:cNvSpPr>
          <p:nvPr/>
        </p:nvSpPr>
        <p:spPr>
          <a:xfrm>
            <a:off x="8534400" y="27813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타격 시 즉시 반응해 명중 여부 전달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A5704D0-24E2-4A86-9E32-1598951DA10B}"/>
              </a:ext>
            </a:extLst>
          </p:cNvPr>
          <p:cNvSpPr>
            <a:spLocks noGrp="1"/>
          </p:cNvSpPr>
          <p:nvPr/>
        </p:nvSpPr>
        <p:spPr>
          <a:xfrm>
            <a:off x="6191250" y="3200400"/>
            <a:ext cx="6667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A88AC29-B24C-47E0-B0DE-8DA47784FB10}"/>
              </a:ext>
            </a:extLst>
          </p:cNvPr>
          <p:cNvSpPr>
            <a:spLocks noGrp="1"/>
          </p:cNvSpPr>
          <p:nvPr/>
        </p:nvSpPr>
        <p:spPr>
          <a:xfrm>
            <a:off x="6248400" y="32385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5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0A88EAC-72F1-4937-9C19-C7DF246A7370}"/>
              </a:ext>
            </a:extLst>
          </p:cNvPr>
          <p:cNvSpPr>
            <a:spLocks noGrp="1"/>
          </p:cNvSpPr>
          <p:nvPr/>
        </p:nvSpPr>
        <p:spPr>
          <a:xfrm>
            <a:off x="6858000" y="3200400"/>
            <a:ext cx="1619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7018D18-9725-442B-B7D7-4644CBED6A2D}"/>
              </a:ext>
            </a:extLst>
          </p:cNvPr>
          <p:cNvSpPr>
            <a:spLocks noGrp="1"/>
          </p:cNvSpPr>
          <p:nvPr/>
        </p:nvSpPr>
        <p:spPr>
          <a:xfrm>
            <a:off x="6915150" y="32385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피격 피드백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B2D62F7-3305-4E7A-9D83-986CBBEA118E}"/>
              </a:ext>
            </a:extLst>
          </p:cNvPr>
          <p:cNvSpPr>
            <a:spLocks noGrp="1"/>
          </p:cNvSpPr>
          <p:nvPr/>
        </p:nvSpPr>
        <p:spPr>
          <a:xfrm>
            <a:off x="8477250" y="3200400"/>
            <a:ext cx="3429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AB5BEF1-A411-45B6-A24A-2F00604692C6}"/>
              </a:ext>
            </a:extLst>
          </p:cNvPr>
          <p:cNvSpPr>
            <a:spLocks noGrp="1"/>
          </p:cNvSpPr>
          <p:nvPr/>
        </p:nvSpPr>
        <p:spPr>
          <a:xfrm>
            <a:off x="8534400" y="32385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본체가 순간적으로 작아졌다 복귀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91CF382-5CB4-4B79-9705-E540DF24A836}"/>
              </a:ext>
            </a:extLst>
          </p:cNvPr>
          <p:cNvSpPr>
            <a:spLocks noGrp="1"/>
          </p:cNvSpPr>
          <p:nvPr/>
        </p:nvSpPr>
        <p:spPr>
          <a:xfrm>
            <a:off x="190500" y="40957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8.1. UX 기준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8446B6F-B2D3-42F4-B9AD-64FB165DF073}"/>
              </a:ext>
            </a:extLst>
          </p:cNvPr>
          <p:cNvSpPr>
            <a:spLocks noGrp="1"/>
          </p:cNvSpPr>
          <p:nvPr/>
        </p:nvSpPr>
        <p:spPr>
          <a:xfrm>
            <a:off x="190500" y="44386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약점이 등장했는지, 약점을 맞췄는지, 브레이크 상태인지 각각 다른 피드백으로 구분한다.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0F4F70B-07CA-434B-B301-F92A30C33EE6}"/>
              </a:ext>
            </a:extLst>
          </p:cNvPr>
          <p:cNvSpPr>
            <a:spLocks noGrp="1"/>
          </p:cNvSpPr>
          <p:nvPr/>
        </p:nvSpPr>
        <p:spPr>
          <a:xfrm>
            <a:off x="190500" y="47148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브레이크 남은 시간은 하단 게이지가 아니라 광물 외곽선 연출로 표현한다.</a:t>
            </a:r>
          </a:p>
        </p:txBody>
      </p:sp>
    </p:spTree>
    <p:extLst>
      <p:ext uri="{BB962C8B-B14F-4D97-AF65-F5344CB8AC3E}">
        <p14:creationId xmlns:p14="http://schemas.microsoft.com/office/powerpoint/2010/main" val="201589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EA0399F6-E272-4692-8325-64EF3C6402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1602EBC-D411-48D3-88E0-F704127B87EE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9. 피드백 / 연출 규칙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0939A4D-DB80-4799-B2C0-03B81A8672E4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CA2F3DC-FB43-4EDF-8B6F-D36E661C78A5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2000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9D0CBF-A610-4799-B23E-1AAB512CDA41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구분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B7BAE3-81FF-403E-BCE8-1DB65B14D061}"/>
              </a:ext>
            </a:extLst>
          </p:cNvPr>
          <p:cNvSpPr>
            <a:spLocks noGrp="1"/>
          </p:cNvSpPr>
          <p:nvPr/>
        </p:nvSpPr>
        <p:spPr>
          <a:xfrm>
            <a:off x="2190750" y="914400"/>
            <a:ext cx="3143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78CDD7-FE75-4E6B-8794-0D7669BCAD86}"/>
              </a:ext>
            </a:extLst>
          </p:cNvPr>
          <p:cNvSpPr>
            <a:spLocks noGrp="1"/>
          </p:cNvSpPr>
          <p:nvPr/>
        </p:nvSpPr>
        <p:spPr>
          <a:xfrm>
            <a:off x="2247900" y="9525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발생 조건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1C73945-3EBE-4BDF-B918-0BC1700D2560}"/>
              </a:ext>
            </a:extLst>
          </p:cNvPr>
          <p:cNvSpPr>
            <a:spLocks noGrp="1"/>
          </p:cNvSpPr>
          <p:nvPr/>
        </p:nvSpPr>
        <p:spPr>
          <a:xfrm>
            <a:off x="5334000" y="914400"/>
            <a:ext cx="628650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3B7475F-71F9-412E-9D4B-8A449AC8B1AA}"/>
              </a:ext>
            </a:extLst>
          </p:cNvPr>
          <p:cNvSpPr>
            <a:spLocks noGrp="1"/>
          </p:cNvSpPr>
          <p:nvPr/>
        </p:nvSpPr>
        <p:spPr>
          <a:xfrm>
            <a:off x="5391150" y="95250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연출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CD3D208-E0C2-48FD-8BAC-B6826923BD45}"/>
              </a:ext>
            </a:extLst>
          </p:cNvPr>
          <p:cNvSpPr>
            <a:spLocks noGrp="1"/>
          </p:cNvSpPr>
          <p:nvPr/>
        </p:nvSpPr>
        <p:spPr>
          <a:xfrm>
            <a:off x="190500" y="14668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1193698-56D9-4976-8E58-EDBDEDC914EC}"/>
              </a:ext>
            </a:extLst>
          </p:cNvPr>
          <p:cNvSpPr>
            <a:spLocks noGrp="1"/>
          </p:cNvSpPr>
          <p:nvPr/>
        </p:nvSpPr>
        <p:spPr>
          <a:xfrm>
            <a:off x="247650" y="15049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피격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D2A3EA3-4B7A-4862-B47A-0937A0E621A2}"/>
              </a:ext>
            </a:extLst>
          </p:cNvPr>
          <p:cNvSpPr>
            <a:spLocks noGrp="1"/>
          </p:cNvSpPr>
          <p:nvPr/>
        </p:nvSpPr>
        <p:spPr>
          <a:xfrm>
            <a:off x="2190750" y="146685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1CC844D-1242-4ECD-B6CF-5DBB7779139F}"/>
              </a:ext>
            </a:extLst>
          </p:cNvPr>
          <p:cNvSpPr>
            <a:spLocks noGrp="1"/>
          </p:cNvSpPr>
          <p:nvPr/>
        </p:nvSpPr>
        <p:spPr>
          <a:xfrm>
            <a:off x="2247900" y="15049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곡괭이가 광물에 접촉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E90924-CBDC-4165-980D-09490144C048}"/>
              </a:ext>
            </a:extLst>
          </p:cNvPr>
          <p:cNvSpPr>
            <a:spLocks noGrp="1"/>
          </p:cNvSpPr>
          <p:nvPr/>
        </p:nvSpPr>
        <p:spPr>
          <a:xfrm>
            <a:off x="5334000" y="1466850"/>
            <a:ext cx="628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18FAE31-ACA7-4200-9A9B-B4D3D569E880}"/>
              </a:ext>
            </a:extLst>
          </p:cNvPr>
          <p:cNvSpPr>
            <a:spLocks noGrp="1"/>
          </p:cNvSpPr>
          <p:nvPr/>
        </p:nvSpPr>
        <p:spPr>
          <a:xfrm>
            <a:off x="5391150" y="150495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본체가 순간적으로 작아졌다 복귀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D69646B-0A0C-4AA6-95C6-7B75C2C48293}"/>
              </a:ext>
            </a:extLst>
          </p:cNvPr>
          <p:cNvSpPr>
            <a:spLocks noGrp="1"/>
          </p:cNvSpPr>
          <p:nvPr/>
        </p:nvSpPr>
        <p:spPr>
          <a:xfrm>
            <a:off x="190500" y="20193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7B45C1E-FB87-4438-9611-E7E027EB9CF1}"/>
              </a:ext>
            </a:extLst>
          </p:cNvPr>
          <p:cNvSpPr>
            <a:spLocks noGrp="1"/>
          </p:cNvSpPr>
          <p:nvPr/>
        </p:nvSpPr>
        <p:spPr>
          <a:xfrm>
            <a:off x="247650" y="20574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피격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8675AA4-40BF-448C-B5D3-AD0A794B94EA}"/>
              </a:ext>
            </a:extLst>
          </p:cNvPr>
          <p:cNvSpPr>
            <a:spLocks noGrp="1"/>
          </p:cNvSpPr>
          <p:nvPr/>
        </p:nvSpPr>
        <p:spPr>
          <a:xfrm>
            <a:off x="2190750" y="201930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B4EEE84-6AE1-41DC-A307-448B4A351251}"/>
              </a:ext>
            </a:extLst>
          </p:cNvPr>
          <p:cNvSpPr>
            <a:spLocks noGrp="1"/>
          </p:cNvSpPr>
          <p:nvPr/>
        </p:nvSpPr>
        <p:spPr>
          <a:xfrm>
            <a:off x="2247900" y="20574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곡괭이가 약점 판정 반경 접촉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5FF4D4F-A76E-4CFB-9821-FEBF75ACB9C2}"/>
              </a:ext>
            </a:extLst>
          </p:cNvPr>
          <p:cNvSpPr>
            <a:spLocks noGrp="1"/>
          </p:cNvSpPr>
          <p:nvPr/>
        </p:nvSpPr>
        <p:spPr>
          <a:xfrm>
            <a:off x="5334000" y="2019300"/>
            <a:ext cx="6286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43C9C52-6141-4746-8097-7DEC8EB2B6DF}"/>
              </a:ext>
            </a:extLst>
          </p:cNvPr>
          <p:cNvSpPr>
            <a:spLocks noGrp="1"/>
          </p:cNvSpPr>
          <p:nvPr/>
        </p:nvSpPr>
        <p:spPr>
          <a:xfrm>
            <a:off x="5391150" y="205740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마크가 순간적으로 반응하고 누적 크기 증가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0092CAF-3119-4260-B752-70AEE52D0A39}"/>
              </a:ext>
            </a:extLst>
          </p:cNvPr>
          <p:cNvSpPr>
            <a:spLocks noGrp="1"/>
          </p:cNvSpPr>
          <p:nvPr/>
        </p:nvSpPr>
        <p:spPr>
          <a:xfrm>
            <a:off x="190500" y="25717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029E92A-9AB0-49CD-8851-1FA3DF391573}"/>
              </a:ext>
            </a:extLst>
          </p:cNvPr>
          <p:cNvSpPr>
            <a:spLocks noGrp="1"/>
          </p:cNvSpPr>
          <p:nvPr/>
        </p:nvSpPr>
        <p:spPr>
          <a:xfrm>
            <a:off x="247650" y="26098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진입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202AB50-BFCE-471C-8438-583622657E19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6FA535C-2ADB-4C1F-8689-8CA4D0E47FD4}"/>
              </a:ext>
            </a:extLst>
          </p:cNvPr>
          <p:cNvSpPr>
            <a:spLocks noGrp="1"/>
          </p:cNvSpPr>
          <p:nvPr/>
        </p:nvSpPr>
        <p:spPr>
          <a:xfrm>
            <a:off x="2247900" y="26098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진행도 100%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EDB0D2D-9F05-4D39-BD3A-B0E672DA3F0F}"/>
              </a:ext>
            </a:extLst>
          </p:cNvPr>
          <p:cNvSpPr>
            <a:spLocks noGrp="1"/>
          </p:cNvSpPr>
          <p:nvPr/>
        </p:nvSpPr>
        <p:spPr>
          <a:xfrm>
            <a:off x="5334000" y="2571750"/>
            <a:ext cx="628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C38AC8D-2ACE-4301-B6DB-E3955EF0453E}"/>
              </a:ext>
            </a:extLst>
          </p:cNvPr>
          <p:cNvSpPr>
            <a:spLocks noGrp="1"/>
          </p:cNvSpPr>
          <p:nvPr/>
        </p:nvSpPr>
        <p:spPr>
          <a:xfrm>
            <a:off x="5391150" y="260985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외곽선과 동일한 형태의 라인 확산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ACE7382-B168-451E-AC1E-64AA5DF9BD83}"/>
              </a:ext>
            </a:extLst>
          </p:cNvPr>
          <p:cNvSpPr>
            <a:spLocks noGrp="1"/>
          </p:cNvSpPr>
          <p:nvPr/>
        </p:nvSpPr>
        <p:spPr>
          <a:xfrm>
            <a:off x="190500" y="31242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4D19F25-3CC1-478C-9D13-351018F6BD8C}"/>
              </a:ext>
            </a:extLst>
          </p:cNvPr>
          <p:cNvSpPr>
            <a:spLocks noGrp="1"/>
          </p:cNvSpPr>
          <p:nvPr/>
        </p:nvSpPr>
        <p:spPr>
          <a:xfrm>
            <a:off x="247650" y="31623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잔여 시간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3870D76-124A-47EF-8DD4-2E0368F7BADD}"/>
              </a:ext>
            </a:extLst>
          </p:cNvPr>
          <p:cNvSpPr>
            <a:spLocks noGrp="1"/>
          </p:cNvSpPr>
          <p:nvPr/>
        </p:nvSpPr>
        <p:spPr>
          <a:xfrm>
            <a:off x="2190750" y="312420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5C0C33-EB88-488B-8758-AD0599B2E11C}"/>
              </a:ext>
            </a:extLst>
          </p:cNvPr>
          <p:cNvSpPr>
            <a:spLocks noGrp="1"/>
          </p:cNvSpPr>
          <p:nvPr/>
        </p:nvSpPr>
        <p:spPr>
          <a:xfrm>
            <a:off x="2247900" y="31623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유지 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2F8EE13-358F-42E9-9D86-B65E33C469E7}"/>
              </a:ext>
            </a:extLst>
          </p:cNvPr>
          <p:cNvSpPr>
            <a:spLocks noGrp="1"/>
          </p:cNvSpPr>
          <p:nvPr/>
        </p:nvSpPr>
        <p:spPr>
          <a:xfrm>
            <a:off x="5334000" y="3124200"/>
            <a:ext cx="6286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73BBBC6-65F7-4862-9775-D8D237E1BD90}"/>
              </a:ext>
            </a:extLst>
          </p:cNvPr>
          <p:cNvSpPr>
            <a:spLocks noGrp="1"/>
          </p:cNvSpPr>
          <p:nvPr/>
        </p:nvSpPr>
        <p:spPr>
          <a:xfrm>
            <a:off x="5391150" y="316230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확산된 외곽선이 서서히 광물 테두리로 복귀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F6F34F2-46FA-4195-A776-7E282BFD1A03}"/>
              </a:ext>
            </a:extLst>
          </p:cNvPr>
          <p:cNvSpPr>
            <a:spLocks noGrp="1"/>
          </p:cNvSpPr>
          <p:nvPr/>
        </p:nvSpPr>
        <p:spPr>
          <a:xfrm>
            <a:off x="190500" y="36766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557C180-E000-4403-AEF4-592AA9BCC861}"/>
              </a:ext>
            </a:extLst>
          </p:cNvPr>
          <p:cNvSpPr>
            <a:spLocks noGrp="1"/>
          </p:cNvSpPr>
          <p:nvPr/>
        </p:nvSpPr>
        <p:spPr>
          <a:xfrm>
            <a:off x="247650" y="37147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종료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9990C63-34C4-41D1-A5FA-D5344E93DA05}"/>
              </a:ext>
            </a:extLst>
          </p:cNvPr>
          <p:cNvSpPr>
            <a:spLocks noGrp="1"/>
          </p:cNvSpPr>
          <p:nvPr/>
        </p:nvSpPr>
        <p:spPr>
          <a:xfrm>
            <a:off x="2190750" y="367665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692603-D0B2-4E99-B8A6-908EFCC934A7}"/>
              </a:ext>
            </a:extLst>
          </p:cNvPr>
          <p:cNvSpPr>
            <a:spLocks noGrp="1"/>
          </p:cNvSpPr>
          <p:nvPr/>
        </p:nvSpPr>
        <p:spPr>
          <a:xfrm>
            <a:off x="2247900" y="37147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지속 시간 종료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4C131C5-001D-4B26-981A-B27AD5B2143E}"/>
              </a:ext>
            </a:extLst>
          </p:cNvPr>
          <p:cNvSpPr>
            <a:spLocks noGrp="1"/>
          </p:cNvSpPr>
          <p:nvPr/>
        </p:nvSpPr>
        <p:spPr>
          <a:xfrm>
            <a:off x="5334000" y="3676650"/>
            <a:ext cx="628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80ABB3A-A1EC-4CE8-9300-7E1959909123}"/>
              </a:ext>
            </a:extLst>
          </p:cNvPr>
          <p:cNvSpPr>
            <a:spLocks noGrp="1"/>
          </p:cNvSpPr>
          <p:nvPr/>
        </p:nvSpPr>
        <p:spPr>
          <a:xfrm>
            <a:off x="5391150" y="371475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숨김 / 일반 상태 복귀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A166514-2DCF-4F86-ACC5-DD6CA3C1E627}"/>
              </a:ext>
            </a:extLst>
          </p:cNvPr>
          <p:cNvSpPr>
            <a:spLocks noGrp="1"/>
          </p:cNvSpPr>
          <p:nvPr/>
        </p:nvSpPr>
        <p:spPr>
          <a:xfrm>
            <a:off x="190500" y="4819650"/>
            <a:ext cx="10953750" cy="685800"/>
          </a:xfrm>
          <a:prstGeom prst="rect">
            <a:avLst/>
          </a:prstGeom>
          <a:solidFill>
            <a:srgbClr val="FFF2CC"/>
          </a:solidFill>
          <a:ln w="9525">
            <a:solidFill>
              <a:srgbClr val="C8A60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2574554-63A9-43FE-8966-92F0F9FDD6F0}"/>
              </a:ext>
            </a:extLst>
          </p:cNvPr>
          <p:cNvSpPr>
            <a:spLocks noGrp="1"/>
          </p:cNvSpPr>
          <p:nvPr/>
        </p:nvSpPr>
        <p:spPr>
          <a:xfrm>
            <a:off x="342900" y="50101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1">
                <a:solidFill>
                  <a:srgbClr val="202020"/>
                </a:solidFill>
              </a:defRPr>
            </a:pPr>
            <a:r>
              <a:rPr sz="1275" b="1">
                <a:solidFill>
                  <a:srgbClr val="202020"/>
                </a:solidFill>
              </a:rPr>
              <a:t>주의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98C4DF2-D28A-4265-BCD2-4391AF0A6E8C}"/>
              </a:ext>
            </a:extLst>
          </p:cNvPr>
          <p:cNvSpPr>
            <a:spLocks noGrp="1"/>
          </p:cNvSpPr>
          <p:nvPr/>
        </p:nvSpPr>
        <p:spPr>
          <a:xfrm>
            <a:off x="1143000" y="5010150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00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피격 스케일 연출 시 광선/이펙트 전체가 같이 흔들리지 않도록 광물 본체와 이펙트 스케일을 분리한다.</a:t>
            </a:r>
          </a:p>
        </p:txBody>
      </p:sp>
    </p:spTree>
    <p:extLst>
      <p:ext uri="{BB962C8B-B14F-4D97-AF65-F5344CB8AC3E}">
        <p14:creationId xmlns:p14="http://schemas.microsoft.com/office/powerpoint/2010/main" val="582873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EA0399F6-E272-4692-8325-64EF3C6402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2D75EBD-5C63-42B9-8470-4888F8A7050D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10. 광물 배치 / 레벨 규칙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3F6BB07-9F75-4D0B-B0D8-EE3D8A0CBEF0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010CF51-A853-48E1-9629-B839DAB86254}"/>
              </a:ext>
            </a:extLst>
          </p:cNvPr>
          <p:cNvSpPr>
            <a:spLocks noGrp="1"/>
          </p:cNvSpPr>
          <p:nvPr/>
        </p:nvSpPr>
        <p:spPr>
          <a:xfrm>
            <a:off x="190500" y="8763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10.1. 배치 규칙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6A9077-9C52-42CC-BAD2-806CD5A7EE52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광물 간 겹침을 방지하기 위해 생성 후 위치 보정 처리를 진행한다.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800529-5A60-456F-9969-33E9D4521BD2}"/>
              </a:ext>
            </a:extLst>
          </p:cNvPr>
          <p:cNvSpPr>
            <a:spLocks noGrp="1"/>
          </p:cNvSpPr>
          <p:nvPr/>
        </p:nvSpPr>
        <p:spPr>
          <a:xfrm>
            <a:off x="190500" y="14954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대형 광물은 챕터의 메인 목표로 인식될 수 있도록 화면 중상단 주요 영역에 배치한다.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8EEA01-7FB0-4C59-AA33-BFBA0B2F9768}"/>
              </a:ext>
            </a:extLst>
          </p:cNvPr>
          <p:cNvSpPr>
            <a:spLocks noGrp="1"/>
          </p:cNvSpPr>
          <p:nvPr/>
        </p:nvSpPr>
        <p:spPr>
          <a:xfrm>
            <a:off x="190500" y="17716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플레이어 시작 위치와 광물 사이에 최소 이동 공간을 확보한다.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C88F133-54DA-4B37-97B6-38C38E18C41A}"/>
              </a:ext>
            </a:extLst>
          </p:cNvPr>
          <p:cNvSpPr>
            <a:spLocks noGrp="1"/>
          </p:cNvSpPr>
          <p:nvPr/>
        </p:nvSpPr>
        <p:spPr>
          <a:xfrm>
            <a:off x="190500" y="25717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10.2. 광물 타입별 역할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B8F4153-BE39-4D7A-9C90-4076F485B072}"/>
              </a:ext>
            </a:extLst>
          </p:cNvPr>
          <p:cNvSpPr>
            <a:spLocks noGrp="1"/>
          </p:cNvSpPr>
          <p:nvPr/>
        </p:nvSpPr>
        <p:spPr>
          <a:xfrm>
            <a:off x="190500" y="2952750"/>
            <a:ext cx="17145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BDFFECA-676E-4DBD-9AA4-D8F0853DBC1E}"/>
              </a:ext>
            </a:extLst>
          </p:cNvPr>
          <p:cNvSpPr>
            <a:spLocks noGrp="1"/>
          </p:cNvSpPr>
          <p:nvPr/>
        </p:nvSpPr>
        <p:spPr>
          <a:xfrm>
            <a:off x="247650" y="2990850"/>
            <a:ext cx="1600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타입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967D461-4DD1-4B26-B2F2-159368AE8AAF}"/>
              </a:ext>
            </a:extLst>
          </p:cNvPr>
          <p:cNvSpPr>
            <a:spLocks noGrp="1"/>
          </p:cNvSpPr>
          <p:nvPr/>
        </p:nvSpPr>
        <p:spPr>
          <a:xfrm>
            <a:off x="1905000" y="2952750"/>
            <a:ext cx="34290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7749DF0-8FF3-4E69-BA22-916CA9588469}"/>
              </a:ext>
            </a:extLst>
          </p:cNvPr>
          <p:cNvSpPr>
            <a:spLocks noGrp="1"/>
          </p:cNvSpPr>
          <p:nvPr/>
        </p:nvSpPr>
        <p:spPr>
          <a:xfrm>
            <a:off x="1962150" y="2990850"/>
            <a:ext cx="3314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역할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EE7DE0-6364-453E-A943-8CA175916FCD}"/>
              </a:ext>
            </a:extLst>
          </p:cNvPr>
          <p:cNvSpPr>
            <a:spLocks noGrp="1"/>
          </p:cNvSpPr>
          <p:nvPr/>
        </p:nvSpPr>
        <p:spPr>
          <a:xfrm>
            <a:off x="5334000" y="2952750"/>
            <a:ext cx="59055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0E8EB4-5D81-46B0-BDD3-F5D4451BD564}"/>
              </a:ext>
            </a:extLst>
          </p:cNvPr>
          <p:cNvSpPr>
            <a:spLocks noGrp="1"/>
          </p:cNvSpPr>
          <p:nvPr/>
        </p:nvSpPr>
        <p:spPr>
          <a:xfrm>
            <a:off x="5391150" y="2990850"/>
            <a:ext cx="5791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설계 방향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F75EB74-2979-4527-8E4C-C3AD698C327B}"/>
              </a:ext>
            </a:extLst>
          </p:cNvPr>
          <p:cNvSpPr>
            <a:spLocks noGrp="1"/>
          </p:cNvSpPr>
          <p:nvPr/>
        </p:nvSpPr>
        <p:spPr>
          <a:xfrm>
            <a:off x="190500" y="3467100"/>
            <a:ext cx="1714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6816F18-FF84-4DF8-81E5-BA7D9CC2047C}"/>
              </a:ext>
            </a:extLst>
          </p:cNvPr>
          <p:cNvSpPr>
            <a:spLocks noGrp="1"/>
          </p:cNvSpPr>
          <p:nvPr/>
        </p:nvSpPr>
        <p:spPr>
          <a:xfrm>
            <a:off x="247650" y="3505200"/>
            <a:ext cx="1600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소형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D70FB42-6EFC-4AE6-BAD4-E3A11B3B4858}"/>
              </a:ext>
            </a:extLst>
          </p:cNvPr>
          <p:cNvSpPr>
            <a:spLocks noGrp="1"/>
          </p:cNvSpPr>
          <p:nvPr/>
        </p:nvSpPr>
        <p:spPr>
          <a:xfrm>
            <a:off x="1905000" y="3467100"/>
            <a:ext cx="3429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1E01E22-E2FF-440F-A295-078CF4FC93A9}"/>
              </a:ext>
            </a:extLst>
          </p:cNvPr>
          <p:cNvSpPr>
            <a:spLocks noGrp="1"/>
          </p:cNvSpPr>
          <p:nvPr/>
        </p:nvSpPr>
        <p:spPr>
          <a:xfrm>
            <a:off x="1962150" y="3505200"/>
            <a:ext cx="3314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짧은 반복 채굴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DC01FAC-AB0D-4057-9E82-4B183AEB2860}"/>
              </a:ext>
            </a:extLst>
          </p:cNvPr>
          <p:cNvSpPr>
            <a:spLocks noGrp="1"/>
          </p:cNvSpPr>
          <p:nvPr/>
        </p:nvSpPr>
        <p:spPr>
          <a:xfrm>
            <a:off x="5334000" y="3467100"/>
            <a:ext cx="5905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A306AD5-094F-40BF-940A-7D2B580EE176}"/>
              </a:ext>
            </a:extLst>
          </p:cNvPr>
          <p:cNvSpPr>
            <a:spLocks noGrp="1"/>
          </p:cNvSpPr>
          <p:nvPr/>
        </p:nvSpPr>
        <p:spPr>
          <a:xfrm>
            <a:off x="5391150" y="3505200"/>
            <a:ext cx="5791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빠른 수집 리듬 유지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6B3DFE6-C8FC-444A-9109-176B8C006365}"/>
              </a:ext>
            </a:extLst>
          </p:cNvPr>
          <p:cNvSpPr>
            <a:spLocks noGrp="1"/>
          </p:cNvSpPr>
          <p:nvPr/>
        </p:nvSpPr>
        <p:spPr>
          <a:xfrm>
            <a:off x="190500" y="3981450"/>
            <a:ext cx="17145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B458BF0-C60A-40CB-8C92-3328AF1A2460}"/>
              </a:ext>
            </a:extLst>
          </p:cNvPr>
          <p:cNvSpPr>
            <a:spLocks noGrp="1"/>
          </p:cNvSpPr>
          <p:nvPr/>
        </p:nvSpPr>
        <p:spPr>
          <a:xfrm>
            <a:off x="247650" y="4019550"/>
            <a:ext cx="1600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일반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2B9C57-A804-4D1C-8B3C-E07CFEDB47D9}"/>
              </a:ext>
            </a:extLst>
          </p:cNvPr>
          <p:cNvSpPr>
            <a:spLocks noGrp="1"/>
          </p:cNvSpPr>
          <p:nvPr/>
        </p:nvSpPr>
        <p:spPr>
          <a:xfrm>
            <a:off x="1905000" y="3981450"/>
            <a:ext cx="3429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A3DD25A-14A1-4EA7-B899-ABF3E8721B26}"/>
              </a:ext>
            </a:extLst>
          </p:cNvPr>
          <p:cNvSpPr>
            <a:spLocks noGrp="1"/>
          </p:cNvSpPr>
          <p:nvPr/>
        </p:nvSpPr>
        <p:spPr>
          <a:xfrm>
            <a:off x="1962150" y="4019550"/>
            <a:ext cx="3314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기본 채굴 대상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793485B-52C3-47AE-8EF3-7A50F9FA9BBF}"/>
              </a:ext>
            </a:extLst>
          </p:cNvPr>
          <p:cNvSpPr>
            <a:spLocks noGrp="1"/>
          </p:cNvSpPr>
          <p:nvPr/>
        </p:nvSpPr>
        <p:spPr>
          <a:xfrm>
            <a:off x="5334000" y="3981450"/>
            <a:ext cx="59055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F4CD443-6A67-43FB-8715-0E4752D0BB49}"/>
              </a:ext>
            </a:extLst>
          </p:cNvPr>
          <p:cNvSpPr>
            <a:spLocks noGrp="1"/>
          </p:cNvSpPr>
          <p:nvPr/>
        </p:nvSpPr>
        <p:spPr>
          <a:xfrm>
            <a:off x="5391150" y="4019550"/>
            <a:ext cx="5791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약점/브레이크 연출 미적용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E02A7B4-1418-4A66-A0A6-76B0C46B92FC}"/>
              </a:ext>
            </a:extLst>
          </p:cNvPr>
          <p:cNvSpPr>
            <a:spLocks noGrp="1"/>
          </p:cNvSpPr>
          <p:nvPr/>
        </p:nvSpPr>
        <p:spPr>
          <a:xfrm>
            <a:off x="190500" y="4495800"/>
            <a:ext cx="1714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6B6FCD6-9C36-46D0-A7CF-669D12ECA036}"/>
              </a:ext>
            </a:extLst>
          </p:cNvPr>
          <p:cNvSpPr>
            <a:spLocks noGrp="1"/>
          </p:cNvSpPr>
          <p:nvPr/>
        </p:nvSpPr>
        <p:spPr>
          <a:xfrm>
            <a:off x="247650" y="4533900"/>
            <a:ext cx="1600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대상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AEC5185-BB14-4E70-9101-F58513926F89}"/>
              </a:ext>
            </a:extLst>
          </p:cNvPr>
          <p:cNvSpPr>
            <a:spLocks noGrp="1"/>
          </p:cNvSpPr>
          <p:nvPr/>
        </p:nvSpPr>
        <p:spPr>
          <a:xfrm>
            <a:off x="1905000" y="4495800"/>
            <a:ext cx="3429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9782B24-D1C8-403B-AFB8-F366DB00AC50}"/>
              </a:ext>
            </a:extLst>
          </p:cNvPr>
          <p:cNvSpPr>
            <a:spLocks noGrp="1"/>
          </p:cNvSpPr>
          <p:nvPr/>
        </p:nvSpPr>
        <p:spPr>
          <a:xfrm>
            <a:off x="1962150" y="4533900"/>
            <a:ext cx="3314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공략 대상 광물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DE3B35F-C7BE-403B-843C-9ABF8EF01BC8}"/>
              </a:ext>
            </a:extLst>
          </p:cNvPr>
          <p:cNvSpPr>
            <a:spLocks noGrp="1"/>
          </p:cNvSpPr>
          <p:nvPr/>
        </p:nvSpPr>
        <p:spPr>
          <a:xfrm>
            <a:off x="5334000" y="4495800"/>
            <a:ext cx="5905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66AB4EC-57D0-4F77-94C3-BE54A900AAEE}"/>
              </a:ext>
            </a:extLst>
          </p:cNvPr>
          <p:cNvSpPr>
            <a:spLocks noGrp="1"/>
          </p:cNvSpPr>
          <p:nvPr/>
        </p:nvSpPr>
        <p:spPr>
          <a:xfrm>
            <a:off x="5391150" y="4533900"/>
            <a:ext cx="5791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노출과 브레이크 연출 적용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9958F41-0147-42F6-ACBB-2BF500A0258C}"/>
              </a:ext>
            </a:extLst>
          </p:cNvPr>
          <p:cNvSpPr>
            <a:spLocks noGrp="1"/>
          </p:cNvSpPr>
          <p:nvPr/>
        </p:nvSpPr>
        <p:spPr>
          <a:xfrm>
            <a:off x="190500" y="5010150"/>
            <a:ext cx="17145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D0D97D6-F7E1-42D7-916E-4BCB450486B1}"/>
              </a:ext>
            </a:extLst>
          </p:cNvPr>
          <p:cNvSpPr>
            <a:spLocks noGrp="1"/>
          </p:cNvSpPr>
          <p:nvPr/>
        </p:nvSpPr>
        <p:spPr>
          <a:xfrm>
            <a:off x="247650" y="5048250"/>
            <a:ext cx="1600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보스/특수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888A058-F9C3-43DD-BD6F-E39DF795F297}"/>
              </a:ext>
            </a:extLst>
          </p:cNvPr>
          <p:cNvSpPr>
            <a:spLocks noGrp="1"/>
          </p:cNvSpPr>
          <p:nvPr/>
        </p:nvSpPr>
        <p:spPr>
          <a:xfrm>
            <a:off x="1905000" y="5010150"/>
            <a:ext cx="3429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0871742-B9D8-466E-900D-089F95FFBA31}"/>
              </a:ext>
            </a:extLst>
          </p:cNvPr>
          <p:cNvSpPr>
            <a:spLocks noGrp="1"/>
          </p:cNvSpPr>
          <p:nvPr/>
        </p:nvSpPr>
        <p:spPr>
          <a:xfrm>
            <a:off x="1962150" y="5048250"/>
            <a:ext cx="3314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강조 대상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78D59CF-92CE-4EB1-B321-8833285CB5D2}"/>
              </a:ext>
            </a:extLst>
          </p:cNvPr>
          <p:cNvSpPr>
            <a:spLocks noGrp="1"/>
          </p:cNvSpPr>
          <p:nvPr/>
        </p:nvSpPr>
        <p:spPr>
          <a:xfrm>
            <a:off x="5334000" y="5010150"/>
            <a:ext cx="59055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7865F65-5DF6-47FB-8E5B-0DC20285F193}"/>
              </a:ext>
            </a:extLst>
          </p:cNvPr>
          <p:cNvSpPr>
            <a:spLocks noGrp="1"/>
          </p:cNvSpPr>
          <p:nvPr/>
        </p:nvSpPr>
        <p:spPr>
          <a:xfrm>
            <a:off x="5391150" y="5048250"/>
            <a:ext cx="5791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필요 시 별도 enum 값으로 연출 강도 확장</a:t>
            </a:r>
          </a:p>
        </p:txBody>
      </p:sp>
    </p:spTree>
    <p:extLst>
      <p:ext uri="{BB962C8B-B14F-4D97-AF65-F5344CB8AC3E}">
        <p14:creationId xmlns:p14="http://schemas.microsoft.com/office/powerpoint/2010/main" val="1680163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lide Number Placeholder 5">
            <a:extLst>
              <a:ext uri="{FF2B5EF4-FFF2-40B4-BE49-F238E27FC236}">
                <a16:creationId xmlns:a16="http://schemas.microsoft.com/office/drawing/2014/main" id="{EA0399F6-E272-4692-8325-64EF3C6402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FC38C6F-4B96-4542-9FF3-1AA9C5823274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11. 데이터 테이블 초안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0CE0238-C731-4E22-A8BF-672CF9DAC960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AD9D7A-809D-4F11-BDF7-05EB97120F94}"/>
              </a:ext>
            </a:extLst>
          </p:cNvPr>
          <p:cNvSpPr>
            <a:spLocks noGrp="1"/>
          </p:cNvSpPr>
          <p:nvPr/>
        </p:nvSpPr>
        <p:spPr>
          <a:xfrm>
            <a:off x="190500" y="89535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0362A4-84E5-4B56-A3C1-3BFB5A935D6B}"/>
              </a:ext>
            </a:extLst>
          </p:cNvPr>
          <p:cNvSpPr>
            <a:spLocks noGrp="1"/>
          </p:cNvSpPr>
          <p:nvPr/>
        </p:nvSpPr>
        <p:spPr>
          <a:xfrm>
            <a:off x="247650" y="9334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Table_BreakMiningConfig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AD30FF-8B13-4E5A-8BDE-3FDC2B99E252}"/>
              </a:ext>
            </a:extLst>
          </p:cNvPr>
          <p:cNvSpPr>
            <a:spLocks noGrp="1"/>
          </p:cNvSpPr>
          <p:nvPr/>
        </p:nvSpPr>
        <p:spPr>
          <a:xfrm>
            <a:off x="3143250" y="89535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F6D935-F44E-45C7-B38D-8BDE08AE1880}"/>
              </a:ext>
            </a:extLst>
          </p:cNvPr>
          <p:cNvSpPr>
            <a:spLocks noGrp="1"/>
          </p:cNvSpPr>
          <p:nvPr/>
        </p:nvSpPr>
        <p:spPr>
          <a:xfrm>
            <a:off x="3200400" y="9334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 lnSpcReduction="10000"/>
          </a:bodyPr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D0EA273-541B-4346-84C0-B90017016799}"/>
              </a:ext>
            </a:extLst>
          </p:cNvPr>
          <p:cNvSpPr>
            <a:spLocks noGrp="1"/>
          </p:cNvSpPr>
          <p:nvPr/>
        </p:nvSpPr>
        <p:spPr>
          <a:xfrm>
            <a:off x="4857750" y="89535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DEBE71-B6B2-477E-BD75-506D6134997F}"/>
              </a:ext>
            </a:extLst>
          </p:cNvPr>
          <p:cNvSpPr>
            <a:spLocks noGrp="1"/>
          </p:cNvSpPr>
          <p:nvPr/>
        </p:nvSpPr>
        <p:spPr>
          <a:xfrm>
            <a:off x="4914900" y="9334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 lnSpcReduction="10000"/>
          </a:bodyPr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80BF031-16AB-4C26-BEA4-1F2BA24F9B8F}"/>
              </a:ext>
            </a:extLst>
          </p:cNvPr>
          <p:cNvSpPr>
            <a:spLocks noGrp="1"/>
          </p:cNvSpPr>
          <p:nvPr/>
        </p:nvSpPr>
        <p:spPr>
          <a:xfrm>
            <a:off x="6572250" y="895350"/>
            <a:ext cx="4762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AF5EE5F-9EC1-43F8-B665-B7AB6CFC3A94}"/>
              </a:ext>
            </a:extLst>
          </p:cNvPr>
          <p:cNvSpPr>
            <a:spLocks noGrp="1"/>
          </p:cNvSpPr>
          <p:nvPr/>
        </p:nvSpPr>
        <p:spPr>
          <a:xfrm>
            <a:off x="6629400" y="93345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 lnSpcReduction="10000"/>
          </a:bodyPr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277635-EB12-42BE-98BD-0733C0C2149B}"/>
              </a:ext>
            </a:extLst>
          </p:cNvPr>
          <p:cNvSpPr>
            <a:spLocks noGrp="1"/>
          </p:cNvSpPr>
          <p:nvPr/>
        </p:nvSpPr>
        <p:spPr>
          <a:xfrm>
            <a:off x="190500" y="125730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F9BAF7-44D2-432C-AD2E-E36E02E50E8D}"/>
              </a:ext>
            </a:extLst>
          </p:cNvPr>
          <p:cNvSpPr>
            <a:spLocks noGrp="1"/>
          </p:cNvSpPr>
          <p:nvPr/>
        </p:nvSpPr>
        <p:spPr>
          <a:xfrm>
            <a:off x="247650" y="12954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key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D1C0BB-64E8-4011-A84B-DE62256E86C9}"/>
              </a:ext>
            </a:extLst>
          </p:cNvPr>
          <p:cNvSpPr>
            <a:spLocks noGrp="1"/>
          </p:cNvSpPr>
          <p:nvPr/>
        </p:nvSpPr>
        <p:spPr>
          <a:xfrm>
            <a:off x="3143250" y="125730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6835AF6-BA2B-496D-B339-68000F74517E}"/>
              </a:ext>
            </a:extLst>
          </p:cNvPr>
          <p:cNvSpPr>
            <a:spLocks noGrp="1"/>
          </p:cNvSpPr>
          <p:nvPr/>
        </p:nvSpPr>
        <p:spPr>
          <a:xfrm>
            <a:off x="3200400" y="12954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type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8B70C8A-F898-4ABF-869D-ECBA61F9F4FA}"/>
              </a:ext>
            </a:extLst>
          </p:cNvPr>
          <p:cNvSpPr>
            <a:spLocks noGrp="1"/>
          </p:cNvSpPr>
          <p:nvPr/>
        </p:nvSpPr>
        <p:spPr>
          <a:xfrm>
            <a:off x="4857750" y="125730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2DE4A51-CF69-4CED-9D3B-B947F2CC0806}"/>
              </a:ext>
            </a:extLst>
          </p:cNvPr>
          <p:cNvSpPr>
            <a:spLocks noGrp="1"/>
          </p:cNvSpPr>
          <p:nvPr/>
        </p:nvSpPr>
        <p:spPr>
          <a:xfrm>
            <a:off x="4914900" y="12954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value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6E67B5A-AA69-452F-8324-9E80D54A6507}"/>
              </a:ext>
            </a:extLst>
          </p:cNvPr>
          <p:cNvSpPr>
            <a:spLocks noGrp="1"/>
          </p:cNvSpPr>
          <p:nvPr/>
        </p:nvSpPr>
        <p:spPr>
          <a:xfrm>
            <a:off x="6572250" y="1257300"/>
            <a:ext cx="4762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88C8282-5E08-4262-9066-C80977F7E5E9}"/>
              </a:ext>
            </a:extLst>
          </p:cNvPr>
          <p:cNvSpPr>
            <a:spLocks noGrp="1"/>
          </p:cNvSpPr>
          <p:nvPr/>
        </p:nvSpPr>
        <p:spPr>
          <a:xfrm>
            <a:off x="6629400" y="129540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description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8A3D817-7B0D-474C-85C0-5C369FD969A8}"/>
              </a:ext>
            </a:extLst>
          </p:cNvPr>
          <p:cNvSpPr>
            <a:spLocks noGrp="1"/>
          </p:cNvSpPr>
          <p:nvPr/>
        </p:nvSpPr>
        <p:spPr>
          <a:xfrm>
            <a:off x="190500" y="1619250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CC68839-B1E4-45E3-B3A1-3D145B4DF81D}"/>
              </a:ext>
            </a:extLst>
          </p:cNvPr>
          <p:cNvSpPr>
            <a:spLocks noGrp="1"/>
          </p:cNvSpPr>
          <p:nvPr/>
        </p:nvSpPr>
        <p:spPr>
          <a:xfrm>
            <a:off x="247650" y="16573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base_damage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D5F6ACB-B1D4-4C3E-AD37-B64D043607EA}"/>
              </a:ext>
            </a:extLst>
          </p:cNvPr>
          <p:cNvSpPr>
            <a:spLocks noGrp="1"/>
          </p:cNvSpPr>
          <p:nvPr/>
        </p:nvSpPr>
        <p:spPr>
          <a:xfrm>
            <a:off x="3143250" y="16192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38F6F97-DBCC-4147-A4B6-1706EF18132D}"/>
              </a:ext>
            </a:extLst>
          </p:cNvPr>
          <p:cNvSpPr>
            <a:spLocks noGrp="1"/>
          </p:cNvSpPr>
          <p:nvPr/>
        </p:nvSpPr>
        <p:spPr>
          <a:xfrm>
            <a:off x="3200400" y="16573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7A6FDFF-14D7-4CEA-A367-38C60AA0B74A}"/>
              </a:ext>
            </a:extLst>
          </p:cNvPr>
          <p:cNvSpPr>
            <a:spLocks noGrp="1"/>
          </p:cNvSpPr>
          <p:nvPr/>
        </p:nvSpPr>
        <p:spPr>
          <a:xfrm>
            <a:off x="4857750" y="16192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E15F367-B228-4DB3-80F2-31600B63168B}"/>
              </a:ext>
            </a:extLst>
          </p:cNvPr>
          <p:cNvSpPr>
            <a:spLocks noGrp="1"/>
          </p:cNvSpPr>
          <p:nvPr/>
        </p:nvSpPr>
        <p:spPr>
          <a:xfrm>
            <a:off x="4914900" y="16573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9.2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EFABE0C-DAB6-4FD4-B3FA-27849A74F627}"/>
              </a:ext>
            </a:extLst>
          </p:cNvPr>
          <p:cNvSpPr>
            <a:spLocks noGrp="1"/>
          </p:cNvSpPr>
          <p:nvPr/>
        </p:nvSpPr>
        <p:spPr>
          <a:xfrm>
            <a:off x="6572250" y="1619250"/>
            <a:ext cx="4762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C4A0B5-D468-406E-8BA7-F7B7EC3565B4}"/>
              </a:ext>
            </a:extLst>
          </p:cNvPr>
          <p:cNvSpPr>
            <a:spLocks noGrp="1"/>
          </p:cNvSpPr>
          <p:nvPr/>
        </p:nvSpPr>
        <p:spPr>
          <a:xfrm>
            <a:off x="6629400" y="165735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곡괭이 기본 데미지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EAE6E13-4948-48A5-B09E-BA9ACBCA6E2D}"/>
              </a:ext>
            </a:extLst>
          </p:cNvPr>
          <p:cNvSpPr>
            <a:spLocks noGrp="1"/>
          </p:cNvSpPr>
          <p:nvPr/>
        </p:nvSpPr>
        <p:spPr>
          <a:xfrm>
            <a:off x="190500" y="1981200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DC0E5CD-3B12-4177-AC97-09AC9D7A23AC}"/>
              </a:ext>
            </a:extLst>
          </p:cNvPr>
          <p:cNvSpPr>
            <a:spLocks noGrp="1"/>
          </p:cNvSpPr>
          <p:nvPr/>
        </p:nvSpPr>
        <p:spPr>
          <a:xfrm>
            <a:off x="247650" y="20193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break_damage_multiplier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A011B9F-F10E-4211-9B6E-015C3E8E5D3E}"/>
              </a:ext>
            </a:extLst>
          </p:cNvPr>
          <p:cNvSpPr>
            <a:spLocks noGrp="1"/>
          </p:cNvSpPr>
          <p:nvPr/>
        </p:nvSpPr>
        <p:spPr>
          <a:xfrm>
            <a:off x="3143250" y="198120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A53A3A1-209F-4A3C-BFB4-041FD2D9B9FB}"/>
              </a:ext>
            </a:extLst>
          </p:cNvPr>
          <p:cNvSpPr>
            <a:spLocks noGrp="1"/>
          </p:cNvSpPr>
          <p:nvPr/>
        </p:nvSpPr>
        <p:spPr>
          <a:xfrm>
            <a:off x="3200400" y="20193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1816CFA-5573-4BE2-8758-B0673648BEF5}"/>
              </a:ext>
            </a:extLst>
          </p:cNvPr>
          <p:cNvSpPr>
            <a:spLocks noGrp="1"/>
          </p:cNvSpPr>
          <p:nvPr/>
        </p:nvSpPr>
        <p:spPr>
          <a:xfrm>
            <a:off x="4857750" y="198120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1FB54DA-5E0B-474A-9062-1492BD1DDBAF}"/>
              </a:ext>
            </a:extLst>
          </p:cNvPr>
          <p:cNvSpPr>
            <a:spLocks noGrp="1"/>
          </p:cNvSpPr>
          <p:nvPr/>
        </p:nvSpPr>
        <p:spPr>
          <a:xfrm>
            <a:off x="4914900" y="20193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1.8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29618C9-998F-49BC-A54B-829144CD67EB}"/>
              </a:ext>
            </a:extLst>
          </p:cNvPr>
          <p:cNvSpPr>
            <a:spLocks noGrp="1"/>
          </p:cNvSpPr>
          <p:nvPr/>
        </p:nvSpPr>
        <p:spPr>
          <a:xfrm>
            <a:off x="6572250" y="1981200"/>
            <a:ext cx="4762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2AB42FE-84A2-4868-8099-CD6CC0BD8C02}"/>
              </a:ext>
            </a:extLst>
          </p:cNvPr>
          <p:cNvSpPr>
            <a:spLocks noGrp="1"/>
          </p:cNvSpPr>
          <p:nvPr/>
        </p:nvSpPr>
        <p:spPr>
          <a:xfrm>
            <a:off x="6629400" y="201930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중 데미지 배율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E9B98D3-3343-4825-91D7-B7506427E913}"/>
              </a:ext>
            </a:extLst>
          </p:cNvPr>
          <p:cNvSpPr>
            <a:spLocks noGrp="1"/>
          </p:cNvSpPr>
          <p:nvPr/>
        </p:nvSpPr>
        <p:spPr>
          <a:xfrm>
            <a:off x="190500" y="2343150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B59ED6-63BD-41EB-9D80-C160AC4646DB}"/>
              </a:ext>
            </a:extLst>
          </p:cNvPr>
          <p:cNvSpPr>
            <a:spLocks noGrp="1"/>
          </p:cNvSpPr>
          <p:nvPr/>
        </p:nvSpPr>
        <p:spPr>
          <a:xfrm>
            <a:off x="247650" y="23812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weak_reveal_hits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93E521F-2EE6-406A-93DC-27B30E8E602F}"/>
              </a:ext>
            </a:extLst>
          </p:cNvPr>
          <p:cNvSpPr>
            <a:spLocks noGrp="1"/>
          </p:cNvSpPr>
          <p:nvPr/>
        </p:nvSpPr>
        <p:spPr>
          <a:xfrm>
            <a:off x="3143250" y="23431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2DA865C-12EF-4E15-953E-99950683754B}"/>
              </a:ext>
            </a:extLst>
          </p:cNvPr>
          <p:cNvSpPr>
            <a:spLocks noGrp="1"/>
          </p:cNvSpPr>
          <p:nvPr/>
        </p:nvSpPr>
        <p:spPr>
          <a:xfrm>
            <a:off x="3200400" y="23812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612D169-F200-46BA-BA23-7862286BE167}"/>
              </a:ext>
            </a:extLst>
          </p:cNvPr>
          <p:cNvSpPr>
            <a:spLocks noGrp="1"/>
          </p:cNvSpPr>
          <p:nvPr/>
        </p:nvSpPr>
        <p:spPr>
          <a:xfrm>
            <a:off x="4857750" y="23431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E1413B3-8378-463E-96FD-8E6BD3A091FF}"/>
              </a:ext>
            </a:extLst>
          </p:cNvPr>
          <p:cNvSpPr>
            <a:spLocks noGrp="1"/>
          </p:cNvSpPr>
          <p:nvPr/>
        </p:nvSpPr>
        <p:spPr>
          <a:xfrm>
            <a:off x="4914900" y="23812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120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5470D1A-E724-4A04-B32F-7CCAFF3BDBBB}"/>
              </a:ext>
            </a:extLst>
          </p:cNvPr>
          <p:cNvSpPr>
            <a:spLocks noGrp="1"/>
          </p:cNvSpPr>
          <p:nvPr/>
        </p:nvSpPr>
        <p:spPr>
          <a:xfrm>
            <a:off x="6572250" y="2343150"/>
            <a:ext cx="4762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5AD66D6-D92B-4377-9A9A-7284F0698BA1}"/>
              </a:ext>
            </a:extLst>
          </p:cNvPr>
          <p:cNvSpPr>
            <a:spLocks noGrp="1"/>
          </p:cNvSpPr>
          <p:nvPr/>
        </p:nvSpPr>
        <p:spPr>
          <a:xfrm>
            <a:off x="6629400" y="238125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노출까지 필요한 몸통 타격 수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78309AB-D915-4218-AC6C-E8E956E828A1}"/>
              </a:ext>
            </a:extLst>
          </p:cNvPr>
          <p:cNvSpPr>
            <a:spLocks noGrp="1"/>
          </p:cNvSpPr>
          <p:nvPr/>
        </p:nvSpPr>
        <p:spPr>
          <a:xfrm>
            <a:off x="190500" y="2705100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39CD503-E2E1-44AF-8A96-923EA78B609D}"/>
              </a:ext>
            </a:extLst>
          </p:cNvPr>
          <p:cNvSpPr>
            <a:spLocks noGrp="1"/>
          </p:cNvSpPr>
          <p:nvPr/>
        </p:nvSpPr>
        <p:spPr>
          <a:xfrm>
            <a:off x="247650" y="27432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weak_break_gain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61AE4ED-8F68-4A88-AF1C-2B2C05ACFD61}"/>
              </a:ext>
            </a:extLst>
          </p:cNvPr>
          <p:cNvSpPr>
            <a:spLocks noGrp="1"/>
          </p:cNvSpPr>
          <p:nvPr/>
        </p:nvSpPr>
        <p:spPr>
          <a:xfrm>
            <a:off x="3143250" y="270510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9AC30D0-DD7E-4CA8-9CB0-A4714FFD887D}"/>
              </a:ext>
            </a:extLst>
          </p:cNvPr>
          <p:cNvSpPr>
            <a:spLocks noGrp="1"/>
          </p:cNvSpPr>
          <p:nvPr/>
        </p:nvSpPr>
        <p:spPr>
          <a:xfrm>
            <a:off x="3200400" y="27432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9362377-2983-4DC4-8134-198FD601DECB}"/>
              </a:ext>
            </a:extLst>
          </p:cNvPr>
          <p:cNvSpPr>
            <a:spLocks noGrp="1"/>
          </p:cNvSpPr>
          <p:nvPr/>
        </p:nvSpPr>
        <p:spPr>
          <a:xfrm>
            <a:off x="4857750" y="270510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C103AE5-1FAE-4CA1-AFF0-B7923F5F9E46}"/>
              </a:ext>
            </a:extLst>
          </p:cNvPr>
          <p:cNvSpPr>
            <a:spLocks noGrp="1"/>
          </p:cNvSpPr>
          <p:nvPr/>
        </p:nvSpPr>
        <p:spPr>
          <a:xfrm>
            <a:off x="4914900" y="27432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1.25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8898661-682A-4DE1-9B37-86B4C2DC8736}"/>
              </a:ext>
            </a:extLst>
          </p:cNvPr>
          <p:cNvSpPr>
            <a:spLocks noGrp="1"/>
          </p:cNvSpPr>
          <p:nvPr/>
        </p:nvSpPr>
        <p:spPr>
          <a:xfrm>
            <a:off x="6572250" y="2705100"/>
            <a:ext cx="4762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BFEFFC4-2037-40E3-9A5A-738B0E2C46CB}"/>
              </a:ext>
            </a:extLst>
          </p:cNvPr>
          <p:cNvSpPr>
            <a:spLocks noGrp="1"/>
          </p:cNvSpPr>
          <p:nvPr/>
        </p:nvSpPr>
        <p:spPr>
          <a:xfrm>
            <a:off x="6629400" y="274320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1타당 진행도 증가율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3D153F9-3277-4EB5-8E10-84CF8923AFD8}"/>
              </a:ext>
            </a:extLst>
          </p:cNvPr>
          <p:cNvSpPr>
            <a:spLocks noGrp="1"/>
          </p:cNvSpPr>
          <p:nvPr/>
        </p:nvSpPr>
        <p:spPr>
          <a:xfrm>
            <a:off x="190500" y="3067050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E5FEF1F-9045-405F-80FA-87FBD1422A69}"/>
              </a:ext>
            </a:extLst>
          </p:cNvPr>
          <p:cNvSpPr>
            <a:spLocks noGrp="1"/>
          </p:cNvSpPr>
          <p:nvPr/>
        </p:nvSpPr>
        <p:spPr>
          <a:xfrm>
            <a:off x="247650" y="31051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break_duration_frame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75C5D13-568B-47E5-8F60-239A467034E5}"/>
              </a:ext>
            </a:extLst>
          </p:cNvPr>
          <p:cNvSpPr>
            <a:spLocks noGrp="1"/>
          </p:cNvSpPr>
          <p:nvPr/>
        </p:nvSpPr>
        <p:spPr>
          <a:xfrm>
            <a:off x="3143250" y="30670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A41392E-8BBF-4FFB-863F-DD3FD2EF1BBB}"/>
              </a:ext>
            </a:extLst>
          </p:cNvPr>
          <p:cNvSpPr>
            <a:spLocks noGrp="1"/>
          </p:cNvSpPr>
          <p:nvPr/>
        </p:nvSpPr>
        <p:spPr>
          <a:xfrm>
            <a:off x="3200400" y="31051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FE8C6B8-5580-4364-B623-15C11B1B6E9C}"/>
              </a:ext>
            </a:extLst>
          </p:cNvPr>
          <p:cNvSpPr>
            <a:spLocks noGrp="1"/>
          </p:cNvSpPr>
          <p:nvPr/>
        </p:nvSpPr>
        <p:spPr>
          <a:xfrm>
            <a:off x="4857750" y="30670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A832187-A066-4632-AB3E-DA74F74CD47B}"/>
              </a:ext>
            </a:extLst>
          </p:cNvPr>
          <p:cNvSpPr>
            <a:spLocks noGrp="1"/>
          </p:cNvSpPr>
          <p:nvPr/>
        </p:nvSpPr>
        <p:spPr>
          <a:xfrm>
            <a:off x="4914900" y="31051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300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E781E2E-79CF-446D-96D4-AF4026D691A8}"/>
              </a:ext>
            </a:extLst>
          </p:cNvPr>
          <p:cNvSpPr>
            <a:spLocks noGrp="1"/>
          </p:cNvSpPr>
          <p:nvPr/>
        </p:nvSpPr>
        <p:spPr>
          <a:xfrm>
            <a:off x="6572250" y="3067050"/>
            <a:ext cx="4762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E8C408A-9B4E-40E3-A6B3-91412A5719B5}"/>
              </a:ext>
            </a:extLst>
          </p:cNvPr>
          <p:cNvSpPr>
            <a:spLocks noGrp="1"/>
          </p:cNvSpPr>
          <p:nvPr/>
        </p:nvSpPr>
        <p:spPr>
          <a:xfrm>
            <a:off x="6629400" y="310515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지속 프레임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75EB2BB-108A-4FCB-ADA9-E1705BFB6FF7}"/>
              </a:ext>
            </a:extLst>
          </p:cNvPr>
          <p:cNvSpPr>
            <a:spLocks noGrp="1"/>
          </p:cNvSpPr>
          <p:nvPr/>
        </p:nvSpPr>
        <p:spPr>
          <a:xfrm>
            <a:off x="190500" y="390525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48C9AE7-76C2-4E36-8C6A-E241EA08C212}"/>
              </a:ext>
            </a:extLst>
          </p:cNvPr>
          <p:cNvSpPr>
            <a:spLocks noGrp="1"/>
          </p:cNvSpPr>
          <p:nvPr/>
        </p:nvSpPr>
        <p:spPr>
          <a:xfrm>
            <a:off x="247650" y="39433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Table_MineralBreakType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482AB74-D96F-43E7-876F-128475A9D901}"/>
              </a:ext>
            </a:extLst>
          </p:cNvPr>
          <p:cNvSpPr>
            <a:spLocks noGrp="1"/>
          </p:cNvSpPr>
          <p:nvPr/>
        </p:nvSpPr>
        <p:spPr>
          <a:xfrm>
            <a:off x="3143250" y="390525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0D25750-22EA-478B-A297-AA93E3C48C48}"/>
              </a:ext>
            </a:extLst>
          </p:cNvPr>
          <p:cNvSpPr>
            <a:spLocks noGrp="1"/>
          </p:cNvSpPr>
          <p:nvPr/>
        </p:nvSpPr>
        <p:spPr>
          <a:xfrm>
            <a:off x="3200400" y="39433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 lnSpcReduction="10000"/>
          </a:bodyPr>
          <a:lstStyle/>
          <a:p>
            <a:endParaRPr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E1F30E0-015A-4013-A26B-C60104BEA4CE}"/>
              </a:ext>
            </a:extLst>
          </p:cNvPr>
          <p:cNvSpPr>
            <a:spLocks noGrp="1"/>
          </p:cNvSpPr>
          <p:nvPr/>
        </p:nvSpPr>
        <p:spPr>
          <a:xfrm>
            <a:off x="4857750" y="3905250"/>
            <a:ext cx="31432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EE5485F-9CB9-4F02-A89D-92A75311F103}"/>
              </a:ext>
            </a:extLst>
          </p:cNvPr>
          <p:cNvSpPr>
            <a:spLocks noGrp="1"/>
          </p:cNvSpPr>
          <p:nvPr/>
        </p:nvSpPr>
        <p:spPr>
          <a:xfrm>
            <a:off x="4914900" y="394335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 lnSpcReduction="10000"/>
          </a:bodyPr>
          <a:lstStyle/>
          <a:p>
            <a:endParaRPr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6236832-C046-481E-931C-4316694AA768}"/>
              </a:ext>
            </a:extLst>
          </p:cNvPr>
          <p:cNvSpPr>
            <a:spLocks noGrp="1"/>
          </p:cNvSpPr>
          <p:nvPr/>
        </p:nvSpPr>
        <p:spPr>
          <a:xfrm>
            <a:off x="8001000" y="3905250"/>
            <a:ext cx="3333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2AD45DF-645B-477D-BEC4-179C11D84195}"/>
              </a:ext>
            </a:extLst>
          </p:cNvPr>
          <p:cNvSpPr>
            <a:spLocks noGrp="1"/>
          </p:cNvSpPr>
          <p:nvPr/>
        </p:nvSpPr>
        <p:spPr>
          <a:xfrm>
            <a:off x="8058150" y="394335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 lnSpcReduction="10000"/>
          </a:bodyPr>
          <a:lstStyle/>
          <a:p>
            <a:endParaRPr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791F791-2ABA-45EF-8AB1-AD0C273D56C7}"/>
              </a:ext>
            </a:extLst>
          </p:cNvPr>
          <p:cNvSpPr>
            <a:spLocks noGrp="1"/>
          </p:cNvSpPr>
          <p:nvPr/>
        </p:nvSpPr>
        <p:spPr>
          <a:xfrm>
            <a:off x="190500" y="426720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3D0958AC-14C3-4D23-9DB3-8233582A8069}"/>
              </a:ext>
            </a:extLst>
          </p:cNvPr>
          <p:cNvSpPr>
            <a:spLocks noGrp="1"/>
          </p:cNvSpPr>
          <p:nvPr/>
        </p:nvSpPr>
        <p:spPr>
          <a:xfrm>
            <a:off x="247650" y="43053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enum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8F2D11E-C91E-49D1-A505-06513CF2796C}"/>
              </a:ext>
            </a:extLst>
          </p:cNvPr>
          <p:cNvSpPr>
            <a:spLocks noGrp="1"/>
          </p:cNvSpPr>
          <p:nvPr/>
        </p:nvSpPr>
        <p:spPr>
          <a:xfrm>
            <a:off x="3143250" y="426720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10A6535-1BB7-4D2A-876A-61F08CE80135}"/>
              </a:ext>
            </a:extLst>
          </p:cNvPr>
          <p:cNvSpPr>
            <a:spLocks noGrp="1"/>
          </p:cNvSpPr>
          <p:nvPr/>
        </p:nvSpPr>
        <p:spPr>
          <a:xfrm>
            <a:off x="3200400" y="43053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type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9E07CED-7232-4ABB-9DF8-4008B6FAA854}"/>
              </a:ext>
            </a:extLst>
          </p:cNvPr>
          <p:cNvSpPr>
            <a:spLocks noGrp="1"/>
          </p:cNvSpPr>
          <p:nvPr/>
        </p:nvSpPr>
        <p:spPr>
          <a:xfrm>
            <a:off x="4857750" y="4267200"/>
            <a:ext cx="31432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F160399-EF4F-4250-BCF9-4D90E236768C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description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7EF9574-AE3E-43A3-8A76-098AF232FBC7}"/>
              </a:ext>
            </a:extLst>
          </p:cNvPr>
          <p:cNvSpPr>
            <a:spLocks noGrp="1"/>
          </p:cNvSpPr>
          <p:nvPr/>
        </p:nvSpPr>
        <p:spPr>
          <a:xfrm>
            <a:off x="8001000" y="4267200"/>
            <a:ext cx="3333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4EE4787-C820-4B5A-82AF-EEEFDDEB85FF}"/>
              </a:ext>
            </a:extLst>
          </p:cNvPr>
          <p:cNvSpPr>
            <a:spLocks noGrp="1"/>
          </p:cNvSpPr>
          <p:nvPr/>
        </p:nvSpPr>
        <p:spPr>
          <a:xfrm>
            <a:off x="8058150" y="430530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effect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DA17BD86-1B86-41DD-A1C9-192E6009EF27}"/>
              </a:ext>
            </a:extLst>
          </p:cNvPr>
          <p:cNvSpPr>
            <a:spLocks noGrp="1"/>
          </p:cNvSpPr>
          <p:nvPr/>
        </p:nvSpPr>
        <p:spPr>
          <a:xfrm>
            <a:off x="190500" y="4629150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EB371FC2-E28B-4B07-AE0B-E0C5EC929327}"/>
              </a:ext>
            </a:extLst>
          </p:cNvPr>
          <p:cNvSpPr>
            <a:spLocks noGrp="1"/>
          </p:cNvSpPr>
          <p:nvPr/>
        </p:nvSpPr>
        <p:spPr>
          <a:xfrm>
            <a:off x="247650" y="46672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None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9FD14FE-BFC2-43DD-ACD9-203459F6AAF7}"/>
              </a:ext>
            </a:extLst>
          </p:cNvPr>
          <p:cNvSpPr>
            <a:spLocks noGrp="1"/>
          </p:cNvSpPr>
          <p:nvPr/>
        </p:nvSpPr>
        <p:spPr>
          <a:xfrm>
            <a:off x="3143250" y="46291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0B21873-07DA-45DB-81EE-C7C9AFDDFD34}"/>
              </a:ext>
            </a:extLst>
          </p:cNvPr>
          <p:cNvSpPr>
            <a:spLocks noGrp="1"/>
          </p:cNvSpPr>
          <p:nvPr/>
        </p:nvSpPr>
        <p:spPr>
          <a:xfrm>
            <a:off x="3200400" y="46672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69EB76BB-6907-4B9E-9475-EEC9CB29AB91}"/>
              </a:ext>
            </a:extLst>
          </p:cNvPr>
          <p:cNvSpPr>
            <a:spLocks noGrp="1"/>
          </p:cNvSpPr>
          <p:nvPr/>
        </p:nvSpPr>
        <p:spPr>
          <a:xfrm>
            <a:off x="4857750" y="4629150"/>
            <a:ext cx="31432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43FE3A51-9179-4411-AFB2-6940316CFD64}"/>
              </a:ext>
            </a:extLst>
          </p:cNvPr>
          <p:cNvSpPr>
            <a:spLocks noGrp="1"/>
          </p:cNvSpPr>
          <p:nvPr/>
        </p:nvSpPr>
        <p:spPr>
          <a:xfrm>
            <a:off x="4914900" y="466725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미적용 광물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9B34724D-DB1D-45F0-A99B-26A44A1A03C8}"/>
              </a:ext>
            </a:extLst>
          </p:cNvPr>
          <p:cNvSpPr>
            <a:spLocks noGrp="1"/>
          </p:cNvSpPr>
          <p:nvPr/>
        </p:nvSpPr>
        <p:spPr>
          <a:xfrm>
            <a:off x="8001000" y="4629150"/>
            <a:ext cx="3333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D691A73-8E8D-4D9E-9A06-9A21C8C846B3}"/>
              </a:ext>
            </a:extLst>
          </p:cNvPr>
          <p:cNvSpPr>
            <a:spLocks noGrp="1"/>
          </p:cNvSpPr>
          <p:nvPr/>
        </p:nvSpPr>
        <p:spPr>
          <a:xfrm>
            <a:off x="8058150" y="466725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기존 채굴 처리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4E5A5C5-802A-4246-8B3D-434A5C774683}"/>
              </a:ext>
            </a:extLst>
          </p:cNvPr>
          <p:cNvSpPr>
            <a:spLocks noGrp="1"/>
          </p:cNvSpPr>
          <p:nvPr/>
        </p:nvSpPr>
        <p:spPr>
          <a:xfrm>
            <a:off x="190500" y="4991100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A94FED51-DACC-4D93-B727-DF639506D86E}"/>
              </a:ext>
            </a:extLst>
          </p:cNvPr>
          <p:cNvSpPr>
            <a:spLocks noGrp="1"/>
          </p:cNvSpPr>
          <p:nvPr/>
        </p:nvSpPr>
        <p:spPr>
          <a:xfrm>
            <a:off x="247650" y="50292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WeakPoint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80D823E1-ED24-4176-B41B-DBA0A88FD91C}"/>
              </a:ext>
            </a:extLst>
          </p:cNvPr>
          <p:cNvSpPr>
            <a:spLocks noGrp="1"/>
          </p:cNvSpPr>
          <p:nvPr/>
        </p:nvSpPr>
        <p:spPr>
          <a:xfrm>
            <a:off x="3143250" y="499110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6F39F66D-431C-48B7-9963-60B4999AFF2D}"/>
              </a:ext>
            </a:extLst>
          </p:cNvPr>
          <p:cNvSpPr>
            <a:spLocks noGrp="1"/>
          </p:cNvSpPr>
          <p:nvPr/>
        </p:nvSpPr>
        <p:spPr>
          <a:xfrm>
            <a:off x="3200400" y="50292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58C6E83-81E6-4FEE-B8D4-1EFF514F1936}"/>
              </a:ext>
            </a:extLst>
          </p:cNvPr>
          <p:cNvSpPr>
            <a:spLocks noGrp="1"/>
          </p:cNvSpPr>
          <p:nvPr/>
        </p:nvSpPr>
        <p:spPr>
          <a:xfrm>
            <a:off x="4857750" y="4991100"/>
            <a:ext cx="31432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04694D84-A7CA-42DC-8EE7-E672386195D7}"/>
              </a:ext>
            </a:extLst>
          </p:cNvPr>
          <p:cNvSpPr>
            <a:spLocks noGrp="1"/>
          </p:cNvSpPr>
          <p:nvPr/>
        </p:nvSpPr>
        <p:spPr>
          <a:xfrm>
            <a:off x="4914900" y="502920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노출 대상 광물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D8CA20BE-F821-4C13-8EA1-0D604BD38308}"/>
              </a:ext>
            </a:extLst>
          </p:cNvPr>
          <p:cNvSpPr>
            <a:spLocks noGrp="1"/>
          </p:cNvSpPr>
          <p:nvPr/>
        </p:nvSpPr>
        <p:spPr>
          <a:xfrm>
            <a:off x="8001000" y="4991100"/>
            <a:ext cx="3333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7F54BBC4-A67C-45E6-9B00-C40C88FC4E46}"/>
              </a:ext>
            </a:extLst>
          </p:cNvPr>
          <p:cNvSpPr>
            <a:spLocks noGrp="1"/>
          </p:cNvSpPr>
          <p:nvPr/>
        </p:nvSpPr>
        <p:spPr>
          <a:xfrm>
            <a:off x="8058150" y="502920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마크 / 균열 진행도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CCB285FA-14BA-4D51-B9A2-90291A8EFF6F}"/>
              </a:ext>
            </a:extLst>
          </p:cNvPr>
          <p:cNvSpPr>
            <a:spLocks noGrp="1"/>
          </p:cNvSpPr>
          <p:nvPr/>
        </p:nvSpPr>
        <p:spPr>
          <a:xfrm>
            <a:off x="190500" y="5353050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2489A0BA-81E0-4668-B201-BF7D557DA4C1}"/>
              </a:ext>
            </a:extLst>
          </p:cNvPr>
          <p:cNvSpPr>
            <a:spLocks noGrp="1"/>
          </p:cNvSpPr>
          <p:nvPr/>
        </p:nvSpPr>
        <p:spPr>
          <a:xfrm>
            <a:off x="247650" y="53911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Breakable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DD09FAA0-6324-4148-ABC4-A1BCCA305B77}"/>
              </a:ext>
            </a:extLst>
          </p:cNvPr>
          <p:cNvSpPr>
            <a:spLocks noGrp="1"/>
          </p:cNvSpPr>
          <p:nvPr/>
        </p:nvSpPr>
        <p:spPr>
          <a:xfrm>
            <a:off x="3143250" y="53530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EF265C0C-BBDC-4AD1-9F3A-596505003664}"/>
              </a:ext>
            </a:extLst>
          </p:cNvPr>
          <p:cNvSpPr>
            <a:spLocks noGrp="1"/>
          </p:cNvSpPr>
          <p:nvPr/>
        </p:nvSpPr>
        <p:spPr>
          <a:xfrm>
            <a:off x="3200400" y="53911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DA9C0730-3827-44B2-8D3E-000E9C62FBB1}"/>
              </a:ext>
            </a:extLst>
          </p:cNvPr>
          <p:cNvSpPr>
            <a:spLocks noGrp="1"/>
          </p:cNvSpPr>
          <p:nvPr/>
        </p:nvSpPr>
        <p:spPr>
          <a:xfrm>
            <a:off x="4857750" y="5353050"/>
            <a:ext cx="31432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08BAF82E-8FBE-4955-AAD8-3C1E217E8F3F}"/>
              </a:ext>
            </a:extLst>
          </p:cNvPr>
          <p:cNvSpPr>
            <a:spLocks noGrp="1"/>
          </p:cNvSpPr>
          <p:nvPr/>
        </p:nvSpPr>
        <p:spPr>
          <a:xfrm>
            <a:off x="4914900" y="539115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대상 광물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78D89ABD-F3B6-426A-AA91-FF1AB6F48459}"/>
              </a:ext>
            </a:extLst>
          </p:cNvPr>
          <p:cNvSpPr>
            <a:spLocks noGrp="1"/>
          </p:cNvSpPr>
          <p:nvPr/>
        </p:nvSpPr>
        <p:spPr>
          <a:xfrm>
            <a:off x="8001000" y="5353050"/>
            <a:ext cx="3333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21E243E1-E681-456A-AE0E-8E07A7E70640}"/>
              </a:ext>
            </a:extLst>
          </p:cNvPr>
          <p:cNvSpPr>
            <a:spLocks noGrp="1"/>
          </p:cNvSpPr>
          <p:nvPr/>
        </p:nvSpPr>
        <p:spPr>
          <a:xfrm>
            <a:off x="8058150" y="539115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+ 브레이크 외곽선 연출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76CB029C-291A-48CF-8D7F-C1E354DA2FBE}"/>
              </a:ext>
            </a:extLst>
          </p:cNvPr>
          <p:cNvSpPr>
            <a:spLocks noGrp="1"/>
          </p:cNvSpPr>
          <p:nvPr/>
        </p:nvSpPr>
        <p:spPr>
          <a:xfrm>
            <a:off x="190500" y="5715000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E184ECB0-E3F2-44C4-8520-31144C69455C}"/>
              </a:ext>
            </a:extLst>
          </p:cNvPr>
          <p:cNvSpPr>
            <a:spLocks noGrp="1"/>
          </p:cNvSpPr>
          <p:nvPr/>
        </p:nvSpPr>
        <p:spPr>
          <a:xfrm>
            <a:off x="247650" y="57531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Special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1AFEC809-FFBD-454C-BE6D-55179E7AAF39}"/>
              </a:ext>
            </a:extLst>
          </p:cNvPr>
          <p:cNvSpPr>
            <a:spLocks noGrp="1"/>
          </p:cNvSpPr>
          <p:nvPr/>
        </p:nvSpPr>
        <p:spPr>
          <a:xfrm>
            <a:off x="3143250" y="571500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F280CF34-D1BB-4A3F-AEA7-68202E5C9ABB}"/>
              </a:ext>
            </a:extLst>
          </p:cNvPr>
          <p:cNvSpPr>
            <a:spLocks noGrp="1"/>
          </p:cNvSpPr>
          <p:nvPr/>
        </p:nvSpPr>
        <p:spPr>
          <a:xfrm>
            <a:off x="3200400" y="57531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A306C759-1BCB-4C64-9844-78329B9AC872}"/>
              </a:ext>
            </a:extLst>
          </p:cNvPr>
          <p:cNvSpPr>
            <a:spLocks noGrp="1"/>
          </p:cNvSpPr>
          <p:nvPr/>
        </p:nvSpPr>
        <p:spPr>
          <a:xfrm>
            <a:off x="4857750" y="5715000"/>
            <a:ext cx="31432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D2E5E1F2-02E6-4CDB-B8AE-B09D225E2D05}"/>
              </a:ext>
            </a:extLst>
          </p:cNvPr>
          <p:cNvSpPr>
            <a:spLocks noGrp="1"/>
          </p:cNvSpPr>
          <p:nvPr/>
        </p:nvSpPr>
        <p:spPr>
          <a:xfrm>
            <a:off x="4914900" y="575310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특수 연출 확장용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5C853876-1E69-4C5C-96BB-55F6E3F78AA3}"/>
              </a:ext>
            </a:extLst>
          </p:cNvPr>
          <p:cNvSpPr>
            <a:spLocks noGrp="1"/>
          </p:cNvSpPr>
          <p:nvPr/>
        </p:nvSpPr>
        <p:spPr>
          <a:xfrm>
            <a:off x="8001000" y="5715000"/>
            <a:ext cx="3333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FF504C63-8D03-494D-AAD9-BF1FB5FAB345}"/>
              </a:ext>
            </a:extLst>
          </p:cNvPr>
          <p:cNvSpPr>
            <a:spLocks noGrp="1"/>
          </p:cNvSpPr>
          <p:nvPr/>
        </p:nvSpPr>
        <p:spPr>
          <a:xfrm>
            <a:off x="8058150" y="575310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추후 별도 패턴 적용</a:t>
            </a:r>
          </a:p>
        </p:txBody>
      </p:sp>
    </p:spTree>
    <p:extLst>
      <p:ext uri="{BB962C8B-B14F-4D97-AF65-F5344CB8AC3E}">
        <p14:creationId xmlns:p14="http://schemas.microsoft.com/office/powerpoint/2010/main" val="1337999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EA0399F6-E272-4692-8325-64EF3C6402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B63A3CF-8C17-49CF-AF68-A1CC889F4B44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12. 예외 처리 / QA 체크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B7B610-3EA7-4817-BE1B-12355B56179B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62D3161-6EC9-46B2-8AEF-3D2120661E1A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2000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9104BE-C1EB-4AEF-B2C9-15EDC96FE78D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항목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5EE691-2884-453C-93EC-C30830A25D9E}"/>
              </a:ext>
            </a:extLst>
          </p:cNvPr>
          <p:cNvSpPr>
            <a:spLocks noGrp="1"/>
          </p:cNvSpPr>
          <p:nvPr/>
        </p:nvSpPr>
        <p:spPr>
          <a:xfrm>
            <a:off x="2190750" y="914400"/>
            <a:ext cx="40957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D1B110-CB69-4CE3-82E9-24A992DCDD93}"/>
              </a:ext>
            </a:extLst>
          </p:cNvPr>
          <p:cNvSpPr>
            <a:spLocks noGrp="1"/>
          </p:cNvSpPr>
          <p:nvPr/>
        </p:nvSpPr>
        <p:spPr>
          <a:xfrm>
            <a:off x="2247900" y="9525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상황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F4638C2-AAF4-4F22-BA7F-9781BE49C3B9}"/>
              </a:ext>
            </a:extLst>
          </p:cNvPr>
          <p:cNvSpPr>
            <a:spLocks noGrp="1"/>
          </p:cNvSpPr>
          <p:nvPr/>
        </p:nvSpPr>
        <p:spPr>
          <a:xfrm>
            <a:off x="6286500" y="914400"/>
            <a:ext cx="514350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709F56-395F-4BC6-A489-5DA3E25BE683}"/>
              </a:ext>
            </a:extLst>
          </p:cNvPr>
          <p:cNvSpPr>
            <a:spLocks noGrp="1"/>
          </p:cNvSpPr>
          <p:nvPr/>
        </p:nvSpPr>
        <p:spPr>
          <a:xfrm>
            <a:off x="6343650" y="9525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처리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8460B8D-840E-4920-B9F7-408A3BE24295}"/>
              </a:ext>
            </a:extLst>
          </p:cNvPr>
          <p:cNvSpPr>
            <a:spLocks noGrp="1"/>
          </p:cNvSpPr>
          <p:nvPr/>
        </p:nvSpPr>
        <p:spPr>
          <a:xfrm>
            <a:off x="190500" y="14668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DA80F4-3700-4792-ACCC-28405E464B75}"/>
              </a:ext>
            </a:extLst>
          </p:cNvPr>
          <p:cNvSpPr>
            <a:spLocks noGrp="1"/>
          </p:cNvSpPr>
          <p:nvPr/>
        </p:nvSpPr>
        <p:spPr>
          <a:xfrm>
            <a:off x="247650" y="15049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접근 불가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EB64ABE-1110-4957-AA68-B917541D4E86}"/>
              </a:ext>
            </a:extLst>
          </p:cNvPr>
          <p:cNvSpPr>
            <a:spLocks noGrp="1"/>
          </p:cNvSpPr>
          <p:nvPr/>
        </p:nvSpPr>
        <p:spPr>
          <a:xfrm>
            <a:off x="2190750" y="1466850"/>
            <a:ext cx="4095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7554352-21FE-4949-8D09-53E0B24D4B17}"/>
              </a:ext>
            </a:extLst>
          </p:cNvPr>
          <p:cNvSpPr>
            <a:spLocks noGrp="1"/>
          </p:cNvSpPr>
          <p:nvPr/>
        </p:nvSpPr>
        <p:spPr>
          <a:xfrm>
            <a:off x="2247900" y="150495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약점이 광물 안쪽 또는 캐릭터가 닿지 않는 위치에 생성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7B8413-7E58-40C2-A5EB-524E1FC45EFF}"/>
              </a:ext>
            </a:extLst>
          </p:cNvPr>
          <p:cNvSpPr>
            <a:spLocks noGrp="1"/>
          </p:cNvSpPr>
          <p:nvPr/>
        </p:nvSpPr>
        <p:spPr>
          <a:xfrm>
            <a:off x="6286500" y="1466850"/>
            <a:ext cx="5143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95841E0-4816-4D65-B0AA-F7F131DCD916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외곽선 근처로 보정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428F7BC-34E0-452D-A502-D83A63F93FEC}"/>
              </a:ext>
            </a:extLst>
          </p:cNvPr>
          <p:cNvSpPr>
            <a:spLocks noGrp="1"/>
          </p:cNvSpPr>
          <p:nvPr/>
        </p:nvSpPr>
        <p:spPr>
          <a:xfrm>
            <a:off x="190500" y="20193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3E5D58B-70EC-4880-90B0-5C3B1FCED49D}"/>
              </a:ext>
            </a:extLst>
          </p:cNvPr>
          <p:cNvSpPr>
            <a:spLocks noGrp="1"/>
          </p:cNvSpPr>
          <p:nvPr/>
        </p:nvSpPr>
        <p:spPr>
          <a:xfrm>
            <a:off x="247650" y="20574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과다 이동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B6E6BC7-9F78-4527-94EF-CF43B5905EC9}"/>
              </a:ext>
            </a:extLst>
          </p:cNvPr>
          <p:cNvSpPr>
            <a:spLocks noGrp="1"/>
          </p:cNvSpPr>
          <p:nvPr/>
        </p:nvSpPr>
        <p:spPr>
          <a:xfrm>
            <a:off x="2190750" y="2019300"/>
            <a:ext cx="40957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A1B3C11-DE71-4460-BBF6-DB7FB701EB93}"/>
              </a:ext>
            </a:extLst>
          </p:cNvPr>
          <p:cNvSpPr>
            <a:spLocks noGrp="1"/>
          </p:cNvSpPr>
          <p:nvPr/>
        </p:nvSpPr>
        <p:spPr>
          <a:xfrm>
            <a:off x="2247900" y="20574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위치가 너무 자주 바뀌어 피로함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BFFB52F-68E2-47AD-9DE0-B20BD363DD7F}"/>
              </a:ext>
            </a:extLst>
          </p:cNvPr>
          <p:cNvSpPr>
            <a:spLocks noGrp="1"/>
          </p:cNvSpPr>
          <p:nvPr/>
        </p:nvSpPr>
        <p:spPr>
          <a:xfrm>
            <a:off x="6286500" y="2019300"/>
            <a:ext cx="5143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FAE847E-3C08-4B4A-9EA7-BB41B4097312}"/>
              </a:ext>
            </a:extLst>
          </p:cNvPr>
          <p:cNvSpPr>
            <a:spLocks noGrp="1"/>
          </p:cNvSpPr>
          <p:nvPr/>
        </p:nvSpPr>
        <p:spPr>
          <a:xfrm>
            <a:off x="6343650" y="20574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6.5초 이동 주기 유지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0FDCA52-40A1-488C-852B-D786059EAE3A}"/>
              </a:ext>
            </a:extLst>
          </p:cNvPr>
          <p:cNvSpPr>
            <a:spLocks noGrp="1"/>
          </p:cNvSpPr>
          <p:nvPr/>
        </p:nvSpPr>
        <p:spPr>
          <a:xfrm>
            <a:off x="190500" y="25717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89E84B4-5D08-4A2E-A5BF-FCEEC8C7B158}"/>
              </a:ext>
            </a:extLst>
          </p:cNvPr>
          <p:cNvSpPr>
            <a:spLocks noGrp="1"/>
          </p:cNvSpPr>
          <p:nvPr/>
        </p:nvSpPr>
        <p:spPr>
          <a:xfrm>
            <a:off x="247650" y="26098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중 약점 노출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B86858E-DBFC-47D1-B99B-C3FEDDEE67F4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4095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848C2D9-99E0-4162-80F7-38EA2E3E65C8}"/>
              </a:ext>
            </a:extLst>
          </p:cNvPr>
          <p:cNvSpPr>
            <a:spLocks noGrp="1"/>
          </p:cNvSpPr>
          <p:nvPr/>
        </p:nvSpPr>
        <p:spPr>
          <a:xfrm>
            <a:off x="2247900" y="260985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중에도 약점이 보임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221DE8D-E5C2-4920-BBB7-A0AA9EAF9C8B}"/>
              </a:ext>
            </a:extLst>
          </p:cNvPr>
          <p:cNvSpPr>
            <a:spLocks noGrp="1"/>
          </p:cNvSpPr>
          <p:nvPr/>
        </p:nvSpPr>
        <p:spPr>
          <a:xfrm>
            <a:off x="6286500" y="2571750"/>
            <a:ext cx="5143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22FABD8-A942-47B6-ADDA-E7AB4FC1E9D9}"/>
              </a:ext>
            </a:extLst>
          </p:cNvPr>
          <p:cNvSpPr>
            <a:spLocks noGrp="1"/>
          </p:cNvSpPr>
          <p:nvPr/>
        </p:nvSpPr>
        <p:spPr>
          <a:xfrm>
            <a:off x="6343650" y="260985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중 약점 숨김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A8695F0-67DD-40C8-8ABB-6FDD665FE421}"/>
              </a:ext>
            </a:extLst>
          </p:cNvPr>
          <p:cNvSpPr>
            <a:spLocks noGrp="1"/>
          </p:cNvSpPr>
          <p:nvPr/>
        </p:nvSpPr>
        <p:spPr>
          <a:xfrm>
            <a:off x="190500" y="31242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D1E42C5-40E0-41E5-9CB4-6567ED891A4E}"/>
              </a:ext>
            </a:extLst>
          </p:cNvPr>
          <p:cNvSpPr>
            <a:spLocks noGrp="1"/>
          </p:cNvSpPr>
          <p:nvPr/>
        </p:nvSpPr>
        <p:spPr>
          <a:xfrm>
            <a:off x="247650" y="31623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비대상 광물 연출 발생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355118D-1720-49D2-B811-16FCC45F03C8}"/>
              </a:ext>
            </a:extLst>
          </p:cNvPr>
          <p:cNvSpPr>
            <a:spLocks noGrp="1"/>
          </p:cNvSpPr>
          <p:nvPr/>
        </p:nvSpPr>
        <p:spPr>
          <a:xfrm>
            <a:off x="2190750" y="3124200"/>
            <a:ext cx="40957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986F335-B452-47AC-8BD9-F06FF1B8D26B}"/>
              </a:ext>
            </a:extLst>
          </p:cNvPr>
          <p:cNvSpPr>
            <a:spLocks noGrp="1"/>
          </p:cNvSpPr>
          <p:nvPr/>
        </p:nvSpPr>
        <p:spPr>
          <a:xfrm>
            <a:off x="2247900" y="31623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일반 광물에 약점/브레이크 연출이 표시됨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A8D5EE1-83CE-486E-B3FA-F3893FCB7259}"/>
              </a:ext>
            </a:extLst>
          </p:cNvPr>
          <p:cNvSpPr>
            <a:spLocks noGrp="1"/>
          </p:cNvSpPr>
          <p:nvPr/>
        </p:nvSpPr>
        <p:spPr>
          <a:xfrm>
            <a:off x="6286500" y="3124200"/>
            <a:ext cx="5143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EBF0171-880B-4926-B5C8-025312AD1B8E}"/>
              </a:ext>
            </a:extLst>
          </p:cNvPr>
          <p:cNvSpPr>
            <a:spLocks noGrp="1"/>
          </p:cNvSpPr>
          <p:nvPr/>
        </p:nvSpPr>
        <p:spPr>
          <a:xfrm>
            <a:off x="6343650" y="31623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MineralBreakType enum 확인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83F656D-CBEF-4CD9-A3F3-B00E5F0DA406}"/>
              </a:ext>
            </a:extLst>
          </p:cNvPr>
          <p:cNvSpPr>
            <a:spLocks noGrp="1"/>
          </p:cNvSpPr>
          <p:nvPr/>
        </p:nvSpPr>
        <p:spPr>
          <a:xfrm>
            <a:off x="190500" y="36766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64D0DBC-954C-4621-8513-B1F126AD9063}"/>
              </a:ext>
            </a:extLst>
          </p:cNvPr>
          <p:cNvSpPr>
            <a:spLocks noGrp="1"/>
          </p:cNvSpPr>
          <p:nvPr/>
        </p:nvSpPr>
        <p:spPr>
          <a:xfrm>
            <a:off x="247650" y="37147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겹침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BDE6351-F4DE-402B-AD82-F66D39313366}"/>
              </a:ext>
            </a:extLst>
          </p:cNvPr>
          <p:cNvSpPr>
            <a:spLocks noGrp="1"/>
          </p:cNvSpPr>
          <p:nvPr/>
        </p:nvSpPr>
        <p:spPr>
          <a:xfrm>
            <a:off x="2190750" y="3676650"/>
            <a:ext cx="4095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3CFD1E4-0C83-4CC9-8E1E-7FE63FE30141}"/>
              </a:ext>
            </a:extLst>
          </p:cNvPr>
          <p:cNvSpPr>
            <a:spLocks noGrp="1"/>
          </p:cNvSpPr>
          <p:nvPr/>
        </p:nvSpPr>
        <p:spPr>
          <a:xfrm>
            <a:off x="2247900" y="371475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스폰 시 광물이 서로 겹침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116DCF5-C03D-48F4-BED3-7247E8A84EDA}"/>
              </a:ext>
            </a:extLst>
          </p:cNvPr>
          <p:cNvSpPr>
            <a:spLocks noGrp="1"/>
          </p:cNvSpPr>
          <p:nvPr/>
        </p:nvSpPr>
        <p:spPr>
          <a:xfrm>
            <a:off x="6286500" y="3676650"/>
            <a:ext cx="5143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48CC967-54D0-4E71-933B-EA4A495163DC}"/>
              </a:ext>
            </a:extLst>
          </p:cNvPr>
          <p:cNvSpPr>
            <a:spLocks noGrp="1"/>
          </p:cNvSpPr>
          <p:nvPr/>
        </p:nvSpPr>
        <p:spPr>
          <a:xfrm>
            <a:off x="6343650" y="371475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스폰 후 배치 보정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1638A70-D4CE-4490-8B32-81D79D397789}"/>
              </a:ext>
            </a:extLst>
          </p:cNvPr>
          <p:cNvSpPr>
            <a:spLocks noGrp="1"/>
          </p:cNvSpPr>
          <p:nvPr/>
        </p:nvSpPr>
        <p:spPr>
          <a:xfrm>
            <a:off x="190500" y="42291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CBEF0A2-BC6C-4D07-BFD2-A5C949DA828C}"/>
              </a:ext>
            </a:extLst>
          </p:cNvPr>
          <p:cNvSpPr>
            <a:spLocks noGrp="1"/>
          </p:cNvSpPr>
          <p:nvPr/>
        </p:nvSpPr>
        <p:spPr>
          <a:xfrm>
            <a:off x="247650" y="42672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연출 과다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CFEC992-C588-4E17-9B04-F22CF9CEDEC9}"/>
              </a:ext>
            </a:extLst>
          </p:cNvPr>
          <p:cNvSpPr>
            <a:spLocks noGrp="1"/>
          </p:cNvSpPr>
          <p:nvPr/>
        </p:nvSpPr>
        <p:spPr>
          <a:xfrm>
            <a:off x="2190750" y="4229100"/>
            <a:ext cx="40957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4723E03-5BC3-4A71-B8FE-39610652D5AE}"/>
              </a:ext>
            </a:extLst>
          </p:cNvPr>
          <p:cNvSpPr>
            <a:spLocks noGrp="1"/>
          </p:cNvSpPr>
          <p:nvPr/>
        </p:nvSpPr>
        <p:spPr>
          <a:xfrm>
            <a:off x="2247900" y="42672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피격 스케일/외곽선이 과하게 흔들림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84591B8-E19F-4542-91A0-8C5E9536D1BB}"/>
              </a:ext>
            </a:extLst>
          </p:cNvPr>
          <p:cNvSpPr>
            <a:spLocks noGrp="1"/>
          </p:cNvSpPr>
          <p:nvPr/>
        </p:nvSpPr>
        <p:spPr>
          <a:xfrm>
            <a:off x="6286500" y="4229100"/>
            <a:ext cx="5143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1545099-F8BD-4A74-832D-2AFA21DD16D2}"/>
              </a:ext>
            </a:extLst>
          </p:cNvPr>
          <p:cNvSpPr>
            <a:spLocks noGrp="1"/>
          </p:cNvSpPr>
          <p:nvPr/>
        </p:nvSpPr>
        <p:spPr>
          <a:xfrm>
            <a:off x="6343650" y="42672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피격 스케일과 브레이크 라인 스케일 분리</a:t>
            </a:r>
          </a:p>
        </p:txBody>
      </p:sp>
    </p:spTree>
    <p:extLst>
      <p:ext uri="{BB962C8B-B14F-4D97-AF65-F5344CB8AC3E}">
        <p14:creationId xmlns:p14="http://schemas.microsoft.com/office/powerpoint/2010/main" val="1340117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EA0399F6-E272-4692-8325-64EF3C6402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D976194-4750-43C3-AABA-DBACEC73958C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13. 원작 시점 적용 시 고려사항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FD1AD38-59DB-4A21-B1B0-260AB77B1809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72FF733-532E-403A-A9D7-D34A2055368C}"/>
              </a:ext>
            </a:extLst>
          </p:cNvPr>
          <p:cNvSpPr>
            <a:spLocks noGrp="1"/>
          </p:cNvSpPr>
          <p:nvPr/>
        </p:nvSpPr>
        <p:spPr>
          <a:xfrm>
            <a:off x="190500" y="8763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13.1. 시점 차이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410375A-819C-490C-B4DB-3DCED5796EB4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현재 프로토타입은 탑뷰 검증용이며, 실제 게임은 아이소메트릭 시점이다.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AD87110-F4D2-4149-BF80-FBB7F95533AF}"/>
              </a:ext>
            </a:extLst>
          </p:cNvPr>
          <p:cNvSpPr>
            <a:spLocks noGrp="1"/>
          </p:cNvSpPr>
          <p:nvPr/>
        </p:nvSpPr>
        <p:spPr>
          <a:xfrm>
            <a:off x="190500" y="14954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따라서 약점 마크와 브레이크 라인은 최종 적용 시 원작 시점에 맞게 재해석해야 한다.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382A53-670A-4416-9528-D6BD8D112A51}"/>
              </a:ext>
            </a:extLst>
          </p:cNvPr>
          <p:cNvSpPr>
            <a:spLocks noGrp="1"/>
          </p:cNvSpPr>
          <p:nvPr/>
        </p:nvSpPr>
        <p:spPr>
          <a:xfrm>
            <a:off x="190500" y="23050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13.2. V2 연출 방향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73F36F-F847-4DD9-B5DD-B570849EE7F2}"/>
              </a:ext>
            </a:extLst>
          </p:cNvPr>
          <p:cNvSpPr>
            <a:spLocks noGrp="1"/>
          </p:cNvSpPr>
          <p:nvPr/>
        </p:nvSpPr>
        <p:spPr>
          <a:xfrm>
            <a:off x="190500" y="2686050"/>
            <a:ext cx="17145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3DF381-17F0-4A50-8B47-17F862CFF48C}"/>
              </a:ext>
            </a:extLst>
          </p:cNvPr>
          <p:cNvSpPr>
            <a:spLocks noGrp="1"/>
          </p:cNvSpPr>
          <p:nvPr/>
        </p:nvSpPr>
        <p:spPr>
          <a:xfrm>
            <a:off x="247650" y="2724150"/>
            <a:ext cx="1600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구분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1BC717B-7976-4676-8F9C-535193C5026B}"/>
              </a:ext>
            </a:extLst>
          </p:cNvPr>
          <p:cNvSpPr>
            <a:spLocks noGrp="1"/>
          </p:cNvSpPr>
          <p:nvPr/>
        </p:nvSpPr>
        <p:spPr>
          <a:xfrm>
            <a:off x="1905000" y="2686050"/>
            <a:ext cx="38100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8A63867-C285-4333-B766-38CEA684F907}"/>
              </a:ext>
            </a:extLst>
          </p:cNvPr>
          <p:cNvSpPr>
            <a:spLocks noGrp="1"/>
          </p:cNvSpPr>
          <p:nvPr/>
        </p:nvSpPr>
        <p:spPr>
          <a:xfrm>
            <a:off x="1962150" y="2724150"/>
            <a:ext cx="3695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프로토타입 표현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D1F77FC-5CFD-4CA1-8CBF-8CF9E0EBA84C}"/>
              </a:ext>
            </a:extLst>
          </p:cNvPr>
          <p:cNvSpPr>
            <a:spLocks noGrp="1"/>
          </p:cNvSpPr>
          <p:nvPr/>
        </p:nvSpPr>
        <p:spPr>
          <a:xfrm>
            <a:off x="5715000" y="2686050"/>
            <a:ext cx="57150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E57CEBA-3113-4BBA-8C6B-4F80C7A7A2BC}"/>
              </a:ext>
            </a:extLst>
          </p:cNvPr>
          <p:cNvSpPr>
            <a:spLocks noGrp="1"/>
          </p:cNvSpPr>
          <p:nvPr/>
        </p:nvSpPr>
        <p:spPr>
          <a:xfrm>
            <a:off x="5772150" y="2724150"/>
            <a:ext cx="5600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원작 적용 방향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22C1DE-3145-464E-BF48-DEA78F2F0911}"/>
              </a:ext>
            </a:extLst>
          </p:cNvPr>
          <p:cNvSpPr>
            <a:spLocks noGrp="1"/>
          </p:cNvSpPr>
          <p:nvPr/>
        </p:nvSpPr>
        <p:spPr>
          <a:xfrm>
            <a:off x="190500" y="3200400"/>
            <a:ext cx="1714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FB9287F-255B-4A03-9F6B-B7D3C62A702E}"/>
              </a:ext>
            </a:extLst>
          </p:cNvPr>
          <p:cNvSpPr>
            <a:spLocks noGrp="1"/>
          </p:cNvSpPr>
          <p:nvPr/>
        </p:nvSpPr>
        <p:spPr>
          <a:xfrm>
            <a:off x="247650" y="3238500"/>
            <a:ext cx="1600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927BCD9-4C43-4BC9-95B1-BE0C6E9D3959}"/>
              </a:ext>
            </a:extLst>
          </p:cNvPr>
          <p:cNvSpPr>
            <a:spLocks noGrp="1"/>
          </p:cNvSpPr>
          <p:nvPr/>
        </p:nvSpPr>
        <p:spPr>
          <a:xfrm>
            <a:off x="1905000" y="3200400"/>
            <a:ext cx="3810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6BFECDA-F6A7-45FB-91FA-A0FE95C03CF6}"/>
              </a:ext>
            </a:extLst>
          </p:cNvPr>
          <p:cNvSpPr>
            <a:spLocks noGrp="1"/>
          </p:cNvSpPr>
          <p:nvPr/>
        </p:nvSpPr>
        <p:spPr>
          <a:xfrm>
            <a:off x="1962150" y="3238500"/>
            <a:ext cx="3695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X 마크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3314076-16E9-468C-9946-04F682C58EBB}"/>
              </a:ext>
            </a:extLst>
          </p:cNvPr>
          <p:cNvSpPr>
            <a:spLocks noGrp="1"/>
          </p:cNvSpPr>
          <p:nvPr/>
        </p:nvSpPr>
        <p:spPr>
          <a:xfrm>
            <a:off x="5715000" y="3200400"/>
            <a:ext cx="5715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DFAD9F2-F6FF-4EC9-BE46-D93746E185E9}"/>
              </a:ext>
            </a:extLst>
          </p:cNvPr>
          <p:cNvSpPr>
            <a:spLocks noGrp="1"/>
          </p:cNvSpPr>
          <p:nvPr/>
        </p:nvSpPr>
        <p:spPr>
          <a:xfrm>
            <a:off x="5772150" y="3238500"/>
            <a:ext cx="5600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표면 균열 / 발광 / 파편으로 자연화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466DB61-EFFA-4781-997E-7F25A7459C17}"/>
              </a:ext>
            </a:extLst>
          </p:cNvPr>
          <p:cNvSpPr>
            <a:spLocks noGrp="1"/>
          </p:cNvSpPr>
          <p:nvPr/>
        </p:nvSpPr>
        <p:spPr>
          <a:xfrm>
            <a:off x="190500" y="3714750"/>
            <a:ext cx="17145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33FE815-1066-4286-AA4A-1A8A03A0E861}"/>
              </a:ext>
            </a:extLst>
          </p:cNvPr>
          <p:cNvSpPr>
            <a:spLocks noGrp="1"/>
          </p:cNvSpPr>
          <p:nvPr/>
        </p:nvSpPr>
        <p:spPr>
          <a:xfrm>
            <a:off x="247650" y="3752850"/>
            <a:ext cx="1600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8CF50F7-3BEE-4916-AA05-602F8B2FBAF6}"/>
              </a:ext>
            </a:extLst>
          </p:cNvPr>
          <p:cNvSpPr>
            <a:spLocks noGrp="1"/>
          </p:cNvSpPr>
          <p:nvPr/>
        </p:nvSpPr>
        <p:spPr>
          <a:xfrm>
            <a:off x="1905000" y="3714750"/>
            <a:ext cx="3810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CCC6EF5-DA92-4D3C-B30A-651C3FC0A54C}"/>
              </a:ext>
            </a:extLst>
          </p:cNvPr>
          <p:cNvSpPr>
            <a:spLocks noGrp="1"/>
          </p:cNvSpPr>
          <p:nvPr/>
        </p:nvSpPr>
        <p:spPr>
          <a:xfrm>
            <a:off x="1962150" y="3752850"/>
            <a:ext cx="3695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외곽선 확산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3381C2E-4D0B-47A8-A20C-C0732E8FA9C7}"/>
              </a:ext>
            </a:extLst>
          </p:cNvPr>
          <p:cNvSpPr>
            <a:spLocks noGrp="1"/>
          </p:cNvSpPr>
          <p:nvPr/>
        </p:nvSpPr>
        <p:spPr>
          <a:xfrm>
            <a:off x="5715000" y="3714750"/>
            <a:ext cx="5715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CF4875F-04DC-438A-B56A-170616CF0993}"/>
              </a:ext>
            </a:extLst>
          </p:cNvPr>
          <p:cNvSpPr>
            <a:spLocks noGrp="1"/>
          </p:cNvSpPr>
          <p:nvPr/>
        </p:nvSpPr>
        <p:spPr>
          <a:xfrm>
            <a:off x="5772150" y="3752850"/>
            <a:ext cx="5600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표면 발광, 파편, 카메라/타격 피드백 중심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A9FA201-F3B5-4597-BA90-A157E77F9007}"/>
              </a:ext>
            </a:extLst>
          </p:cNvPr>
          <p:cNvSpPr>
            <a:spLocks noGrp="1"/>
          </p:cNvSpPr>
          <p:nvPr/>
        </p:nvSpPr>
        <p:spPr>
          <a:xfrm>
            <a:off x="190500" y="4229100"/>
            <a:ext cx="1714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5D9A451-DB77-4A87-9367-97A4F4D7F972}"/>
              </a:ext>
            </a:extLst>
          </p:cNvPr>
          <p:cNvSpPr>
            <a:spLocks noGrp="1"/>
          </p:cNvSpPr>
          <p:nvPr/>
        </p:nvSpPr>
        <p:spPr>
          <a:xfrm>
            <a:off x="247650" y="4267200"/>
            <a:ext cx="1600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피격 반응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3CA440B-E670-46AB-81CD-F975086F0C7B}"/>
              </a:ext>
            </a:extLst>
          </p:cNvPr>
          <p:cNvSpPr>
            <a:spLocks noGrp="1"/>
          </p:cNvSpPr>
          <p:nvPr/>
        </p:nvSpPr>
        <p:spPr>
          <a:xfrm>
            <a:off x="1905000" y="4229100"/>
            <a:ext cx="3810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7B70D4A-6E4F-42EA-8130-92E18C7D3E9F}"/>
              </a:ext>
            </a:extLst>
          </p:cNvPr>
          <p:cNvSpPr>
            <a:spLocks noGrp="1"/>
          </p:cNvSpPr>
          <p:nvPr/>
        </p:nvSpPr>
        <p:spPr>
          <a:xfrm>
            <a:off x="1962150" y="4267200"/>
            <a:ext cx="3695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본체 스케일 연출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4835553-D8FD-471F-856C-6F138367A67B}"/>
              </a:ext>
            </a:extLst>
          </p:cNvPr>
          <p:cNvSpPr>
            <a:spLocks noGrp="1"/>
          </p:cNvSpPr>
          <p:nvPr/>
        </p:nvSpPr>
        <p:spPr>
          <a:xfrm>
            <a:off x="5715000" y="4229100"/>
            <a:ext cx="5715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734F337-3315-47EF-B56D-E7DC921FC538}"/>
              </a:ext>
            </a:extLst>
          </p:cNvPr>
          <p:cNvSpPr>
            <a:spLocks noGrp="1"/>
          </p:cNvSpPr>
          <p:nvPr/>
        </p:nvSpPr>
        <p:spPr>
          <a:xfrm>
            <a:off x="5772150" y="4267200"/>
            <a:ext cx="5600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표면 충격, 파편, 사운드와 연계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61780BE-0A32-4887-85D1-605A90956930}"/>
              </a:ext>
            </a:extLst>
          </p:cNvPr>
          <p:cNvSpPr>
            <a:spLocks noGrp="1"/>
          </p:cNvSpPr>
          <p:nvPr/>
        </p:nvSpPr>
        <p:spPr>
          <a:xfrm>
            <a:off x="190500" y="4743450"/>
            <a:ext cx="17145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0087EF9-313C-41AD-B7FE-A92DE221D897}"/>
              </a:ext>
            </a:extLst>
          </p:cNvPr>
          <p:cNvSpPr>
            <a:spLocks noGrp="1"/>
          </p:cNvSpPr>
          <p:nvPr/>
        </p:nvSpPr>
        <p:spPr>
          <a:xfrm>
            <a:off x="247650" y="4781550"/>
            <a:ext cx="1600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타입 적용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F21FF6F-89C2-4025-B28A-B19C8DCE6E27}"/>
              </a:ext>
            </a:extLst>
          </p:cNvPr>
          <p:cNvSpPr>
            <a:spLocks noGrp="1"/>
          </p:cNvSpPr>
          <p:nvPr/>
        </p:nvSpPr>
        <p:spPr>
          <a:xfrm>
            <a:off x="1905000" y="4743450"/>
            <a:ext cx="3810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A377279-7213-4569-BAB4-5330F8F1D472}"/>
              </a:ext>
            </a:extLst>
          </p:cNvPr>
          <p:cNvSpPr>
            <a:spLocks noGrp="1"/>
          </p:cNvSpPr>
          <p:nvPr/>
        </p:nvSpPr>
        <p:spPr>
          <a:xfrm>
            <a:off x="1962150" y="4781550"/>
            <a:ext cx="3695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프로토타입 조건 분기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9B37889-5522-4A96-BB43-D2B680A38F9C}"/>
              </a:ext>
            </a:extLst>
          </p:cNvPr>
          <p:cNvSpPr>
            <a:spLocks noGrp="1"/>
          </p:cNvSpPr>
          <p:nvPr/>
        </p:nvSpPr>
        <p:spPr>
          <a:xfrm>
            <a:off x="5715000" y="4743450"/>
            <a:ext cx="5715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3952B75-6BA9-4562-83C3-A4F89CF25795}"/>
              </a:ext>
            </a:extLst>
          </p:cNvPr>
          <p:cNvSpPr>
            <a:spLocks noGrp="1"/>
          </p:cNvSpPr>
          <p:nvPr/>
        </p:nvSpPr>
        <p:spPr>
          <a:xfrm>
            <a:off x="5772150" y="4781550"/>
            <a:ext cx="5600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데이터 enum 기반으로 연출 대상 지정</a:t>
            </a:r>
          </a:p>
        </p:txBody>
      </p:sp>
    </p:spTree>
    <p:extLst>
      <p:ext uri="{BB962C8B-B14F-4D97-AF65-F5344CB8AC3E}">
        <p14:creationId xmlns:p14="http://schemas.microsoft.com/office/powerpoint/2010/main" val="796844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A0399F6-E272-4692-8325-64EF3C6402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7EBAA5F-F703-49BE-B6F8-7C1D03A5B559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14. 정리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E9B249-9660-4DE4-8DAA-B088DB0D1532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2E1FD11-1982-40C2-8C9B-5DDC4FC3F4AE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14.1. 핵심 설계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EC17660-5E92-4815-8FC1-3A7497593CB5}"/>
              </a:ext>
            </a:extLst>
          </p:cNvPr>
          <p:cNvSpPr>
            <a:spLocks noGrp="1"/>
          </p:cNvSpPr>
          <p:nvPr/>
        </p:nvSpPr>
        <p:spPr>
          <a:xfrm>
            <a:off x="190500" y="12573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대형 광물 구간에 약점 노출 → 약점 공략 → 브레이크 → 보상 채굴의 단계 구조를 추가한다.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14696A-51A3-489B-8585-09F611256D9D}"/>
              </a:ext>
            </a:extLst>
          </p:cNvPr>
          <p:cNvSpPr>
            <a:spLocks noGrp="1"/>
          </p:cNvSpPr>
          <p:nvPr/>
        </p:nvSpPr>
        <p:spPr>
          <a:xfrm>
            <a:off x="190500" y="15335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기본 데미지는 곡괭이 성능으로 고정하고, 브레이크는 성공 보상 배율로만 처리한다.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DB34F69-6A80-4C0E-B68C-84D2A7562101}"/>
              </a:ext>
            </a:extLst>
          </p:cNvPr>
          <p:cNvSpPr>
            <a:spLocks noGrp="1"/>
          </p:cNvSpPr>
          <p:nvPr/>
        </p:nvSpPr>
        <p:spPr>
          <a:xfrm>
            <a:off x="190500" y="18097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적용 대상은 광물 타입 enum으로 관리해 원작의 다른 규칙과 분리한다.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9E4ED4-A47D-464C-9093-A9D1CB27709D}"/>
              </a:ext>
            </a:extLst>
          </p:cNvPr>
          <p:cNvSpPr>
            <a:spLocks noGrp="1"/>
          </p:cNvSpPr>
          <p:nvPr/>
        </p:nvSpPr>
        <p:spPr>
          <a:xfrm>
            <a:off x="190500" y="27051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14.2. 포트폴리오 내 역할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0EB3831-F3A2-4AF7-A57E-B17AB8DFD37F}"/>
              </a:ext>
            </a:extLst>
          </p:cNvPr>
          <p:cNvSpPr>
            <a:spLocks noGrp="1"/>
          </p:cNvSpPr>
          <p:nvPr/>
        </p:nvSpPr>
        <p:spPr>
          <a:xfrm>
            <a:off x="190500" y="30480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라이브 게임 관찰 기반 시스템 제안 문서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D2C997-3885-43B9-9D02-C5B0F7889FD0}"/>
              </a:ext>
            </a:extLst>
          </p:cNvPr>
          <p:cNvSpPr>
            <a:spLocks noGrp="1"/>
          </p:cNvSpPr>
          <p:nvPr/>
        </p:nvSpPr>
        <p:spPr>
          <a:xfrm>
            <a:off x="190500" y="33242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플레이 가능한 프로토타입을 통한 규칙/수치 검증 사례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6E5BDD-797D-40A6-A8F7-1383E7CCF991}"/>
              </a:ext>
            </a:extLst>
          </p:cNvPr>
          <p:cNvSpPr>
            <a:spLocks noGrp="1"/>
          </p:cNvSpPr>
          <p:nvPr/>
        </p:nvSpPr>
        <p:spPr>
          <a:xfrm>
            <a:off x="190500" y="36004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시스템, 콘텐츠, UIUX, 레벨 배치 관점의 작업 문서</a:t>
            </a:r>
          </a:p>
        </p:txBody>
      </p:sp>
    </p:spTree>
    <p:extLst>
      <p:ext uri="{BB962C8B-B14F-4D97-AF65-F5344CB8AC3E}">
        <p14:creationId xmlns:p14="http://schemas.microsoft.com/office/powerpoint/2010/main" val="19116431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1502</Words>
  <Application>Microsoft Office PowerPoint</Application>
  <DocSecurity>0</DocSecurity>
  <PresentationFormat>와이드스크린</PresentationFormat>
  <Paragraphs>324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7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대승 고</cp:lastModifiedBy>
  <cp:revision>1</cp:revision>
  <dcterms:created xsi:type="dcterms:W3CDTF">2026-04-23T14:39:18Z</dcterms:created>
  <dcterms:modified xsi:type="dcterms:W3CDTF">2026-04-24T03:25:13Z</dcterms:modified>
</cp:coreProperties>
</file>