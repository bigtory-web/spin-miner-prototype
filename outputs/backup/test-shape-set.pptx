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e9135f98e440a8" /><Relationship Type="http://schemas.openxmlformats.org/officeDocument/2006/relationships/extended-properties" Target="/docProps/app.xml" Id="Radb2bd31dd5c40ef" /><Relationship Type="http://schemas.openxmlformats.org/officeDocument/2006/relationships/officeDocument" Target="/ppt/presentation.xml" Id="R676f2b8ae40d45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00ce05e6f84e5b"/>
  </p:sldMasterIdLst>
  <p:notesMasterIdLst>
    <p:notesMasterId xmlns:r="http://schemas.openxmlformats.org/officeDocument/2006/relationships" r:id="R093fb61c44ad4993"/>
  </p:notesMasterIdLst>
  <p:sldIdLst>
    <p:sldId xmlns:r="http://schemas.openxmlformats.org/officeDocument/2006/relationships" id="256" r:id="Rafc1fe5f42774e10"/>
    <p:sldId xmlns:r="http://schemas.openxmlformats.org/officeDocument/2006/relationships" id="257" r:id="R46a999ded2ac440e"/>
    <p:sldId xmlns:r="http://schemas.openxmlformats.org/officeDocument/2006/relationships" id="258" r:id="Rfbb9274c6f494c5f"/>
    <p:sldId xmlns:r="http://schemas.openxmlformats.org/officeDocument/2006/relationships" id="259" r:id="Re11234162aaa4dbf"/>
    <p:sldId xmlns:r="http://schemas.openxmlformats.org/officeDocument/2006/relationships" id="260" r:id="Rd29a07c647494625"/>
    <p:sldId xmlns:r="http://schemas.openxmlformats.org/officeDocument/2006/relationships" id="261" r:id="R976dc7616b24462a"/>
    <p:sldId xmlns:r="http://schemas.openxmlformats.org/officeDocument/2006/relationships" id="262" r:id="R1468bfd7dd9249f0"/>
    <p:sldId xmlns:r="http://schemas.openxmlformats.org/officeDocument/2006/relationships" id="263" r:id="R36aee5527c0a4546"/>
    <p:sldId xmlns:r="http://schemas.openxmlformats.org/officeDocument/2006/relationships" id="264" r:id="R7317d49864d646bf"/>
    <p:sldId xmlns:r="http://schemas.openxmlformats.org/officeDocument/2006/relationships" id="265" r:id="Rfa0c973201d744c6"/>
    <p:sldId xmlns:r="http://schemas.openxmlformats.org/officeDocument/2006/relationships" id="266" r:id="R9757fbaf064d4d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0ce05e6f84e5b" /><Relationship Type="http://schemas.openxmlformats.org/officeDocument/2006/relationships/theme" Target="/ppt/theme/theme1.xml" Id="R2bd759912bfd41a7" /><Relationship Type="http://schemas.openxmlformats.org/officeDocument/2006/relationships/notesMaster" Target="/ppt/notesMasters/notesMaster1.xml" Id="R093fb61c44ad4993" /><Relationship Type="http://schemas.openxmlformats.org/officeDocument/2006/relationships/presProps" Target="/ppt/presProps.xml" Id="R145300e233ef42b9" /><Relationship Type="http://schemas.openxmlformats.org/officeDocument/2006/relationships/viewProps" Target="/ppt/viewProps.xml" Id="R2dfb548390b5496d" /><Relationship Type="http://schemas.openxmlformats.org/officeDocument/2006/relationships/tableStyles" Target="/ppt/tableStyles.xml" Id="Rbe87bbead1bb4d26" /><Relationship Type="http://schemas.openxmlformats.org/officeDocument/2006/relationships/slide" Target="/ppt/slides/slide1.xml" Id="Rafc1fe5f42774e10" /><Relationship Type="http://schemas.openxmlformats.org/officeDocument/2006/relationships/slide" Target="/ppt/slides/slide2.xml" Id="R46a999ded2ac440e" /><Relationship Type="http://schemas.openxmlformats.org/officeDocument/2006/relationships/slide" Target="/ppt/slides/slide3.xml" Id="Rfbb9274c6f494c5f" /><Relationship Type="http://schemas.openxmlformats.org/officeDocument/2006/relationships/slide" Target="/ppt/slides/slide4.xml" Id="Re11234162aaa4dbf" /><Relationship Type="http://schemas.openxmlformats.org/officeDocument/2006/relationships/slide" Target="/ppt/slides/slide5.xml" Id="Rd29a07c647494625" /><Relationship Type="http://schemas.openxmlformats.org/officeDocument/2006/relationships/slide" Target="/ppt/slides/slide6.xml" Id="R976dc7616b24462a" /><Relationship Type="http://schemas.openxmlformats.org/officeDocument/2006/relationships/slide" Target="/ppt/slides/slide7.xml" Id="R1468bfd7dd9249f0" /><Relationship Type="http://schemas.openxmlformats.org/officeDocument/2006/relationships/slide" Target="/ppt/slides/slide8.xml" Id="R36aee5527c0a4546" /><Relationship Type="http://schemas.openxmlformats.org/officeDocument/2006/relationships/slide" Target="/ppt/slides/slide9.xml" Id="R7317d49864d646bf" /><Relationship Type="http://schemas.openxmlformats.org/officeDocument/2006/relationships/slide" Target="/ppt/slides/slide10.xml" Id="Rfa0c973201d744c6" /><Relationship Type="http://schemas.openxmlformats.org/officeDocument/2006/relationships/slide" Target="/ppt/slides/slide11.xml" Id="R9757fbaf064d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2fc118bfe7d40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541956fb96419b" /><Relationship Type="http://schemas.openxmlformats.org/officeDocument/2006/relationships/notesMaster" Target="/ppt/notesMasters/notesMaster1.xml" Id="R93b84f34d5a346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a9317a4b664a0c" /><Relationship Type="http://schemas.openxmlformats.org/officeDocument/2006/relationships/notesMaster" Target="/ppt/notesMasters/notesMaster1.xml" Id="R050d2b86cc7b4c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615a9f44da4996" /><Relationship Type="http://schemas.openxmlformats.org/officeDocument/2006/relationships/notesMaster" Target="/ppt/notesMasters/notesMaster1.xml" Id="R0045bfaa0b5140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08d9095a8c4f4a" /><Relationship Type="http://schemas.openxmlformats.org/officeDocument/2006/relationships/notesMaster" Target="/ppt/notesMasters/notesMaster1.xml" Id="R3fc784b4c6c149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29cd74357148cd" /><Relationship Type="http://schemas.openxmlformats.org/officeDocument/2006/relationships/notesMaster" Target="/ppt/notesMasters/notesMaster1.xml" Id="R1d9ceb43b0594a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e83d431c384d21" /><Relationship Type="http://schemas.openxmlformats.org/officeDocument/2006/relationships/notesMaster" Target="/ppt/notesMasters/notesMaster1.xml" Id="R2d22324d256c43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61856b8b824605" /><Relationship Type="http://schemas.openxmlformats.org/officeDocument/2006/relationships/notesMaster" Target="/ppt/notesMasters/notesMaster1.xml" Id="Rf00c717aa36b40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be4bfe17054222" /><Relationship Type="http://schemas.openxmlformats.org/officeDocument/2006/relationships/notesMaster" Target="/ppt/notesMasters/notesMaster1.xml" Id="R3ed4e386e9364a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7c46b62dd24a97" /><Relationship Type="http://schemas.openxmlformats.org/officeDocument/2006/relationships/notesMaster" Target="/ppt/notesMasters/notesMaster1.xml" Id="Rc8b4e5d49e4e4f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5d739b86c841dc" /><Relationship Type="http://schemas.openxmlformats.org/officeDocument/2006/relationships/notesMaster" Target="/ppt/notesMasters/notesMaster1.xml" Id="R69f63a46451147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3818155f1c45bf" /><Relationship Type="http://schemas.openxmlformats.org/officeDocument/2006/relationships/notesMaster" Target="/ppt/notesMasters/notesMaster1.xml" Id="Radccfe3df62847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44b351bac4f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DB6B30-3439-4DD3-8678-5B3EC65A54F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60693C-C8D0-43BE-B65B-DF5D1F2F93C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0944c7a5d5a46c6" /><Relationship Type="http://schemas.openxmlformats.org/officeDocument/2006/relationships/slideLayout" Target="/ppt/slideLayouts/slideLayout2.xml" Id="R6764abc2f0cf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2F7BC9-B25E-4556-ADD4-A0ACD303E73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64abc2f0cf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387b957ab74020" /><Relationship Type="http://schemas.openxmlformats.org/officeDocument/2006/relationships/notesSlide" Target="/ppt/notesSlides/notesSlide1.xml" Id="Ra68caca9e8ec4c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49dbafa5794c62" /><Relationship Type="http://schemas.openxmlformats.org/officeDocument/2006/relationships/notesSlide" Target="/ppt/notesSlides/notesSlide2.xml" Id="Rb05186bd7a4f42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6986c27b1f48dc" /><Relationship Type="http://schemas.openxmlformats.org/officeDocument/2006/relationships/notesSlide" Target="/ppt/notesSlides/notesSlide3.xml" Id="Re01c64422d4742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3655d4107843a5" /><Relationship Type="http://schemas.openxmlformats.org/officeDocument/2006/relationships/notesSlide" Target="/ppt/notesSlides/notesSlide4.xml" Id="Rd03cd4aa2efc4f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bdfa97b2814443" /><Relationship Type="http://schemas.openxmlformats.org/officeDocument/2006/relationships/notesSlide" Target="/ppt/notesSlides/notesSlide5.xml" Id="R922f8f671b4d42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06341ddd0042f9" /><Relationship Type="http://schemas.openxmlformats.org/officeDocument/2006/relationships/notesSlide" Target="/ppt/notesSlides/notesSlide6.xml" Id="Reb37db38d2b846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37e35bcdb24215" /><Relationship Type="http://schemas.openxmlformats.org/officeDocument/2006/relationships/notesSlide" Target="/ppt/notesSlides/notesSlide7.xml" Id="Rd03e573dbd9a4d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290b8236a34b9d" /><Relationship Type="http://schemas.openxmlformats.org/officeDocument/2006/relationships/notesSlide" Target="/ppt/notesSlides/notesSlide8.xml" Id="Rfe7e870fbe5a49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707507c61b4c58" /><Relationship Type="http://schemas.openxmlformats.org/officeDocument/2006/relationships/notesSlide" Target="/ppt/notesSlides/notesSlide9.xml" Id="Rc9e2ecd00aab42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5d3efd08ff4929" /><Relationship Type="http://schemas.openxmlformats.org/officeDocument/2006/relationships/notesSlide" Target="/ppt/notesSlides/notesSlide10.xml" Id="Rf338a48692de4f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a28a3ab4a4e26" /><Relationship Type="http://schemas.openxmlformats.org/officeDocument/2006/relationships/notesSlide" Target="/ppt/notesSlides/notesSlide11.xml" Id="R83f6dfee4bd240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57783F4B-1273-48E8-B12C-6E93D67F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E2D4A"/>
                </a:solidFill>
              </a:defRPr>
            </a:pPr>
            <a:r>
              <a:rPr sz="3150" b="1">
                <a:solidFill>
                  <a:srgbClr val="1E2D4A"/>
                </a:solidFill>
              </a:rPr>
              <a:t>Spin Miner </a:t>
            </a:r>
            <a:r>
              <a:rPr sz="3150" b="1">
                <a:solidFill>
                  <a:srgbClr val="1E2D4A"/>
                </a:solidFill>
              </a:rPr>
              <a:t>브레이크</a:t>
            </a:r>
            <a:r>
              <a:rPr sz="3150" b="1">
                <a:solidFill>
                  <a:srgbClr val="1E2D4A"/>
                </a:solidFill>
              </a:rPr>
              <a:t> </a:t>
            </a:r>
            <a:r>
              <a:rPr sz="3150" b="1">
                <a:solidFill>
                  <a:srgbClr val="1E2D4A"/>
                </a:solidFill>
              </a:rPr>
              <a:t>시스템</a:t>
            </a:r>
          </a:p>
        </p:txBody>
      </p:sp>
    </p:spTree>
    <p:extLst>
      <p:ext uri="{BB962C8B-B14F-4D97-AF65-F5344CB8AC3E}">
        <p14:creationId xmlns:p14="http://schemas.microsoft.com/office/powerpoint/2010/main" val="1527219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DE38FA4-1E90-49F2-9470-79010CA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89F00B0-F01C-45FD-B4F8-94269792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632B403-9912-4D50-A713-BEDF0437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810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73C6442-A4D7-404B-8A6D-86DE3A4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239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???? ?? ?? ?? ? ??? ????, ?? ??? ?? ?? ?? ???? ??? ????? ???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18820293-8214-48F0-B795-1FACFAC2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40017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 b="0">
                <a:solidFill>
                  <a:srgbClr val="202020"/>
                </a:solidFill>
              </a:rPr>
              <a:t>브레이크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상태에서는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광물</a:t>
            </a:r>
            <a:r>
              <a:rPr sz="1200">
                <a:solidFill>
                  <a:srgbClr val="202020"/>
                </a:solidFill>
              </a:rPr>
              <a:t>이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취약해져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채굴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효율이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상승한다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6938380F-2D1C-4FC5-B735-4F6DE7E4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6764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 b="0">
                <a:solidFill>
                  <a:srgbClr val="202020"/>
                </a:solidFill>
              </a:rPr>
              <a:t>약점은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브레이크를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발생시키는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시동기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역할로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정의한다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4FB9708E-6D52-4906-BDE1-EFDCF683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2098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1.2. 적용 목적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5625521-CB52-47C4-9F7D-79775DAF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552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 b="0">
                <a:solidFill>
                  <a:srgbClr val="202020"/>
                </a:solidFill>
              </a:rPr>
              <a:t>대형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광물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앞에서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대기</a:t>
            </a:r>
            <a:r>
              <a:rPr sz="1200">
                <a:solidFill>
                  <a:srgbClr val="202020"/>
                </a:solidFill>
              </a:rPr>
              <a:t>하며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타격이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반복되는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구간에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조작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목적을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부여한다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B1BD790-6C30-4955-9DE4-7503F7A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289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 노출, 약점 공략, 브레이크 보상 구간을 분리해 플레이 리듬을 만든다.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E07BF92A-33D6-4CAF-BB8B-6F8D5FBD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051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 b="0">
                <a:solidFill>
                  <a:srgbClr val="202020"/>
                </a:solidFill>
              </a:rPr>
              <a:t>대형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광물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앞에서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플레이어가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위치와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타격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대상을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의식하도록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만든다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4594842-F7FD-42B2-9F6F-C56A4D6D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385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487C1A7-1A04-4403-A504-D7457AD3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9814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대형 광물을 오래 때리는 대상이 아니라 공략 대상처럼 인식하게 한다.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BE4D00D1-A5A8-4731-9A26-61762EC3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25767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266E56E-E7DA-4B6D-B66D-3C60B9A6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5339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 b="0">
                <a:solidFill>
                  <a:srgbClr val="202020"/>
                </a:solidFill>
              </a:rPr>
              <a:t>대형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광물의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체류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시간을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공략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단계로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분해한다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99CE827-9FA9-4EE7-8A72-A454713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2578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38E7B01F-C386-48C4-A4E4-215494F9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6102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 b="0">
                <a:solidFill>
                  <a:srgbClr val="202020"/>
                </a:solidFill>
              </a:rPr>
              <a:t>프로토 타입 </a:t>
            </a:r>
            <a:r>
              <a:rPr sz="1200" b="0">
                <a:solidFill>
                  <a:srgbClr val="202020"/>
                </a:solidFill>
              </a:rPr>
              <a:t>플레이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링크</a:t>
            </a:r>
            <a:r>
              <a:rPr sz="1200" b="0">
                <a:solidFill>
                  <a:srgbClr val="202020"/>
                </a:solidFill>
              </a:rPr>
              <a:t>: 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525846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B4CC70E-2B6C-4E3C-B9A0-CE7FB94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0A1CE62-5BDA-409C-B707-0403F740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69FD2C99-DF39-465D-9A61-53D0951D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FF80F41-20B1-4782-9A39-894E3F47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D9E13BC0-A8A4-4CF4-94FE-B75BBC0D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44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B458C1B-0083-46F9-A1F3-17E18B91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5250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24E5C148-2BC4-4C09-A737-07CF3DD5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144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BA6C2D8E-49B7-4D70-A04B-DDAAB5E1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9525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4DBE986-8374-488F-A29A-5F70E62F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7E705DCA-D6DB-4A40-99A3-5626B82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430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DFF4EA4-C696-4B0E-9789-FD6CDDE7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049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A0E9971-3A7C-469A-BDAE-49E1E3D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4305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대형 광물 타격하면 해당 광물 근처에 등장하는 공략 포인트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EA0E49DA-10AF-4998-B58C-E1B22F4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FAA6DD05-A3E0-4DFF-8734-4DAD075E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4305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7A6D0A0-6887-40BA-A15B-F572EDDF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1199911-3032-4CF2-AF49-8751BFA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13360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C737971-450B-4D21-85B0-62F8701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FFB01960-49F0-4F42-ADDF-C64A4E4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3360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  <a:r>
              <a:rPr sz="1000">
                <a:solidFill>
                  <a:srgbClr val="202020"/>
                </a:solidFill>
              </a:rPr>
              <a:t> </a:t>
            </a:r>
            <a:r>
              <a:rPr sz="1000">
                <a:solidFill>
                  <a:srgbClr val="202020"/>
                </a:solidFill>
              </a:rPr>
              <a:t>포인트를 일정 횟수 타격하면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일정 시간 발생하는 </a:t>
            </a:r>
            <a:r>
              <a:rPr sz="1000" b="0">
                <a:solidFill>
                  <a:srgbClr val="202020"/>
                </a:solidFill>
              </a:rPr>
              <a:t>취약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상태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BEE23633-4BCB-4905-AE11-41B4F4F4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28B71A1E-7512-440F-B4F9-7BF6E556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긴 </a:t>
            </a:r>
            <a:r>
              <a:rPr sz="1000" b="0">
                <a:solidFill>
                  <a:srgbClr val="202020"/>
                </a:solidFill>
              </a:rPr>
              <a:t>체류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구간에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리듬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변화를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주는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보상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구간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053A35F8-DE08-495C-AB2F-954EC1FF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86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27D416A3-FC46-4674-8917-6471F35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241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대형 </a:t>
            </a:r>
            <a:r>
              <a:rPr sz="1000" b="0">
                <a:solidFill>
                  <a:srgbClr val="202020"/>
                </a:solidFill>
              </a:rPr>
              <a:t>광물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7C40398F-04D5-4C75-967D-05AFC8C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E6E7A74C-60AA-4FB8-B7FF-9174571F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2415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규칙을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적용받는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광물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캐릭터 </a:t>
            </a:r>
            <a:r>
              <a:rPr sz="1000" b="0">
                <a:solidFill>
                  <a:srgbClr val="202020"/>
                </a:solidFill>
              </a:rPr>
              <a:t>DPS </a:t>
            </a:r>
            <a:r>
              <a:rPr sz="1000">
                <a:solidFill>
                  <a:srgbClr val="202020"/>
                </a:solidFill>
              </a:rPr>
              <a:t>대비 </a:t>
            </a:r>
            <a:r>
              <a:rPr sz="1000">
                <a:solidFill>
                  <a:srgbClr val="202020"/>
                </a:solidFill>
              </a:rPr>
              <a:t>HP</a:t>
            </a:r>
            <a:r>
              <a:rPr sz="1000">
                <a:solidFill>
                  <a:srgbClr val="202020"/>
                </a:solidFill>
              </a:rPr>
              <a:t>가 높을 경우 대형 광물로 취급한다</a:t>
            </a:r>
            <a:r>
              <a:rPr sz="100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AFFE3923-E79A-4399-ACCC-DA1A509C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117E1B44-12DB-4EBE-B9A9-7BC32BB7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장시간 체류 구간에 리듬 변화를 부여할 대상</a:t>
            </a:r>
          </a:p>
        </p:txBody>
      </p:sp>
    </p:spTree>
    <p:extLst>
      <p:ext uri="{BB962C8B-B14F-4D97-AF65-F5344CB8AC3E}">
        <p14:creationId xmlns:p14="http://schemas.microsoft.com/office/powerpoint/2010/main" val="393132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46A97D7-9997-47B9-8DEE-859FFE64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3. </a:t>
            </a:r>
            <a:r>
              <a:rPr sz="2250" b="1">
                <a:solidFill>
                  <a:srgbClr val="1E2D4A"/>
                </a:solidFill>
              </a:rPr>
              <a:t>플레이</a:t>
            </a:r>
            <a:r>
              <a:rPr sz="2250" b="1">
                <a:solidFill>
                  <a:srgbClr val="1E2D4A"/>
                </a:solidFill>
              </a:rPr>
              <a:t> </a:t>
            </a:r>
            <a:r>
              <a:rPr sz="2250" b="1">
                <a:solidFill>
                  <a:srgbClr val="1E2D4A"/>
                </a:solidFill>
              </a:rPr>
              <a:t>경험</a:t>
            </a:r>
            <a:r>
              <a:rPr sz="2250" b="1">
                <a:solidFill>
                  <a:srgbClr val="1E2D4A"/>
                </a:solidFill>
              </a:rPr>
              <a:t> 및 </a:t>
            </a:r>
            <a:r>
              <a:rPr sz="2250" b="1">
                <a:solidFill>
                  <a:srgbClr val="1E2D4A"/>
                </a:solidFill>
              </a:rPr>
              <a:t>개선</a:t>
            </a:r>
            <a:r>
              <a:rPr sz="2250" b="1">
                <a:solidFill>
                  <a:srgbClr val="1E2D4A"/>
                </a:solidFill>
              </a:rPr>
              <a:t> </a:t>
            </a:r>
            <a:r>
              <a:rPr sz="2250" b="1">
                <a:solidFill>
                  <a:srgbClr val="1E2D4A"/>
                </a:solidFill>
              </a:rPr>
              <a:t>방향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636A3FC-22E3-4876-9C55-2638DA31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2E76F12-75CC-464B-85E5-C945114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8001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3.1. </a:t>
            </a:r>
            <a:r>
              <a:rPr sz="1200" b="1">
                <a:solidFill>
                  <a:srgbClr val="202020"/>
                </a:solidFill>
              </a:rPr>
              <a:t>플레이 경험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AD66BB2-24E3-4D19-9C79-81722143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70497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6C8D893-663C-43BE-BA0F-5440BD26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74307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EE8DF122-B47A-419D-950C-0DBE1315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04975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03447D16-4757-457F-941A-79E1C0D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43075"/>
            <a:ext cx="417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플레이 경험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FB7437C-ADC6-4DE7-8C2D-FA36754C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04975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6F0D652-45BA-46E8-ABC4-1C300121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43075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7E74E6F6-C073-4D11-8A59-443C3699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16217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9FF3A05D-80EC-4FDD-BDE7-598247CC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20027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소형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광물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D72E069-DA5B-410B-91C8-B2717207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62175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92A61A8-9B77-40B2-AA73-450013E1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00275"/>
            <a:ext cx="417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이동-타격-수집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주기가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짧음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E48F9A9F-A8C1-436D-AAE5-B1D7E6D6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62175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00D9CD5-B22E-4497-863B-01B6668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00275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DA1FA5A-EF63-45D7-B7A1-FBF8F78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61937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2FC653F4-7D09-43B3-8CD0-33588369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65747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특수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광물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EA27F1C5-73F5-4E5D-976D-AD4EA70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5F3757F1-32DB-445B-91D8-5A5F3D8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57475"/>
            <a:ext cx="417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젤리 광물</a:t>
            </a:r>
            <a:r>
              <a:rPr sz="1000" b="0">
                <a:solidFill>
                  <a:srgbClr val="202020"/>
                </a:solidFill>
              </a:rPr>
              <a:t>, </a:t>
            </a:r>
            <a:r>
              <a:rPr sz="1000" b="0">
                <a:solidFill>
                  <a:srgbClr val="202020"/>
                </a:solidFill>
              </a:rPr>
              <a:t>화염 광물</a:t>
            </a:r>
            <a:r>
              <a:rPr sz="1000" b="0">
                <a:solidFill>
                  <a:srgbClr val="202020"/>
                </a:solidFill>
              </a:rPr>
              <a:t>, </a:t>
            </a:r>
            <a:r>
              <a:rPr sz="1000" b="0">
                <a:solidFill>
                  <a:srgbClr val="202020"/>
                </a:solidFill>
              </a:rPr>
              <a:t>얼음 광물 해당</a:t>
            </a:r>
          </a:p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광물의 특수성으로 인한 다채로운 경험 제공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67B03F64-0816-42B5-875C-47E8ED5A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19375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4B9FAD32-AC64-4867-A015-FB25252D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57475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38B4E727-9A67-42A8-A8CE-274EA6FE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9433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3.2. </a:t>
            </a:r>
            <a:r>
              <a:rPr sz="1200" b="1">
                <a:solidFill>
                  <a:srgbClr val="202020"/>
                </a:solidFill>
              </a:rPr>
              <a:t>개선</a:t>
            </a:r>
            <a:r>
              <a:rPr sz="1200" b="1">
                <a:solidFill>
                  <a:srgbClr val="202020"/>
                </a:solidFill>
              </a:rPr>
              <a:t> </a:t>
            </a:r>
            <a:r>
              <a:rPr sz="1200" b="1">
                <a:solidFill>
                  <a:srgbClr val="202020"/>
                </a:solidFill>
              </a:rPr>
              <a:t>방향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2B397918-82DE-4556-AA15-70C90B47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3053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>
                <a:solidFill>
                  <a:srgbClr val="202020"/>
                </a:solidFill>
              </a:rPr>
              <a:t>대형 광물은 </a:t>
            </a:r>
            <a:r>
              <a:rPr sz="1200" b="0">
                <a:solidFill>
                  <a:srgbClr val="202020"/>
                </a:solidFill>
              </a:rPr>
              <a:t>긴 채굴 시간이 필요하지만 높은 보상을 제공하는 목적성이 있다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BEC6EED5-D6CE-4C0B-B428-A70C8560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5815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>
                <a:solidFill>
                  <a:srgbClr val="202020"/>
                </a:solidFill>
              </a:rPr>
              <a:t>- </a:t>
            </a:r>
            <a:r>
              <a:rPr sz="1200">
                <a:solidFill>
                  <a:srgbClr val="202020"/>
                </a:solidFill>
              </a:rPr>
              <a:t>상대적으로 긴 채굴 시간을 브레이크 시스템을 통해 전투 리듬 변화를 제공해 짧게 느껴지도록 한다</a:t>
            </a:r>
            <a:r>
              <a:rPr sz="120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FA586D93-2848-2492-4C2F-ED5339E5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9" y="1066800"/>
            <a:ext cx="7820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marL="171450" indent="-171450">
              <a:buChar char="-"/>
              <a:defRPr sz="9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광물의 </a:t>
            </a:r>
            <a:r>
              <a:rPr sz="1200" b="0">
                <a:solidFill>
                  <a:srgbClr val="202020"/>
                </a:solidFill>
              </a:rPr>
              <a:t>HP</a:t>
            </a:r>
            <a:r>
              <a:rPr sz="1200">
                <a:solidFill>
                  <a:srgbClr val="202020"/>
                </a:solidFill>
              </a:rPr>
              <a:t> 및 특수성에 따라서 </a:t>
            </a:r>
            <a:r>
              <a:rPr sz="1200" b="0">
                <a:solidFill>
                  <a:srgbClr val="202020"/>
                </a:solidFill>
              </a:rPr>
              <a:t>플레이 경험적 차이가 발생한다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08CDC577-37DA-49E0-9D30-4DBED552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7657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C994726A-62A6-CC94-B67C-0F628E3B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11467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대형 </a:t>
            </a:r>
            <a:r>
              <a:rPr sz="1000" b="0">
                <a:solidFill>
                  <a:srgbClr val="202020"/>
                </a:solidFill>
              </a:rPr>
              <a:t>광물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5DDDD37C-E81E-F53F-0D08-86E7427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F6480740-165C-5915-594A-6E2CA24E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14675"/>
            <a:ext cx="417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HP가</a:t>
            </a:r>
            <a:r>
              <a:rPr sz="1000" b="0">
                <a:solidFill>
                  <a:srgbClr val="202020"/>
                </a:solidFill>
              </a:rPr>
              <a:t> 높</a:t>
            </a:r>
            <a:r>
              <a:rPr sz="1000" b="0">
                <a:solidFill>
                  <a:srgbClr val="202020"/>
                </a:solidFill>
              </a:rPr>
              <a:t>고 거대해서 공략 대상으로 인지됨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B06ED444-E21B-AA0A-F357-4B0272DA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76575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191E6732-B2AA-044D-9894-00802631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14675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목표</a:t>
            </a:r>
            <a:r>
              <a:rPr sz="1000" b="0">
                <a:solidFill>
                  <a:srgbClr val="202020"/>
                </a:solidFill>
              </a:rPr>
              <a:t>에 대한 인지와 확실한 보상을 제공함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CD0E559A-C22E-CA4B-4BD2-FAEC7F2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57475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화염 피해</a:t>
            </a:r>
            <a:r>
              <a:rPr sz="1000" b="0">
                <a:solidFill>
                  <a:srgbClr val="202020"/>
                </a:solidFill>
              </a:rPr>
              <a:t>, </a:t>
            </a:r>
            <a:r>
              <a:rPr sz="1000">
                <a:solidFill>
                  <a:srgbClr val="202020"/>
                </a:solidFill>
              </a:rPr>
              <a:t>빙결 상태 등으로 변칙을 줘서 다양한 경험을 줌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00233C87-1D48-873D-36BA-6E4D4732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8577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 b="0">
                <a:solidFill>
                  <a:srgbClr val="202020"/>
                </a:solidFill>
              </a:rPr>
              <a:t>이를 통해 플레이 조작하는 재미를 유지하도록 한다</a:t>
            </a:r>
            <a:r>
              <a:rPr sz="1200" b="0">
                <a:solidFill>
                  <a:srgbClr val="202020"/>
                </a:solidFill>
              </a:rPr>
              <a:t>.  (</a:t>
            </a:r>
            <a:r>
              <a:rPr sz="1200" b="0">
                <a:solidFill>
                  <a:srgbClr val="202020"/>
                </a:solidFill>
              </a:rPr>
              <a:t>흐름</a:t>
            </a:r>
            <a:r>
              <a:rPr sz="1200" b="0">
                <a:solidFill>
                  <a:srgbClr val="202020"/>
                </a:solidFill>
              </a:rPr>
              <a:t>? </a:t>
            </a:r>
            <a:r>
              <a:rPr sz="1200" b="0">
                <a:solidFill>
                  <a:srgbClr val="202020"/>
                </a:solidFill>
              </a:rPr>
              <a:t>뭐라고 </a:t>
            </a:r>
            <a:r>
              <a:rPr sz="1200" b="0">
                <a:solidFill>
                  <a:srgbClr val="202020"/>
                </a:solidFill>
              </a:rPr>
              <a:t>해야할지</a:t>
            </a:r>
            <a:r>
              <a:rPr sz="1200" b="0">
                <a:solidFill>
                  <a:srgbClr val="202020"/>
                </a:solidFill>
              </a:rPr>
              <a:t>, </a:t>
            </a:r>
            <a:r>
              <a:rPr sz="1200" b="0">
                <a:solidFill>
                  <a:srgbClr val="202020"/>
                </a:solidFill>
              </a:rPr>
              <a:t>전반적인 경험</a:t>
            </a:r>
            <a:r>
              <a:rPr sz="1200" b="0">
                <a:solidFill>
                  <a:srgbClr val="202020"/>
                </a:solidFill>
              </a:rPr>
              <a:t>? </a:t>
            </a:r>
            <a:r>
              <a:rPr sz="1200" b="0">
                <a:solidFill>
                  <a:srgbClr val="202020"/>
                </a:solidFill>
              </a:rPr>
              <a:t>패턴</a:t>
            </a:r>
            <a:r>
              <a:rPr sz="1200" b="0">
                <a:solidFill>
                  <a:srgbClr val="202020"/>
                </a:solidFill>
              </a:rPr>
              <a:t>?)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16E7960-F514-C091-2A52-5973AAA0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1435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 b="0">
                <a:solidFill>
                  <a:srgbClr val="202020"/>
                </a:solidFill>
              </a:rPr>
              <a:t>약점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노출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전후</a:t>
            </a:r>
            <a:r>
              <a:rPr sz="1200" b="0">
                <a:solidFill>
                  <a:srgbClr val="202020"/>
                </a:solidFill>
              </a:rPr>
              <a:t>, </a:t>
            </a:r>
            <a:r>
              <a:rPr sz="1200" b="0">
                <a:solidFill>
                  <a:srgbClr val="202020"/>
                </a:solidFill>
              </a:rPr>
              <a:t>브레이크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전후의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피드백을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명확히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분리한다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4450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3955EC9-AFCE-4850-86FE-46AC3A9C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AF2D884F-74B1-4153-AEAC-44E2B411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2E8D29A6-9AB3-4744-AD90-CC42D52E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E5A4204-507D-4081-8A3F-CED4DBDB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대형 광물 타격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FF974882-E441-4CB8-939F-7DC1779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300" y="11906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F4896ECE-C9D1-48BC-A15F-E7158FC1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70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8E3811FD-FE05-4E8C-92AF-56CEF26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85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58B457C9-2BD0-4536-B416-3B7CE21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750" y="11906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BCAEA74-A5D4-4E09-9635-D19FC0B0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15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8AD8E52-5DBA-4465-80D2-389A8D5F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F8D46D6-399C-4D2F-8584-B9204E04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1906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12A5CB0-9FA4-4132-A7A0-33222A73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FFC8F07-5F49-4F38-A1CA-2768DCA7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0762B67D-A58C-4BD7-A247-9B1A94BD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2672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4.2. </a:t>
            </a:r>
            <a:r>
              <a:rPr sz="1200" b="1">
                <a:solidFill>
                  <a:srgbClr val="202020"/>
                </a:solidFill>
              </a:rPr>
              <a:t>적용</a:t>
            </a:r>
            <a:r>
              <a:rPr sz="1200" b="1">
                <a:solidFill>
                  <a:srgbClr val="202020"/>
                </a:solidFill>
              </a:rPr>
              <a:t> </a:t>
            </a:r>
            <a:r>
              <a:rPr sz="1200" b="1">
                <a:solidFill>
                  <a:srgbClr val="202020"/>
                </a:solidFill>
              </a:rPr>
              <a:t>범위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D46AD17-4C68-4636-AC48-5DD5B5C3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6101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광물 데이터에서 브레이크 적용 여부를 제어한다.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E069797B-8EC7-4CAB-A272-95ADB28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8863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대상이 아닌 광물은 기존 채굴 처리만 유지한다.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76C39D45-F7FB-A4C2-9FDC-ECB2DE10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1145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774EA727-3A9A-81C0-C2B6-02710899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4574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1. </a:t>
            </a:r>
            <a:r>
              <a:rPr sz="1200" b="0">
                <a:solidFill>
                  <a:srgbClr val="202020"/>
                </a:solidFill>
              </a:rPr>
              <a:t>대형 </a:t>
            </a:r>
            <a:r>
              <a:rPr sz="1200" b="0">
                <a:solidFill>
                  <a:srgbClr val="202020"/>
                </a:solidFill>
              </a:rPr>
              <a:t>광물</a:t>
            </a:r>
            <a:r>
              <a:rPr sz="1200" b="0">
                <a:solidFill>
                  <a:srgbClr val="202020"/>
                </a:solidFill>
              </a:rPr>
              <a:t>을 일정 이상 </a:t>
            </a:r>
            <a:r>
              <a:rPr sz="1200" b="0">
                <a:solidFill>
                  <a:srgbClr val="202020"/>
                </a:solidFill>
              </a:rPr>
              <a:t>타격</a:t>
            </a:r>
            <a:r>
              <a:rPr sz="1200">
                <a:solidFill>
                  <a:srgbClr val="202020"/>
                </a:solidFill>
              </a:rPr>
              <a:t>하면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약점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포인트가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등장한다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EB4F1578-FBDA-4E54-6574-845C2145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7432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2. </a:t>
            </a:r>
            <a:r>
              <a:rPr sz="1200" b="0">
                <a:solidFill>
                  <a:srgbClr val="202020"/>
                </a:solidFill>
              </a:rPr>
              <a:t>약점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포인트를 일정 이상 타격하면 </a:t>
            </a:r>
            <a:r>
              <a:rPr sz="1200" b="0">
                <a:solidFill>
                  <a:srgbClr val="202020"/>
                </a:solidFill>
              </a:rPr>
              <a:t>브레이크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상태에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진입한다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CA758A90-9519-BD88-DD7C-D42FCFA7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289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3. </a:t>
            </a:r>
            <a:r>
              <a:rPr sz="1200">
                <a:solidFill>
                  <a:srgbClr val="202020"/>
                </a:solidFill>
              </a:rPr>
              <a:t>브레이크 상태가 되면 일정 시간 동안 지금보다 높은 배율의 피해를 입힐 수 있다</a:t>
            </a:r>
            <a:r>
              <a:rPr sz="120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DF918A1-3D6F-D556-0A48-592B67B8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314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3. </a:t>
            </a:r>
            <a:r>
              <a:rPr sz="1200" b="0">
                <a:solidFill>
                  <a:srgbClr val="202020"/>
                </a:solidFill>
              </a:rPr>
              <a:t>브레이크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시간이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종료되면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약점은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숨겨지고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일반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상태로</a:t>
            </a:r>
            <a:r>
              <a:rPr sz="1200" b="0">
                <a:solidFill>
                  <a:srgbClr val="202020"/>
                </a:solidFill>
              </a:rPr>
              <a:t> </a:t>
            </a:r>
            <a:r>
              <a:rPr sz="1200" b="0">
                <a:solidFill>
                  <a:srgbClr val="202020"/>
                </a:solidFill>
              </a:rPr>
              <a:t>복귀한다</a:t>
            </a:r>
            <a:r>
              <a:rPr sz="1200" b="0">
                <a:solidFill>
                  <a:srgbClr val="202020"/>
                </a:solidFill>
              </a:rPr>
              <a:t>.</a:t>
            </a:r>
          </a:p>
        </p:txBody>
      </p:sp>
      <p:cxnSp>
        <p:nvCxnSpPr>
          <p:cNvPr id="37" name="연결선: 꺾임 5"/>
          <p:cNvCxnSpPr>
            <a:stCxn xmlns:a="http://schemas.openxmlformats.org/drawingml/2006/main" id="16" idx="0"/>
            <a:endCxn xmlns:a="http://schemas.openxmlformats.org/drawingml/2006/main" id="7" idx="0"/>
          </p:cNvCxnSpPr>
          <p:nvPr/>
        </p:nvCxnSpPr>
        <p:spPr>
          <a:xfrm xmlns:a="http://schemas.openxmlformats.org/drawingml/2006/main" rot="16200000" flipV="1">
            <a:off x="3908425" y="-1933575"/>
            <a:ext cx="12700" cy="5848350"/>
          </a:xfrm>
          <a:prstGeom xmlns:a="http://schemas.openxmlformats.org/drawingml/2006/main" prst="bentConnector3">
            <a:avLst>
              <a:gd name="adj1" fmla="val 1800000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21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EDF1B71-A9BF-45E7-ADBC-DA4499F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22B87362-784A-4A77-8BD6-9A50BFA1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824638C-CCE1-4D65-9D91-B1D470D9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0E231BA-8139-4ADA-B4CB-CD7B22F8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9E954B6-7058-4F21-AEFA-B7011FF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923FF6E-F1E1-41CE-9C49-A23DB6D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575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B522287-A772-40B9-8006-3697A7B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등장 조건 충족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FBE7D94E-24E7-43AD-9FC2-62AF3A3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97443C5-7A95-4ADA-95D7-D0E469E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0F75B2D-12AE-49F0-A951-2D99F14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550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즉시 등장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5EDE8324-83F2-4E82-B0CE-12A8635E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401156F-DC9C-4385-8837-2592C107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E2F5F992-DA30-438E-ABAD-545308FA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반복 타격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49FDE6C-9FBF-46FD-93C7-8CE0F0F9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BCEE9E1-6C7A-4B0F-8E11-AFB4DAC8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B126902F-FB9E-48EA-AE20-17A15F85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 발생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E7EDC1EA-6646-457C-AAA3-3E30DCB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475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066C11B6-62F7-498D-8420-5498F479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75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699E267A-0C86-4FA5-90DE-C5905759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25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A4D73233-8CE2-480A-8E6B-974EFF33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90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527A7E56-F002-4CED-9BC4-83B0AE17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2885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A596DB22-6BCB-4449-9EDA-5F415ADE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A39F971A-5FB1-4D1C-836C-CE73652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2885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4E64D4C-5652-4322-B400-EDA947D0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9991A010-9E5D-4DB3-98F4-C9A688A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3410968D-52EB-410C-98A3-C976C489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F0BE8C83-D568-40E3-9CD7-BAD602FC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288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4202DF9D-32AA-45A1-A55F-BC18D655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43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0A4DF641-D978-4AB2-955A-711F2439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8130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720590B5-D304-402D-9C9C-85B79A56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4320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A9BAACF6-2DB3-45F1-A01D-200D9202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130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몸통에 곡괭이 접촉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38B104D-237A-4D1F-AF36-C9814D0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8BC2E91A-3EDF-4EEB-A155-28F0C51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 스케일 연출</a:t>
            </a: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4E3B0912-8BEC-482C-B065-05DCEB5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43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5D9CF85F-04BB-4D2A-82FB-E156D91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813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HP 감소 / 약점 노출 카운트 증가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64FA18D0-5F56-47A2-A9B4-3250F90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95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5DFED0F1-9A27-4BEB-A355-6EDC8DF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33375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0A1BDB8C-CFDB-4C71-AAA9-86ED8C82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956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D8E23E81-1E4F-4F25-B601-EC739A67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33375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노출 조건 충족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78EA5EBB-BFBB-4FCB-8B4B-DDC68FB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C5F171C9-633F-437F-B8D5-8BF21F85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근처에 X 마크 즉시 등장</a:t>
            </a:r>
          </a:p>
        </p:txBody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C351FF9B-AA73-471B-A017-7B6B953E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95982075-E687-45AD-8F9E-A82ED54F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337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F35F6469-F5E0-4029-BA9F-C035617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48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46E71F9D-9B60-471B-BFB2-AF5FF79E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88620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C1E17D39-2A9F-4557-92C9-B3529A9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4810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200D09D9-D6AC-4766-895C-8EA0248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8620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0D31D039-EB5A-4CE4-ACDA-4616F4B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086C1D21-5978-48E5-AF22-65759A55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 피격 연출 / 크기 증가</a:t>
            </a:r>
          </a:p>
        </p:txBody>
      </p:sp>
      <p:sp>
        <p:nvSpPr>
          <p:cNvPr id="51" name="직사각형 50">
            <a:extLst xmlns:a="http://schemas.openxmlformats.org/drawingml/2006/main">
              <a:ext uri="{FF2B5EF4-FFF2-40B4-BE49-F238E27FC236}">
                <a16:creationId xmlns:a16="http://schemas.microsoft.com/office/drawing/2014/main" id="{BB88B4AC-134D-4846-9A10-53C3FAF6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48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FE59ECD2-7E67-4585-BE68-843565D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8862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게이지 </a:t>
            </a:r>
            <a:r>
              <a:rPr sz="1000" b="0">
                <a:solidFill>
                  <a:srgbClr val="202020"/>
                </a:solidFill>
              </a:rPr>
              <a:t>증가</a:t>
            </a:r>
          </a:p>
        </p:txBody>
      </p:sp>
      <p:sp>
        <p:nvSpPr>
          <p:cNvPr id="53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34805D7B-CC00-4524-979B-D2ECD7E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00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6CCB2432-64B3-4A09-9551-D8FA7965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43865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3F20958E-F9D7-47EA-8931-69E3327A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005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E1BF4355-6EE6-4D93-8EAB-DEF44FA7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43865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상태</a:t>
            </a:r>
            <a:r>
              <a:rPr sz="1000" b="0">
                <a:solidFill>
                  <a:srgbClr val="202020"/>
                </a:solidFill>
              </a:rPr>
              <a:t> 100%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3057F37B-CB34-4E98-AD5D-B04452BC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6B122430-E230-4C48-8FA1-508C33C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외곽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라인</a:t>
            </a:r>
            <a:r>
              <a:rPr sz="1000" b="0">
                <a:solidFill>
                  <a:srgbClr val="202020"/>
                </a:solidFill>
              </a:rPr>
              <a:t> </a:t>
            </a:r>
            <a:r>
              <a:rPr sz="1000" b="0">
                <a:solidFill>
                  <a:srgbClr val="202020"/>
                </a:solidFill>
              </a:rPr>
              <a:t>색상 변경 및</a:t>
            </a:r>
          </a:p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외곽 라인이 </a:t>
            </a:r>
            <a:r>
              <a:rPr sz="1000">
                <a:solidFill>
                  <a:srgbClr val="202020"/>
                </a:solidFill>
              </a:rPr>
              <a:t>줄어듬으로써</a:t>
            </a:r>
            <a:r>
              <a:rPr sz="1000">
                <a:solidFill>
                  <a:srgbClr val="202020"/>
                </a:solidFill>
              </a:rPr>
              <a:t> 남은 시간 안내</a:t>
            </a: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3948165A-35F9-4CA4-A153-9F4293D7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00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49EEC09-B43E-4FED-8648-4461C705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386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일정 시간 피해 배율 적용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1CACA97B-C407-4B44-AE96-25F8217B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530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E65C12DF-9D5D-4538-8B6D-2FEED299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99110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복귀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71C48EDC-E17E-4EAF-B2D5-8CB8A93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5300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65CBDFF4-5021-448F-A81F-C72809F7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99110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2E42DAD6-CFDB-40EF-9C95-DF9B6015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C8D701DF-E837-4DC3-AF6B-E6A3687E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9110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숨김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2733BEFF-A3E7-48F1-8B64-9156174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D5F5C2DC-E0C7-4C8E-95DD-33BFB700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9911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1004735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ADB901A-44A9-4377-AB08-A33550AE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6. 약점 규칙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A313B0B-0E7F-4152-883C-2F5202B8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1DEBBEB-7FA2-4C75-A13C-9F06891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8B9E9A6-3496-410B-9290-BC5D742A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14FB4E73-1918-48C3-AABE-BDC884F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14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25E897E-8F98-4049-8AE2-4D10E566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95250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A7E5F42-35DA-4C65-BD99-00D0FC44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144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6A5A595E-F369-472C-A3BA-B57E5A6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5250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D6FC699-3389-43E2-8529-EC5A0CEA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441DEB6-E59E-45AC-8DA4-BF82D013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46685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8DA7913E-E2E3-4CF2-82C2-2C5085CB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BFB45F5-209B-4400-A2E2-9BF3D935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4668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몸통 타격 120회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7DD2F571-EA65-40CE-9174-131B6786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69C5C743-86BA-49C8-A7BF-C8DA32E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6685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 2초 내외. 프레임이 아니라 실제 타격 횟수 기준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E9D4DAF4-EAD3-448C-AC7F-C95F1BB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431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09C0608-0A47-4C9D-9197-22228FDC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81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26C64EC-FFF0-4869-930D-0161B1A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431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ACE05E58-6A7A-4484-8B39-6EE98610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8120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17px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18E4278D-61E7-4F23-B627-8600B9D5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431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0265CF77-E714-45B1-A042-9FAE363B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8120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0D0928EB-D05F-4E58-A88B-14F1864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574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2099BB55-0C0B-4A43-9267-C2059E98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9555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진행 증가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F96907F-9679-4EBE-A2F7-A3002ADB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0FAD49B-809D-4995-8721-15AC4297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1타당 +1.25%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9BD4E4BC-D3D2-4289-816D-772CC9DA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5657A93B-15A9-4A25-A7A5-C35DFED5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9555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80회 약점 타격 시 브레이크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FDE59BDB-5BCC-4FB6-8D1F-A696400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718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493B7136-A0DA-488F-946F-D88B40E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0099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DC31C6DF-EA37-4988-873C-5E1B0C33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718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0D48DE2D-06A7-4A3F-86C6-A248BE5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0990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80CCCA9A-D763-4D84-9E0D-62EC512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54C58FA7-1595-4991-B469-01C0A370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0990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같은 위치 고정 피로도를 줄이기 위한 이동 주기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888E6FC0-C506-4290-B19F-0762BA3B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86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6990609B-C130-48F3-B1F2-1C2FED3E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52425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B75295AA-FE75-4BB7-A91C-891DCECD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00ECAB35-5E54-4773-BED6-D93016D8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242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비노출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888E0A9F-D981-4DC0-9E42-48C60B7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861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852E1E19-BDD6-4643-A656-C578C802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약점은 브레이크 시동기이므로 브레이크 중에는 숨김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E022DFEF-7A37-4316-A5C7-045ED792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0957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35177067-1E8A-479E-AEDD-630AFA5D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386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F7672BDF-33F2-40FB-A4F1-1D63721A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1487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플레이어가 타격한 방향 주변에 생성하되, 정확히 같은 위치에는 생성하지 않는다.</a:t>
            </a:r>
          </a:p>
        </p:txBody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BEE58EFC-E3A3-43C0-927E-1698CA93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911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캐릭터가 접근 불가능한 중심부나 광물 안쪽 깊은 위치에는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77359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EBD9336-80F3-469F-980A-4AE50B52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8. UI / UX 상태 정의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0EA4DB9-69A1-4AA3-82ED-2634EAAD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376275B-1CED-4F66-B124-E2AC04A9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B2569AB-5A3D-43D7-AADD-F96551A8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19325"/>
            <a:ext cx="550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게임 화면 캡처 교체 영역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C46653B-FCAC-4D85-970B-C77878CF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144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92D4A17E-E642-4FEF-B7F7-69A506F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9525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8BA629C-4CA5-4681-BDB1-61207A2B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144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02DC6E9-B9A8-40DF-99CD-BBF0648D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9525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3BE9B644-923B-4CFD-B0B9-FBD99641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144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33DF6EB-A688-4907-B389-B04EBE33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525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3039B5E-DF4D-46C0-A04C-3C175F58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3DCB9A9-82DC-4EC7-9233-1E8B9AEE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97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E75AD2F2-18AC-42E3-B3B8-0ACEA24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71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63CAF48-873E-41E5-A627-120140D2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097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BAF2B53-6483-4821-9914-CD7195D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716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C9FB75E4-E6FC-4FFA-8228-37C09F7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097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</a:t>
            </a:r>
            <a:r>
              <a:rPr sz="1000" b="0">
                <a:solidFill>
                  <a:srgbClr val="202020"/>
                </a:solidFill>
              </a:rPr>
              <a:t> HP </a:t>
            </a:r>
            <a:r>
              <a:rPr sz="1000" b="0">
                <a:solidFill>
                  <a:srgbClr val="202020"/>
                </a:solidFill>
              </a:rPr>
              <a:t>텍스트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EF67C779-A625-4990-8270-6DDC5E97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45A261FF-1066-4943-9EAD-827EE04E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2F696AAF-B671-4140-8EE1-0C289C21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F74112E9-AD19-49E3-A0DE-A82D1C99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669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B1DF5593-AC9D-4698-A154-D9AD0E9D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39141D3B-F60E-422B-8466-30B5066E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조건 충족 시 즉시 등장. 서서히 페이드인 금지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7939B69-4572-4FDD-92C8-EB06B698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1AC2F6C0-8D87-440F-A0C1-445B8B7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63B375FC-4B1C-49EE-A15C-14B283AA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9B913540-0DB2-4E2C-9E65-F38F9C8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외곽선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9A8B198B-B460-405C-8FA0-0D716E59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B54E32F7-FF5D-4A79-A1E1-5D15200B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외곽과 같은 형태로 확산 후 복귀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01691DE1-3F6F-47BB-9DD5-9DCF2D43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92E2F689-BB22-4BF5-A00D-234CB23D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4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0F86DEF-123A-4C20-8491-8AA607C5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004CEFC-A437-4537-AA10-CCD56835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EE53F885-E6F0-430B-B783-D4915189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5F396D85-4F71-430C-A1AA-E064A70A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시 즉시 반응해 명중 여부 전달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03E40DB3-F902-4775-B661-973A026D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4A855868-5470-4F8A-B650-CA105DA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5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9B0367CC-3FC0-4D1F-A1E4-8BF5C3FA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79FFA8C9-3C54-419A-A65A-0CC9CC7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385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 피드백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72391C1-9219-44CC-A2A5-A4FC6179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77933880-2C44-46A8-AF3E-482A8DA9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본체가 순간적으로 작아졌다 복귀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768704F5-6826-46E2-9A64-A2662C7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0957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8.1. UX 기준</a:t>
            </a:r>
          </a:p>
        </p:txBody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F033CDFD-A499-448B-A1E7-F844A2F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386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FC775B43-7F99-423B-9886-AB61117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1487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남은 시간은 하단 게이지가 아니라 광물 외곽선 연출로 표현한다.</a:t>
            </a:r>
          </a:p>
        </p:txBody>
      </p:sp>
    </p:spTree>
    <p:extLst>
      <p:ext uri="{BB962C8B-B14F-4D97-AF65-F5344CB8AC3E}">
        <p14:creationId xmlns:p14="http://schemas.microsoft.com/office/powerpoint/2010/main" val="8188566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00B2338-7F6C-4DE5-B499-7F6FFF30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9. 피드백 / 연출 규칙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EBBD9ED-7DA9-40A6-84A1-D2DD808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A586F3F7-A251-427E-AEF6-4325776E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E3ECF31-67A1-4B89-BCE0-D6F9C747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962509E-1F2A-4B2F-A493-721B4E3E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144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4DA20481-4428-4438-ACB9-92593731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525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67A24EE-6484-4C22-B672-1F7A3EAC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144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FE90573-E3D1-40E1-9E28-5948038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5250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8B9CFEF2-3F41-49E6-B7D1-1894C8E4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668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4E41601-D039-4264-80C1-DD86F40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049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BD3FF6BE-D6E3-4EAF-A1FC-84D4F255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668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DB7D984-1F03-4BA2-909E-24AEEB73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049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광물에 접촉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D600F560-C242-4D23-9B4E-97329E81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668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CA1DDE8F-D9D3-4B51-9031-9848E87D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0495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연출 사용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51E52D91-FD83-45B4-AB20-6E46AA36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193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14F5A051-0FC5-489D-B76C-F43F24F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0574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CAC65E30-B4A9-4084-8237-644A3955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193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9898CC73-0F5B-459D-B2C0-4D396690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574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DAA41BF9-6F05-4F22-8864-9F5B6F8B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325C252E-2676-4B86-9455-8B771430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5740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마크가 순간적으로 반응하고 누적 크기 증가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D83D7C1F-8D24-4517-83EB-3F400D95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0A712FDF-A497-429F-9D9F-63CF882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098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01081C2-A756-4553-8F84-88CE4A10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C3A7F845-07E4-4D23-A9C5-0A50EF19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098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진행도 100%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E41712E4-CF0B-4A44-BB60-AA1C0C5B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C04114CD-6019-4AFA-B6D9-0367CD9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외곽선과 동일한 형태의 라인 확산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52109D5E-A148-45FA-B36B-F5403321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242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F12748A9-4362-4DAB-88FC-D03FA93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1623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FA8EE654-1DC5-4B4C-AF49-43118E3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332F1AAF-2624-4EAD-8732-257FB597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394411FD-CBB4-4A83-801A-676C8F6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242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F36DEA46-6203-4400-AA23-96BDB086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6230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확산된 외곽선이 서서히 광물 테두리로 복귀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7C8B10C5-C414-44A5-A84A-8DA89A40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766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2451BD92-6CB7-4612-B12C-C1BB23D8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7147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E0196C5D-556C-4FAC-A7A9-F7227FA2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FC07D7AA-C58B-4E9E-A283-97EF394C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E884D9C9-7E8B-46E6-A56B-90E3A259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802C7149-35D9-42BD-B112-DF12AC8C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숨김 / 일반 상태 복귀</a:t>
            </a:r>
          </a:p>
        </p:txBody>
      </p:sp>
    </p:spTree>
    <p:extLst>
      <p:ext uri="{BB962C8B-B14F-4D97-AF65-F5344CB8AC3E}">
        <p14:creationId xmlns:p14="http://schemas.microsoft.com/office/powerpoint/2010/main" val="265906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521F15A-1F8E-4B8F-9AD0-1E3367E9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11. </a:t>
            </a:r>
            <a:r>
              <a:rPr sz="2250" b="1">
                <a:solidFill>
                  <a:srgbClr val="1E2D4A"/>
                </a:solidFill>
              </a:rPr>
              <a:t>데이터</a:t>
            </a:r>
            <a:r>
              <a:rPr sz="2250" b="1">
                <a:solidFill>
                  <a:srgbClr val="1E2D4A"/>
                </a:solidFill>
              </a:rPr>
              <a:t> </a:t>
            </a:r>
            <a:r>
              <a:rPr sz="2250" b="1">
                <a:solidFill>
                  <a:srgbClr val="1E2D4A"/>
                </a:solidFill>
              </a:rPr>
              <a:t>테이블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7A73AE6-B378-4ADB-9582-52FAE43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1D93B44-CB3B-4A87-A4C8-4AA22FFE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953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B9999B4-A8BD-48BD-952A-6A7A8F9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334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Table_BreakMiningConfig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D2EF06A5-A8E8-445E-92A5-BD7FBF6A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953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12B50C5-BB35-4AD1-8643-9B374708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9334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4CFA71BD-DEB9-493B-81FA-7E967AAC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953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A54AE42-CF5C-4E1D-A3D6-484A229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334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40CE7D0-6386-4EBD-86D4-81F2AFB9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11C19BA-D1B0-42CC-BCAA-818278B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9334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C9B5AD0-669C-4299-82D5-7FA2D0F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573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2BD0708-7550-469B-BEE8-A2F8518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954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5BF07D3-D8FA-4CA7-8A00-1D19C058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EC3FD6B-0235-4A10-9AAC-736B2BD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954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C435128-1184-406A-B6CA-65D5937A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57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7442970-0BDD-4AA8-92A1-968C5061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2954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5F75ADFA-7F0F-4063-A8D4-D33D88D0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32406A62-2947-4E3E-9B15-7F2580EA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9540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13427A58-C608-4C99-9169-0458AB50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192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42332425-70B1-4BCC-A1DB-C85997E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573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base_damage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99333473-4065-49E6-831C-119BD8C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37FE4A39-6AA1-46B8-9DE6-0A00BBC4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F356FEC6-C79C-4E4D-847B-869C3EA9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CFBDD5D4-B8E4-46A6-9AFF-E3CAA9E2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573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9.2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392F6014-EA04-4CE3-B66B-A1B22896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21F87EB4-1EDD-47AF-9A64-06BE60B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 기본 데미지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B0D41587-C151-4798-8074-B902D9D5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812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8ED49523-EBAF-42FA-B1F1-0FA6BF4F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0193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6F54E373-535B-41DC-8614-10196ED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87E1DE29-BBCD-41F8-9D25-80F43EB6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19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896C79C7-9BF1-4CBD-8CBA-EB5ED844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6D8C604C-EB4D-4B8A-B427-F73D0B2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19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1.8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99E99F22-5FF3-4686-8348-78BB53CB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6D894BBD-F1DF-48C6-8049-F098E496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1930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데미지 배율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FEA38856-6065-4B0E-A607-176F6A05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431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C3EBCB3B-2176-45FD-9F8F-8763E8F0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3812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weak_reveal_hits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4742139D-3C34-4C91-ABBF-54E40DA5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DA7A375F-D70E-44AF-A748-12460717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812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819F843D-A6E6-4374-96DE-C586E46E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F3EB8CA8-72C2-4547-B0CD-DE484A61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736BF607-B13F-4FD6-9DC9-0AF17CDF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1192F89A-A58A-4855-A682-A438A67D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노출까지 필요한 몸통 타격 수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16DA4A66-6519-4356-9C74-3A1024E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051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F173F2F5-EFE7-4D7A-B1A4-94FDAE3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43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weak_break_gain</a:t>
            </a:r>
          </a:p>
        </p:txBody>
      </p:sp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D6C58A2A-0F96-4DF3-AF67-9717760B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DC847F4F-35E1-4629-8123-6E39BF1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43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08C6A163-4456-4EB7-8D36-6C8426B7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CED4CE1B-4726-41E8-9638-C906AC0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1.25</a:t>
            </a:r>
          </a:p>
        </p:txBody>
      </p:sp>
      <p:sp>
        <p:nvSpPr>
          <p:cNvPr id="50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9ECB6A72-1201-4BCD-AE40-B785528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직사각형 50">
            <a:extLst xmlns:a="http://schemas.openxmlformats.org/drawingml/2006/main">
              <a:ext uri="{FF2B5EF4-FFF2-40B4-BE49-F238E27FC236}">
                <a16:creationId xmlns:a16="http://schemas.microsoft.com/office/drawing/2014/main" id="{6FE28C6D-FC07-4BE9-B310-17C34D5E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1타당 진행도 증가율</a:t>
            </a:r>
          </a:p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54773947-88E6-4839-9DEC-99453D64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670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33D90B24-E79E-4AC2-B237-E794640E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1051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928EEA1F-2D98-4A9C-B0E9-69F945A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CB6175CD-B8E8-4A4D-946C-CD6186F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91EC5954-42DE-4144-BB9C-BD0DEDA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B8234CD-DB92-4B96-A708-1F42ED03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8A04B8ED-11EC-4387-BBDE-D4B8EDDF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44889B40-1AB0-44F5-B132-04222822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프레임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236433EA-54B1-4814-955C-E892825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052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FBA01DDB-38AA-44C4-BA83-246EE6E9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9433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Table_MineralBreakGroup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FB04F320-1697-4930-99DA-07BAB890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0334DFDA-8474-4937-8871-6D73F414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433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DE84C356-0E23-44D2-A24D-6DC12C33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068BF63B-109A-45FB-A51B-6CBCAD28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433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8945864A-A45D-4777-8853-2691D124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920A485-A7E6-45E7-B38E-0D64821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F0384ED3-4A60-401C-BB2B-EEE1ECE9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672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850D11B-110B-4035-951C-228BFEAF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053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group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0DA1B56F-430B-40FA-939C-E3945D7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A1BBC12A-4E54-4465-8B43-778E1FF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05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57D1771-57FE-49E9-83AA-AC88550E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421FF02-DE1F-40BD-96FC-4DCDC666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0530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4C67DC4A-A65A-41CB-BE06-23E0FC98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F8EA10F5-5432-4BF1-B4E8-2373B2F0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effect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D946CB9-2489-48C7-BCE3-4581E18E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291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B326CEFC-A59F-4211-9F85-8774EC0A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672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Normal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187D2B26-6E77-4174-B0BE-DCF2ABB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0087480B-278E-47CE-B08D-10F7D16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E54590BD-59C0-49B4-AC3A-B72C4ED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94109420-1E20-4728-9CD1-6970D3B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72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미적용 광물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79573BF5-BB6E-43CA-AF1E-43043F47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462966C-92DE-48A6-9F29-8C692D6E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채굴 처리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F14C4F86-BBA7-491A-BDBF-204A1E6B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911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B6D7F461-F84B-4138-9751-C76A72D5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029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Breakable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58E9E020-A77C-4364-B8AA-45D4A71A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138AC25-7E87-4F99-8EC4-F9A9795B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29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0F4E2237-5688-48D2-81C3-7B623BF5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7E1A891-5CD0-47DA-9591-EC359F2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2920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장기 체류로 인해 브레이크 규칙을 적용하는 광물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61C49D2F-3ABE-4AC8-8788-B504009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915DC4DE-A593-45A7-9973-83453E91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2920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+ 브레이크 외곽선 연출</a:t>
            </a:r>
          </a:p>
        </p:txBody>
      </p:sp>
    </p:spTree>
    <p:extLst>
      <p:ext uri="{BB962C8B-B14F-4D97-AF65-F5344CB8AC3E}">
        <p14:creationId xmlns:p14="http://schemas.microsoft.com/office/powerpoint/2010/main" val="567265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4C02695-52BF-4B5E-9029-51401DB1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12. </a:t>
            </a:r>
            <a:r>
              <a:rPr sz="2250" b="1">
                <a:solidFill>
                  <a:srgbClr val="1E2D4A"/>
                </a:solidFill>
              </a:rPr>
              <a:t>예외</a:t>
            </a:r>
            <a:r>
              <a:rPr sz="2250" b="1">
                <a:solidFill>
                  <a:srgbClr val="1E2D4A"/>
                </a:solidFill>
              </a:rPr>
              <a:t> </a:t>
            </a:r>
            <a:r>
              <a:rPr sz="2250" b="1">
                <a:solidFill>
                  <a:srgbClr val="1E2D4A"/>
                </a:solidFill>
              </a:rPr>
              <a:t>처리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B3401ED6-AB40-4621-80E0-527BC156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8B2DB12-A6B0-4C74-93EF-6F338FD8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5E61DBA-B5BC-44F0-AC98-0B02D51A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212E9CCF-8E9A-4064-A576-940FD5D0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144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5EDEF72-CA10-4194-B44F-C75DF22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5250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0F819F85-1910-4A4C-A0A2-E9E6F840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144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F2493A7-77D5-48D6-A9E7-63FE71DC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9525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6792ACC8-EDF5-4A33-B51C-33BCEF0E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668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2B7C21B-DB6C-4D86-AA5E-15E8E94F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049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5726625E-8428-48FC-AB93-AA806454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66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AC7965BC-8286-4137-A524-500ADC48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0495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73FE41A-262D-47F2-915C-B235A7A3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C6CE3EB-9521-4DBD-88A6-5216B0E7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04AFFDC-C392-42B9-91A2-F45E36BE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193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24130DC2-E812-4AB3-B523-619A4BA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0574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과다 이동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F88B828E-A2E7-4936-BB2B-D5489E3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19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C1A44C7-88ED-4D57-91D8-C3A5AE8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5740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위치가 너무 자주 바뀌어 피로함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49C5CD4E-B428-4D55-BEE0-CE653878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F906246B-037A-4945-998A-73B565D6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 이동 주기 유지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E5E05C1E-C66F-4B0E-A847-001E4297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4A3771DC-6A9C-419B-B762-65EC3C5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098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009F4831-B59E-4C51-98F9-366168E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DC98A560-6D77-421E-9DDB-404CA0D2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0985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1F118F27-544E-4C78-8693-2593879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1F9856D4-89EA-4AF9-B2F5-A818C0EF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80CA9484-1CFD-4F73-8E75-0AC3FC5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242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5A89A1F3-3FEF-400D-9FC8-48D42B7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1623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5F36820D-4450-4FC9-961F-24A515B0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569A4DBD-47A4-484D-89DE-11D5960F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6484EB34-BFF0-42CE-9B7E-AA13386C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EA8E778A-500C-4C45-BA0F-2B46EAB7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BreakGroup 데이터 확인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4192B74-E5F1-47BB-A633-2298BBF9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766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15C80833-226B-492F-87E6-6BA6A248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7147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겹침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DCAA776F-6365-4F16-96DD-C7BACED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A4E178FE-DC72-4FA0-81D0-8F49DBA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스폰 시 광물이 서로 겹침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75DC5F22-7E01-47D8-A4E8-25227BC3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BFA12587-6236-4C1A-896D-8F8F86B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스폰 후 배치 보정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8507AD5F-9DC5-49C5-98AA-6C2D397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291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EE49DAE4-7005-41C5-ACE5-6E2675CC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2672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3A776031-4411-4D7C-ADDC-57334481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9E01AE70-C71F-497D-83D2-ED73765A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6720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6DFC5F61-6335-4793-BDDB-A787F3C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FD28F7BA-A8AC-44A2-A043-1DF623A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396681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2026-04-24T09:34:26.9810000Z</dcterms:created>
  <dcterms:modified xsi:type="dcterms:W3CDTF">2026-04-24T09:34:26.9810000Z</dcterms:modified>
</coreProperties>
</file>